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8" r:id="rId41"/>
    <p:sldId id="297" r:id="rId42"/>
  </p:sldIdLst>
  <p:sldSz cx="18288000" cy="10287000"/>
  <p:notesSz cx="6858000" cy="9144000"/>
  <p:embeddedFontLst>
    <p:embeddedFont>
      <p:font typeface="Arimo" panose="020B0604020202020204" charset="0"/>
      <p:regular r:id="rId43"/>
    </p:embeddedFont>
    <p:embeddedFont>
      <p:font typeface="Canva Sans" panose="020B0604020202020204" charset="0"/>
      <p:regular r:id="rId44"/>
    </p:embeddedFont>
    <p:embeddedFont>
      <p:font typeface="Canva Sans Bold" panose="020B0604020202020204" charset="0"/>
      <p:regular r:id="rId45"/>
    </p:embeddedFont>
    <p:embeddedFont>
      <p:font typeface="Futura Display" panose="020B0604020202020204" charset="0"/>
      <p:regular r:id="rId46"/>
    </p:embeddedFont>
    <p:embeddedFont>
      <p:font typeface="Lexend Deca" panose="020B0604020202020204"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22" autoAdjust="0"/>
  </p:normalViewPr>
  <p:slideViewPr>
    <p:cSldViewPr>
      <p:cViewPr varScale="1">
        <p:scale>
          <a:sx n="54" d="100"/>
          <a:sy n="54" d="100"/>
        </p:scale>
        <p:origin x="739"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5.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www.stb.gov.sg/content/stb/en/media-centre/media-releases/Singapore-Tourism-Sector-Emerges-From-2020-With-Greater-Resilience-and-Reinvention.html"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businesstimes.com.sg/singapore/spotlight-1/singapores-2023-tourism-receipts-hit-s27-2-billion-may-reach-record-s29-billion-2024"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stb.gov.sg/content/dam/stb/documents/mediareleases/Impact%20of%20Covid-19%20on%20tourism%20in%20Singapore%20and%20the%20road%20to%20recovery%20and%20transformation%20by%20STB%20and%20Visa.pdf"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statista.com/statistics/1100201/singapore-visitor-accommodation-breakdown/#:~:text=Accommodation%20choices%20of%20visitors%20to%20Singapore%202023&amp;text=In%202023%2C%2049%20percent%20of,for%204.47%20billion%20Singapore%20dollars." TargetMode="External"/><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www.straitstimes.com/asia/se-asia/surge-in-revenge-travel-as-pent-up-demand-drives-more-malaysians-abroad" TargetMode="External"/><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hyperlink" Target="https://www.exchange-rates.org/exchange-rate-history/usd-sgd-2014" TargetMode="External"/><Relationship Id="rId3" Type="http://schemas.openxmlformats.org/officeDocument/2006/relationships/image" Target="../media/image52.png"/><Relationship Id="rId7" Type="http://schemas.openxmlformats.org/officeDocument/2006/relationships/hyperlink" Target="https://www.stb.gov.sg/content/stb/en/media-centre/media-releases/singapore-goes-one-stop-non-stop-this-september.html" TargetMode="External"/><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hyperlink" Target="https://www.businesstimes.com.sg/international/asean/revenge-travel-sustain-sectors-robust-recovery-coming-months" TargetMode="External"/><Relationship Id="rId5" Type="http://schemas.openxmlformats.org/officeDocument/2006/relationships/image" Target="../media/image59.png"/><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svg"/><Relationship Id="rId7" Type="http://schemas.openxmlformats.org/officeDocument/2006/relationships/image" Target="../media/image65.sv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 Id="rId9" Type="http://schemas.openxmlformats.org/officeDocument/2006/relationships/image" Target="../media/image67.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www.straitstimes.com/asia/se-asia/surge-in-revenge-travel-as-pent-up-demand-drives-more-malaysians-abroad" TargetMode="External"/><Relationship Id="rId7" Type="http://schemas.openxmlformats.org/officeDocument/2006/relationships/hyperlink" Target="https://www.stb.gov.sg/content/dam/stb/documents/mediareleases/Impact%20of%20Covid-19%20on%20tourism%20in%20Singapore%20and%20the%20road%20to%20recovery%20and%20transformation%20by%20STB%20and%20Visa.pdf" TargetMode="External"/><Relationship Id="rId2" Type="http://schemas.openxmlformats.org/officeDocument/2006/relationships/hyperlink" Target="https://www.stb.gov.sg/content/stb/en/media-centre/media-releases/Singapore-Tourism-Sector-Emerges-From-2020-With-Greater-Resilience-and-Reinvention.html" TargetMode="External"/><Relationship Id="rId1" Type="http://schemas.openxmlformats.org/officeDocument/2006/relationships/slideLayout" Target="../slideLayouts/slideLayout7.xml"/><Relationship Id="rId6" Type="http://schemas.openxmlformats.org/officeDocument/2006/relationships/hyperlink" Target="https://www.businesstimes.com.sg/international/asean/revenge-travel-sustain-sectors-robust-recovery-coming-months" TargetMode="External"/><Relationship Id="rId5" Type="http://schemas.openxmlformats.org/officeDocument/2006/relationships/hyperlink" Target="https://www.exchange-rates.org/exchange-rate-history/usd-sgd-2014" TargetMode="External"/><Relationship Id="rId4" Type="http://schemas.openxmlformats.org/officeDocument/2006/relationships/hyperlink" Target="https://www.stb.gov.sg/content/stb/en/media-centre/media-releases/singapore-goes-one-stop-non-stop-this-september.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142882" y="-5358759"/>
            <a:ext cx="28573765" cy="18648985"/>
          </a:xfrm>
          <a:prstGeom prst="rect">
            <a:avLst/>
          </a:prstGeom>
        </p:spPr>
      </p:pic>
      <p:grpSp>
        <p:nvGrpSpPr>
          <p:cNvPr id="3" name="Group 3"/>
          <p:cNvGrpSpPr/>
          <p:nvPr/>
        </p:nvGrpSpPr>
        <p:grpSpPr>
          <a:xfrm>
            <a:off x="1028700" y="1742404"/>
            <a:ext cx="16230600" cy="5439467"/>
            <a:chOff x="0" y="0"/>
            <a:chExt cx="3655013" cy="1224928"/>
          </a:xfrm>
        </p:grpSpPr>
        <p:sp>
          <p:nvSpPr>
            <p:cNvPr id="4" name="Freeform 4"/>
            <p:cNvSpPr/>
            <p:nvPr/>
          </p:nvSpPr>
          <p:spPr>
            <a:xfrm>
              <a:off x="0" y="0"/>
              <a:ext cx="3655013" cy="1224928"/>
            </a:xfrm>
            <a:custGeom>
              <a:avLst/>
              <a:gdLst/>
              <a:ahLst/>
              <a:cxnLst/>
              <a:rect l="l" t="t" r="r" b="b"/>
              <a:pathLst>
                <a:path w="3655013" h="1224928">
                  <a:moveTo>
                    <a:pt x="24327" y="0"/>
                  </a:moveTo>
                  <a:lnTo>
                    <a:pt x="3630686" y="0"/>
                  </a:lnTo>
                  <a:cubicBezTo>
                    <a:pt x="3644121" y="0"/>
                    <a:pt x="3655013" y="10891"/>
                    <a:pt x="3655013" y="24327"/>
                  </a:cubicBezTo>
                  <a:lnTo>
                    <a:pt x="3655013" y="1200602"/>
                  </a:lnTo>
                  <a:cubicBezTo>
                    <a:pt x="3655013" y="1207053"/>
                    <a:pt x="3652450" y="1213241"/>
                    <a:pt x="3647887" y="1217803"/>
                  </a:cubicBezTo>
                  <a:cubicBezTo>
                    <a:pt x="3643325" y="1222365"/>
                    <a:pt x="3637138" y="1224928"/>
                    <a:pt x="3630686" y="1224928"/>
                  </a:cubicBezTo>
                  <a:lnTo>
                    <a:pt x="24327" y="1224928"/>
                  </a:lnTo>
                  <a:cubicBezTo>
                    <a:pt x="10891" y="1224928"/>
                    <a:pt x="0" y="1214037"/>
                    <a:pt x="0" y="1200602"/>
                  </a:cubicBezTo>
                  <a:lnTo>
                    <a:pt x="0" y="24327"/>
                  </a:lnTo>
                  <a:cubicBezTo>
                    <a:pt x="0" y="10891"/>
                    <a:pt x="10891" y="0"/>
                    <a:pt x="24327" y="0"/>
                  </a:cubicBezTo>
                  <a:close/>
                </a:path>
              </a:pathLst>
            </a:custGeom>
            <a:solidFill>
              <a:srgbClr val="DA825B"/>
            </a:solidFill>
          </p:spPr>
          <p:txBody>
            <a:bodyPr/>
            <a:lstStyle/>
            <a:p>
              <a:endParaRPr lang="en-US"/>
            </a:p>
          </p:txBody>
        </p:sp>
        <p:sp>
          <p:nvSpPr>
            <p:cNvPr id="5" name="TextBox 5"/>
            <p:cNvSpPr txBox="1"/>
            <p:nvPr/>
          </p:nvSpPr>
          <p:spPr>
            <a:xfrm>
              <a:off x="0" y="-38100"/>
              <a:ext cx="3655013" cy="126302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556971" y="1448046"/>
            <a:ext cx="15174058" cy="5733825"/>
          </a:xfrm>
          <a:prstGeom prst="rect">
            <a:avLst/>
          </a:prstGeom>
        </p:spPr>
        <p:txBody>
          <a:bodyPr lIns="0" tIns="0" rIns="0" bIns="0" rtlCol="0" anchor="t">
            <a:spAutoFit/>
          </a:bodyPr>
          <a:lstStyle/>
          <a:p>
            <a:pPr algn="ctr">
              <a:lnSpc>
                <a:spcPts val="22958"/>
              </a:lnSpc>
            </a:pPr>
            <a:r>
              <a:rPr lang="en-US" sz="16399">
                <a:solidFill>
                  <a:srgbClr val="FFFFFF"/>
                </a:solidFill>
                <a:latin typeface="Futura Display"/>
                <a:ea typeface="Futura Display"/>
                <a:cs typeface="Futura Display"/>
                <a:sym typeface="Futura Display"/>
              </a:rPr>
              <a:t>SINGAPORE TOURISM ANALYSIS</a:t>
            </a:r>
          </a:p>
        </p:txBody>
      </p:sp>
      <p:sp>
        <p:nvSpPr>
          <p:cNvPr id="7" name="TextBox 7"/>
          <p:cNvSpPr txBox="1"/>
          <p:nvPr/>
        </p:nvSpPr>
        <p:spPr>
          <a:xfrm>
            <a:off x="5983850" y="7677997"/>
            <a:ext cx="6320299" cy="738346"/>
          </a:xfrm>
          <a:prstGeom prst="rect">
            <a:avLst/>
          </a:prstGeom>
        </p:spPr>
        <p:txBody>
          <a:bodyPr lIns="0" tIns="0" rIns="0" bIns="0" rtlCol="0" anchor="t">
            <a:spAutoFit/>
          </a:bodyPr>
          <a:lstStyle/>
          <a:p>
            <a:pPr algn="ctr">
              <a:lnSpc>
                <a:spcPts val="6028"/>
              </a:lnSpc>
            </a:pPr>
            <a:r>
              <a:rPr lang="en-US" sz="4306">
                <a:solidFill>
                  <a:srgbClr val="31356E"/>
                </a:solidFill>
                <a:latin typeface="Lexend Deca"/>
                <a:ea typeface="Lexend Deca"/>
                <a:cs typeface="Lexend Deca"/>
                <a:sym typeface="Lexend Deca"/>
              </a:rPr>
              <a:t>GROUP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sp>
        <p:nvSpPr>
          <p:cNvPr id="2" name="TextBox 2"/>
          <p:cNvSpPr txBox="1"/>
          <p:nvPr/>
        </p:nvSpPr>
        <p:spPr>
          <a:xfrm>
            <a:off x="1768068" y="1247775"/>
            <a:ext cx="14519742" cy="2554517"/>
          </a:xfrm>
          <a:prstGeom prst="rect">
            <a:avLst/>
          </a:prstGeom>
        </p:spPr>
        <p:txBody>
          <a:bodyPr lIns="0" tIns="0" rIns="0" bIns="0" rtlCol="0" anchor="t">
            <a:spAutoFit/>
          </a:bodyPr>
          <a:lstStyle/>
          <a:p>
            <a:pPr algn="ctr">
              <a:lnSpc>
                <a:spcPts val="9762"/>
              </a:lnSpc>
            </a:pPr>
            <a:r>
              <a:rPr lang="en-US" sz="10169">
                <a:solidFill>
                  <a:srgbClr val="FFFFFF"/>
                </a:solidFill>
                <a:latin typeface="Futura Display"/>
                <a:ea typeface="Futura Display"/>
                <a:cs typeface="Futura Display"/>
                <a:sym typeface="Futura Display"/>
              </a:rPr>
              <a:t>WHY IS TOURISM IMPORTANT?</a:t>
            </a:r>
          </a:p>
          <a:p>
            <a:pPr algn="ctr">
              <a:lnSpc>
                <a:spcPts val="9762"/>
              </a:lnSpc>
            </a:pPr>
            <a:endParaRPr lang="en-US" sz="10169">
              <a:solidFill>
                <a:srgbClr val="FFFFFF"/>
              </a:solidFill>
              <a:latin typeface="Futura Display"/>
              <a:ea typeface="Futura Display"/>
              <a:cs typeface="Futura Display"/>
              <a:sym typeface="Futura Display"/>
            </a:endParaRPr>
          </a:p>
        </p:txBody>
      </p:sp>
      <p:pic>
        <p:nvPicPr>
          <p:cNvPr id="3" name="Picture 3"/>
          <p:cNvPicPr>
            <a:picLocks noChangeAspect="1"/>
          </p:cNvPicPr>
          <p:nvPr/>
        </p:nvPicPr>
        <p:blipFill>
          <a:blip r:embed="rId2"/>
          <a:stretch>
            <a:fillRect/>
          </a:stretch>
        </p:blipFill>
        <p:spPr>
          <a:xfrm>
            <a:off x="-127682" y="2597018"/>
            <a:ext cx="5093022" cy="5092966"/>
          </a:xfrm>
          <a:prstGeom prst="rect">
            <a:avLst/>
          </a:prstGeom>
        </p:spPr>
      </p:pic>
      <p:grpSp>
        <p:nvGrpSpPr>
          <p:cNvPr id="4" name="Group 4"/>
          <p:cNvGrpSpPr/>
          <p:nvPr/>
        </p:nvGrpSpPr>
        <p:grpSpPr>
          <a:xfrm>
            <a:off x="5691790" y="2415496"/>
            <a:ext cx="11567510" cy="3784758"/>
            <a:chOff x="0" y="0"/>
            <a:chExt cx="15423346" cy="5046344"/>
          </a:xfrm>
        </p:grpSpPr>
        <p:grpSp>
          <p:nvGrpSpPr>
            <p:cNvPr id="5" name="Group 5"/>
            <p:cNvGrpSpPr/>
            <p:nvPr/>
          </p:nvGrpSpPr>
          <p:grpSpPr>
            <a:xfrm>
              <a:off x="0" y="0"/>
              <a:ext cx="15423346" cy="5046344"/>
              <a:chOff x="0" y="0"/>
              <a:chExt cx="2506259" cy="820020"/>
            </a:xfrm>
          </p:grpSpPr>
          <p:sp>
            <p:nvSpPr>
              <p:cNvPr id="6" name="Freeform 6"/>
              <p:cNvSpPr/>
              <p:nvPr/>
            </p:nvSpPr>
            <p:spPr>
              <a:xfrm>
                <a:off x="0" y="0"/>
                <a:ext cx="2506259" cy="820020"/>
              </a:xfrm>
              <a:custGeom>
                <a:avLst/>
                <a:gdLst/>
                <a:ahLst/>
                <a:cxnLst/>
                <a:rect l="l" t="t" r="r" b="b"/>
                <a:pathLst>
                  <a:path w="2506259" h="820020">
                    <a:moveTo>
                      <a:pt x="34133" y="0"/>
                    </a:moveTo>
                    <a:lnTo>
                      <a:pt x="2472126" y="0"/>
                    </a:lnTo>
                    <a:cubicBezTo>
                      <a:pt x="2481179" y="0"/>
                      <a:pt x="2489861" y="3596"/>
                      <a:pt x="2496262" y="9997"/>
                    </a:cubicBezTo>
                    <a:cubicBezTo>
                      <a:pt x="2502663" y="16399"/>
                      <a:pt x="2506259" y="25081"/>
                      <a:pt x="2506259" y="34133"/>
                    </a:cubicBezTo>
                    <a:lnTo>
                      <a:pt x="2506259" y="785886"/>
                    </a:lnTo>
                    <a:cubicBezTo>
                      <a:pt x="2506259" y="794939"/>
                      <a:pt x="2502663" y="803621"/>
                      <a:pt x="2496262" y="810022"/>
                    </a:cubicBezTo>
                    <a:cubicBezTo>
                      <a:pt x="2489861" y="816423"/>
                      <a:pt x="2481179" y="820020"/>
                      <a:pt x="2472126" y="820020"/>
                    </a:cubicBezTo>
                    <a:lnTo>
                      <a:pt x="34133" y="820020"/>
                    </a:lnTo>
                    <a:cubicBezTo>
                      <a:pt x="15282" y="820020"/>
                      <a:pt x="0" y="804738"/>
                      <a:pt x="0" y="785886"/>
                    </a:cubicBezTo>
                    <a:lnTo>
                      <a:pt x="0" y="34133"/>
                    </a:lnTo>
                    <a:cubicBezTo>
                      <a:pt x="0" y="15282"/>
                      <a:pt x="15282" y="0"/>
                      <a:pt x="34133" y="0"/>
                    </a:cubicBezTo>
                    <a:close/>
                  </a:path>
                </a:pathLst>
              </a:custGeom>
              <a:solidFill>
                <a:srgbClr val="FFFFFF"/>
              </a:solidFill>
            </p:spPr>
            <p:txBody>
              <a:bodyPr/>
              <a:lstStyle/>
              <a:p>
                <a:endParaRPr lang="en-US"/>
              </a:p>
            </p:txBody>
          </p:sp>
          <p:sp>
            <p:nvSpPr>
              <p:cNvPr id="7" name="TextBox 7"/>
              <p:cNvSpPr txBox="1"/>
              <p:nvPr/>
            </p:nvSpPr>
            <p:spPr>
              <a:xfrm>
                <a:off x="0" y="-38100"/>
                <a:ext cx="2506259" cy="858120"/>
              </a:xfrm>
              <a:prstGeom prst="rect">
                <a:avLst/>
              </a:prstGeom>
            </p:spPr>
            <p:txBody>
              <a:bodyPr lIns="52800" tIns="52800" rIns="52800" bIns="52800" rtlCol="0" anchor="ctr"/>
              <a:lstStyle/>
              <a:p>
                <a:pPr algn="ctr">
                  <a:lnSpc>
                    <a:spcPts val="2659"/>
                  </a:lnSpc>
                  <a:spcBef>
                    <a:spcPct val="0"/>
                  </a:spcBef>
                </a:pPr>
                <a:endParaRPr/>
              </a:p>
            </p:txBody>
          </p:sp>
        </p:grpSp>
        <p:sp>
          <p:nvSpPr>
            <p:cNvPr id="8" name="Freeform 8"/>
            <p:cNvSpPr/>
            <p:nvPr/>
          </p:nvSpPr>
          <p:spPr>
            <a:xfrm>
              <a:off x="0" y="492261"/>
              <a:ext cx="15423346" cy="4080760"/>
            </a:xfrm>
            <a:custGeom>
              <a:avLst/>
              <a:gdLst/>
              <a:ahLst/>
              <a:cxnLst/>
              <a:rect l="l" t="t" r="r" b="b"/>
              <a:pathLst>
                <a:path w="15423346" h="4080760">
                  <a:moveTo>
                    <a:pt x="0" y="0"/>
                  </a:moveTo>
                  <a:lnTo>
                    <a:pt x="15423346" y="0"/>
                  </a:lnTo>
                  <a:lnTo>
                    <a:pt x="15423346" y="4080761"/>
                  </a:lnTo>
                  <a:lnTo>
                    <a:pt x="0" y="4080761"/>
                  </a:lnTo>
                  <a:lnTo>
                    <a:pt x="0" y="0"/>
                  </a:lnTo>
                  <a:close/>
                </a:path>
              </a:pathLst>
            </a:custGeom>
            <a:blipFill>
              <a:blip r:embed="rId3"/>
              <a:stretch>
                <a:fillRect/>
              </a:stretch>
            </a:blipFill>
          </p:spPr>
          <p:txBody>
            <a:bodyPr/>
            <a:lstStyle/>
            <a:p>
              <a:endParaRPr lang="en-US"/>
            </a:p>
          </p:txBody>
        </p:sp>
      </p:grpSp>
      <p:sp>
        <p:nvSpPr>
          <p:cNvPr id="9" name="TextBox 9"/>
          <p:cNvSpPr txBox="1"/>
          <p:nvPr/>
        </p:nvSpPr>
        <p:spPr>
          <a:xfrm>
            <a:off x="517204" y="7993223"/>
            <a:ext cx="17253592" cy="1265077"/>
          </a:xfrm>
          <a:prstGeom prst="rect">
            <a:avLst/>
          </a:prstGeom>
        </p:spPr>
        <p:txBody>
          <a:bodyPr lIns="0" tIns="0" rIns="0" bIns="0" rtlCol="0" anchor="t">
            <a:spAutoFit/>
          </a:bodyPr>
          <a:lstStyle/>
          <a:p>
            <a:pPr algn="ctr">
              <a:lnSpc>
                <a:spcPts val="5156"/>
              </a:lnSpc>
            </a:pPr>
            <a:r>
              <a:rPr lang="en-US" sz="3683">
                <a:solidFill>
                  <a:srgbClr val="FFFFFF"/>
                </a:solidFill>
                <a:latin typeface="Lexend Deca"/>
                <a:ea typeface="Lexend Deca"/>
                <a:cs typeface="Lexend Deca"/>
                <a:sym typeface="Lexend Deca"/>
              </a:rPr>
              <a:t>Tourism plays a huge part in Singapore’s economy.</a:t>
            </a:r>
          </a:p>
          <a:p>
            <a:pPr algn="ctr">
              <a:lnSpc>
                <a:spcPts val="5156"/>
              </a:lnSpc>
              <a:spcBef>
                <a:spcPct val="0"/>
              </a:spcBef>
            </a:pPr>
            <a:r>
              <a:rPr lang="en-US" sz="3683">
                <a:solidFill>
                  <a:srgbClr val="FFFFFF"/>
                </a:solidFill>
                <a:latin typeface="Lexend Deca"/>
                <a:ea typeface="Lexend Deca"/>
                <a:cs typeface="Lexend Deca"/>
                <a:sym typeface="Lexend Deca"/>
              </a:rPr>
              <a:t> It also provides a livelihood for people in Singapore by providing jobs.</a:t>
            </a:r>
          </a:p>
        </p:txBody>
      </p:sp>
      <p:sp>
        <p:nvSpPr>
          <p:cNvPr id="10" name="TextBox 10"/>
          <p:cNvSpPr txBox="1"/>
          <p:nvPr/>
        </p:nvSpPr>
        <p:spPr>
          <a:xfrm>
            <a:off x="5691790" y="6320094"/>
            <a:ext cx="12115829" cy="661138"/>
          </a:xfrm>
          <a:prstGeom prst="rect">
            <a:avLst/>
          </a:prstGeom>
        </p:spPr>
        <p:txBody>
          <a:bodyPr lIns="0" tIns="0" rIns="0" bIns="0" rtlCol="0" anchor="t">
            <a:spAutoFit/>
          </a:bodyPr>
          <a:lstStyle/>
          <a:p>
            <a:pPr algn="l">
              <a:lnSpc>
                <a:spcPts val="2588"/>
              </a:lnSpc>
            </a:pPr>
            <a:r>
              <a:rPr lang="en-US" sz="1849" u="sng">
                <a:solidFill>
                  <a:srgbClr val="000000"/>
                </a:solidFill>
                <a:latin typeface="Arimo"/>
                <a:ea typeface="Arimo"/>
                <a:cs typeface="Arimo"/>
                <a:sym typeface="Arimo"/>
                <a:hlinkClick r:id="rId4" tooltip="https://www.stb.gov.sg/content/stb/en/media-centre/media-releases/Singapore-Tourism-Sector-Emerges-From-2020-With-Greater-Resilience-and-Reinvention.html"/>
              </a:rPr>
              <a:t>https://www.stb.gov.sg/content/stb/en/media-centre/media-releases/Singapore-Tourism-Sector-Emerges-From-2020-With-Greater-Resilience-and-Reinvention.html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grpSp>
        <p:nvGrpSpPr>
          <p:cNvPr id="5" name="Group 5"/>
          <p:cNvGrpSpPr/>
          <p:nvPr/>
        </p:nvGrpSpPr>
        <p:grpSpPr>
          <a:xfrm>
            <a:off x="603203" y="2390879"/>
            <a:ext cx="10510964" cy="6150967"/>
            <a:chOff x="0" y="0"/>
            <a:chExt cx="14014619" cy="8201289"/>
          </a:xfrm>
        </p:grpSpPr>
        <p:grpSp>
          <p:nvGrpSpPr>
            <p:cNvPr id="6" name="Group 6"/>
            <p:cNvGrpSpPr/>
            <p:nvPr/>
          </p:nvGrpSpPr>
          <p:grpSpPr>
            <a:xfrm>
              <a:off x="0" y="0"/>
              <a:ext cx="14014619" cy="8201289"/>
              <a:chOff x="0" y="0"/>
              <a:chExt cx="2277344" cy="1332691"/>
            </a:xfrm>
          </p:grpSpPr>
          <p:sp>
            <p:nvSpPr>
              <p:cNvPr id="7" name="Freeform 7"/>
              <p:cNvSpPr/>
              <p:nvPr/>
            </p:nvSpPr>
            <p:spPr>
              <a:xfrm>
                <a:off x="0" y="0"/>
                <a:ext cx="2277345" cy="1332691"/>
              </a:xfrm>
              <a:custGeom>
                <a:avLst/>
                <a:gdLst/>
                <a:ahLst/>
                <a:cxnLst/>
                <a:rect l="l" t="t" r="r" b="b"/>
                <a:pathLst>
                  <a:path w="2277345" h="1332691">
                    <a:moveTo>
                      <a:pt x="39043" y="0"/>
                    </a:moveTo>
                    <a:lnTo>
                      <a:pt x="2238301" y="0"/>
                    </a:lnTo>
                    <a:cubicBezTo>
                      <a:pt x="2248656" y="0"/>
                      <a:pt x="2258587" y="4113"/>
                      <a:pt x="2265909" y="11435"/>
                    </a:cubicBezTo>
                    <a:cubicBezTo>
                      <a:pt x="2273231" y="18757"/>
                      <a:pt x="2277345" y="28688"/>
                      <a:pt x="2277345" y="39043"/>
                    </a:cubicBezTo>
                    <a:lnTo>
                      <a:pt x="2277345" y="1293648"/>
                    </a:lnTo>
                    <a:cubicBezTo>
                      <a:pt x="2277345" y="1315211"/>
                      <a:pt x="2259864" y="1332691"/>
                      <a:pt x="2238301" y="1332691"/>
                    </a:cubicBezTo>
                    <a:lnTo>
                      <a:pt x="39043" y="1332691"/>
                    </a:lnTo>
                    <a:cubicBezTo>
                      <a:pt x="17480" y="1332691"/>
                      <a:pt x="0" y="1315211"/>
                      <a:pt x="0" y="1293648"/>
                    </a:cubicBezTo>
                    <a:lnTo>
                      <a:pt x="0" y="39043"/>
                    </a:lnTo>
                    <a:cubicBezTo>
                      <a:pt x="0" y="17480"/>
                      <a:pt x="17480" y="0"/>
                      <a:pt x="39043" y="0"/>
                    </a:cubicBezTo>
                    <a:close/>
                  </a:path>
                </a:pathLst>
              </a:custGeom>
              <a:solidFill>
                <a:srgbClr val="FFFFFF"/>
              </a:solidFill>
            </p:spPr>
            <p:txBody>
              <a:bodyPr/>
              <a:lstStyle/>
              <a:p>
                <a:endParaRPr lang="en-US"/>
              </a:p>
            </p:txBody>
          </p:sp>
          <p:sp>
            <p:nvSpPr>
              <p:cNvPr id="8" name="TextBox 8"/>
              <p:cNvSpPr txBox="1"/>
              <p:nvPr/>
            </p:nvSpPr>
            <p:spPr>
              <a:xfrm>
                <a:off x="0" y="-38100"/>
                <a:ext cx="2277344" cy="1370791"/>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202355" y="320467"/>
              <a:ext cx="13609909" cy="7560356"/>
            </a:xfrm>
            <a:custGeom>
              <a:avLst/>
              <a:gdLst/>
              <a:ahLst/>
              <a:cxnLst/>
              <a:rect l="l" t="t" r="r" b="b"/>
              <a:pathLst>
                <a:path w="13609909" h="7560356">
                  <a:moveTo>
                    <a:pt x="0" y="0"/>
                  </a:moveTo>
                  <a:lnTo>
                    <a:pt x="13609909" y="0"/>
                  </a:lnTo>
                  <a:lnTo>
                    <a:pt x="13609909" y="7560355"/>
                  </a:lnTo>
                  <a:lnTo>
                    <a:pt x="0" y="7560355"/>
                  </a:lnTo>
                  <a:lnTo>
                    <a:pt x="0" y="0"/>
                  </a:lnTo>
                  <a:close/>
                </a:path>
              </a:pathLst>
            </a:custGeom>
            <a:blipFill>
              <a:blip r:embed="rId2"/>
              <a:stretch>
                <a:fillRect/>
              </a:stretch>
            </a:blipFill>
          </p:spPr>
          <p:txBody>
            <a:bodyPr/>
            <a:lstStyle/>
            <a:p>
              <a:endParaRPr lang="en-US"/>
            </a:p>
          </p:txBody>
        </p:sp>
      </p:grpSp>
      <p:sp>
        <p:nvSpPr>
          <p:cNvPr id="10" name="TextBox 10"/>
          <p:cNvSpPr txBox="1"/>
          <p:nvPr/>
        </p:nvSpPr>
        <p:spPr>
          <a:xfrm>
            <a:off x="1028700" y="717942"/>
            <a:ext cx="16230600" cy="14977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TOURISM IN SINGAPORE</a:t>
            </a:r>
          </a:p>
        </p:txBody>
      </p:sp>
      <p:sp>
        <p:nvSpPr>
          <p:cNvPr id="11" name="TextBox 11"/>
          <p:cNvSpPr txBox="1"/>
          <p:nvPr/>
        </p:nvSpPr>
        <p:spPr>
          <a:xfrm>
            <a:off x="11331456" y="3180503"/>
            <a:ext cx="6297879" cy="5802419"/>
          </a:xfrm>
          <a:prstGeom prst="rect">
            <a:avLst/>
          </a:prstGeom>
        </p:spPr>
        <p:txBody>
          <a:bodyPr lIns="0" tIns="0" rIns="0" bIns="0" rtlCol="0" anchor="t">
            <a:spAutoFit/>
          </a:bodyPr>
          <a:lstStyle/>
          <a:p>
            <a:pPr algn="just">
              <a:lnSpc>
                <a:spcPts val="5156"/>
              </a:lnSpc>
            </a:pPr>
            <a:r>
              <a:rPr lang="en-US" sz="3683">
                <a:solidFill>
                  <a:srgbClr val="FFFFFF"/>
                </a:solidFill>
                <a:latin typeface="Lexend Deca"/>
                <a:ea typeface="Lexend Deca"/>
                <a:cs typeface="Lexend Deca"/>
                <a:sym typeface="Lexend Deca"/>
              </a:rPr>
              <a:t>As of 2023...</a:t>
            </a:r>
          </a:p>
          <a:p>
            <a:pPr algn="ctr">
              <a:lnSpc>
                <a:spcPts val="5156"/>
              </a:lnSpc>
            </a:pPr>
            <a:r>
              <a:rPr lang="en-US" sz="3683">
                <a:solidFill>
                  <a:srgbClr val="FFFFFF"/>
                </a:solidFill>
                <a:latin typeface="Lexend Deca"/>
                <a:ea typeface="Lexend Deca"/>
                <a:cs typeface="Lexend Deca"/>
                <a:sym typeface="Lexend Deca"/>
              </a:rPr>
              <a:t>Singapore’s tourism sector makes up of 4% of Singapore’s Gross domestic product.</a:t>
            </a:r>
          </a:p>
          <a:p>
            <a:pPr algn="ctr">
              <a:lnSpc>
                <a:spcPts val="5156"/>
              </a:lnSpc>
            </a:pPr>
            <a:endParaRPr lang="en-US" sz="3683">
              <a:solidFill>
                <a:srgbClr val="FFFFFF"/>
              </a:solidFill>
              <a:latin typeface="Lexend Deca"/>
              <a:ea typeface="Lexend Deca"/>
              <a:cs typeface="Lexend Deca"/>
              <a:sym typeface="Lexend Deca"/>
            </a:endParaRPr>
          </a:p>
          <a:p>
            <a:pPr algn="ctr">
              <a:lnSpc>
                <a:spcPts val="5156"/>
              </a:lnSpc>
            </a:pPr>
            <a:r>
              <a:rPr lang="en-US" sz="3683">
                <a:solidFill>
                  <a:srgbClr val="FFFFFF"/>
                </a:solidFill>
                <a:latin typeface="Lexend Deca"/>
                <a:ea typeface="Lexend Deca"/>
                <a:cs typeface="Lexend Deca"/>
                <a:sym typeface="Lexend Deca"/>
              </a:rPr>
              <a:t>This is equal to 27.2 billion SGD.</a:t>
            </a:r>
          </a:p>
          <a:p>
            <a:pPr algn="ctr">
              <a:lnSpc>
                <a:spcPts val="5156"/>
              </a:lnSpc>
              <a:spcBef>
                <a:spcPct val="0"/>
              </a:spcBef>
            </a:pPr>
            <a:r>
              <a:rPr lang="en-US" sz="3683">
                <a:solidFill>
                  <a:srgbClr val="FFFFFF"/>
                </a:solidFill>
                <a:latin typeface="Lexend Deca"/>
                <a:ea typeface="Lexend Deca"/>
                <a:cs typeface="Lexend Deca"/>
                <a:sym typeface="Lexend Deca"/>
              </a:rPr>
              <a:t> </a:t>
            </a:r>
          </a:p>
        </p:txBody>
      </p:sp>
      <p:sp>
        <p:nvSpPr>
          <p:cNvPr id="12" name="TextBox 12"/>
          <p:cNvSpPr txBox="1"/>
          <p:nvPr/>
        </p:nvSpPr>
        <p:spPr>
          <a:xfrm>
            <a:off x="603203" y="8656146"/>
            <a:ext cx="10361478" cy="657879"/>
          </a:xfrm>
          <a:prstGeom prst="rect">
            <a:avLst/>
          </a:prstGeom>
        </p:spPr>
        <p:txBody>
          <a:bodyPr lIns="0" tIns="0" rIns="0" bIns="0" rtlCol="0" anchor="t">
            <a:spAutoFit/>
          </a:bodyPr>
          <a:lstStyle/>
          <a:p>
            <a:pPr algn="l">
              <a:lnSpc>
                <a:spcPts val="2588"/>
              </a:lnSpc>
            </a:pPr>
            <a:r>
              <a:rPr lang="en-US" sz="1849" u="sng">
                <a:solidFill>
                  <a:srgbClr val="000000"/>
                </a:solidFill>
                <a:latin typeface="Arimo"/>
                <a:ea typeface="Arimo"/>
                <a:cs typeface="Arimo"/>
                <a:sym typeface="Arimo"/>
                <a:hlinkClick r:id="rId3" tooltip="https://www.businesstimes.com.sg/singapore/spotlight-1/singapores-2023-tourism-receipts-hit-s27-2-billion-may-reach-record-s29-billion-2024"/>
              </a:rPr>
              <a:t>https://www.stb.gov.sg/content/stb/en/media-centre/media-releases/Singapore-Tourism-Sector-Emerges-From-2020-With-Greater-Resilience-and-Reinvention.html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sp>
        <p:nvSpPr>
          <p:cNvPr id="2" name="Freeform 2"/>
          <p:cNvSpPr/>
          <p:nvPr/>
        </p:nvSpPr>
        <p:spPr>
          <a:xfrm>
            <a:off x="1137939" y="3876694"/>
            <a:ext cx="15493167" cy="4893281"/>
          </a:xfrm>
          <a:custGeom>
            <a:avLst/>
            <a:gdLst/>
            <a:ahLst/>
            <a:cxnLst/>
            <a:rect l="l" t="t" r="r" b="b"/>
            <a:pathLst>
              <a:path w="15493167" h="4893281">
                <a:moveTo>
                  <a:pt x="0" y="0"/>
                </a:moveTo>
                <a:lnTo>
                  <a:pt x="15493167" y="0"/>
                </a:lnTo>
                <a:lnTo>
                  <a:pt x="15493167" y="4893281"/>
                </a:lnTo>
                <a:lnTo>
                  <a:pt x="0" y="4893281"/>
                </a:lnTo>
                <a:lnTo>
                  <a:pt x="0" y="0"/>
                </a:lnTo>
                <a:close/>
              </a:path>
            </a:pathLst>
          </a:custGeom>
          <a:blipFill>
            <a:blip r:embed="rId2"/>
            <a:stretch>
              <a:fillRect/>
            </a:stretch>
          </a:blipFill>
          <a:ln w="152400" cap="rnd">
            <a:solidFill>
              <a:srgbClr val="FFFFFF"/>
            </a:solidFill>
            <a:prstDash val="solid"/>
            <a:round/>
          </a:ln>
        </p:spPr>
        <p:txBody>
          <a:bodyPr/>
          <a:lstStyle/>
          <a:p>
            <a:endParaRPr lang="en-US"/>
          </a:p>
        </p:txBody>
      </p:sp>
      <p:sp>
        <p:nvSpPr>
          <p:cNvPr id="3" name="TextBox 3"/>
          <p:cNvSpPr txBox="1"/>
          <p:nvPr/>
        </p:nvSpPr>
        <p:spPr>
          <a:xfrm>
            <a:off x="2217589" y="1295400"/>
            <a:ext cx="13333867" cy="14977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BACKGROUND</a:t>
            </a:r>
          </a:p>
        </p:txBody>
      </p:sp>
      <p:sp>
        <p:nvSpPr>
          <p:cNvPr id="4" name="TextBox 4"/>
          <p:cNvSpPr txBox="1"/>
          <p:nvPr/>
        </p:nvSpPr>
        <p:spPr>
          <a:xfrm>
            <a:off x="311477" y="2836881"/>
            <a:ext cx="16947823" cy="1265077"/>
          </a:xfrm>
          <a:prstGeom prst="rect">
            <a:avLst/>
          </a:prstGeom>
        </p:spPr>
        <p:txBody>
          <a:bodyPr lIns="0" tIns="0" rIns="0" bIns="0" rtlCol="0" anchor="t">
            <a:spAutoFit/>
          </a:bodyPr>
          <a:lstStyle/>
          <a:p>
            <a:pPr algn="ctr">
              <a:lnSpc>
                <a:spcPts val="5156"/>
              </a:lnSpc>
            </a:pPr>
            <a:r>
              <a:rPr lang="en-US" sz="3683">
                <a:solidFill>
                  <a:srgbClr val="FFFFFF"/>
                </a:solidFill>
                <a:latin typeface="Lexend Deca"/>
                <a:ea typeface="Lexend Deca"/>
                <a:cs typeface="Lexend Deca"/>
                <a:sym typeface="Lexend Deca"/>
              </a:rPr>
              <a:t>Back in 2020, when COVID-19 severely impacted the tourism sector…</a:t>
            </a:r>
          </a:p>
          <a:p>
            <a:pPr algn="ctr">
              <a:lnSpc>
                <a:spcPts val="5156"/>
              </a:lnSpc>
              <a:spcBef>
                <a:spcPct val="0"/>
              </a:spcBef>
            </a:pPr>
            <a:endParaRPr lang="en-US" sz="3683">
              <a:solidFill>
                <a:srgbClr val="FFFFFF"/>
              </a:solidFill>
              <a:latin typeface="Lexend Deca"/>
              <a:ea typeface="Lexend Deca"/>
              <a:cs typeface="Lexend Deca"/>
              <a:sym typeface="Lexend Deca"/>
            </a:endParaRPr>
          </a:p>
        </p:txBody>
      </p:sp>
      <p:sp>
        <p:nvSpPr>
          <p:cNvPr id="5" name="TextBox 5"/>
          <p:cNvSpPr txBox="1"/>
          <p:nvPr/>
        </p:nvSpPr>
        <p:spPr>
          <a:xfrm>
            <a:off x="1520025" y="8952448"/>
            <a:ext cx="15739275" cy="564079"/>
          </a:xfrm>
          <a:prstGeom prst="rect">
            <a:avLst/>
          </a:prstGeom>
        </p:spPr>
        <p:txBody>
          <a:bodyPr lIns="0" tIns="0" rIns="0" bIns="0" rtlCol="0" anchor="t">
            <a:spAutoFit/>
          </a:bodyPr>
          <a:lstStyle/>
          <a:p>
            <a:pPr algn="l">
              <a:lnSpc>
                <a:spcPts val="2213"/>
              </a:lnSpc>
            </a:pPr>
            <a:r>
              <a:rPr lang="en-US" sz="1581" u="sng">
                <a:solidFill>
                  <a:srgbClr val="000000"/>
                </a:solidFill>
                <a:latin typeface="Arimo"/>
                <a:ea typeface="Arimo"/>
                <a:cs typeface="Arimo"/>
                <a:sym typeface="Arimo"/>
                <a:hlinkClick r:id="rId3" tooltip="https://www.stb.gov.sg/content/dam/stb/documents/mediareleases/Impact%20of%20Covid-19%20on%20tourism%20in%20Singapore%20and%20the%20road%20to%20recovery%20and%20transformation%20by%20STB%20and%20Visa.pdf"/>
              </a:rPr>
              <a:t>https://www.stb.gov.sg/content/dam/stb/documents/mediareleases/Impact%20of%20Covid-19%20on%20tourism%20in%20Singapore%20and%20the%20road%20to%20recovery%20and%20transformation%20by%20STB%20and%20Visa.pdf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sp>
        <p:nvSpPr>
          <p:cNvPr id="2" name="TextBox 2"/>
          <p:cNvSpPr txBox="1"/>
          <p:nvPr/>
        </p:nvSpPr>
        <p:spPr>
          <a:xfrm>
            <a:off x="5028286" y="2429364"/>
            <a:ext cx="12572941" cy="1297082"/>
          </a:xfrm>
          <a:prstGeom prst="rect">
            <a:avLst/>
          </a:prstGeom>
        </p:spPr>
        <p:txBody>
          <a:bodyPr lIns="0" tIns="0" rIns="0" bIns="0" rtlCol="0" anchor="t">
            <a:spAutoFit/>
          </a:bodyPr>
          <a:lstStyle/>
          <a:p>
            <a:pPr algn="ctr">
              <a:lnSpc>
                <a:spcPts val="9753"/>
              </a:lnSpc>
            </a:pPr>
            <a:r>
              <a:rPr lang="en-US" sz="9201">
                <a:solidFill>
                  <a:srgbClr val="FFFFFF"/>
                </a:solidFill>
                <a:latin typeface="Futura Display"/>
                <a:ea typeface="Futura Display"/>
                <a:cs typeface="Futura Display"/>
                <a:sym typeface="Futura Display"/>
              </a:rPr>
              <a:t>Current Problem</a:t>
            </a:r>
          </a:p>
        </p:txBody>
      </p:sp>
      <p:pic>
        <p:nvPicPr>
          <p:cNvPr id="3" name="Picture 3"/>
          <p:cNvPicPr>
            <a:picLocks noChangeAspect="1"/>
          </p:cNvPicPr>
          <p:nvPr/>
        </p:nvPicPr>
        <p:blipFill>
          <a:blip r:embed="rId2"/>
          <a:stretch>
            <a:fillRect/>
          </a:stretch>
        </p:blipFill>
        <p:spPr>
          <a:xfrm>
            <a:off x="-996288" y="514350"/>
            <a:ext cx="9258300" cy="9258300"/>
          </a:xfrm>
          <a:prstGeom prst="rect">
            <a:avLst/>
          </a:prstGeom>
        </p:spPr>
      </p:pic>
      <p:sp>
        <p:nvSpPr>
          <p:cNvPr id="4" name="TextBox 4"/>
          <p:cNvSpPr txBox="1"/>
          <p:nvPr/>
        </p:nvSpPr>
        <p:spPr>
          <a:xfrm>
            <a:off x="4918272" y="4338636"/>
            <a:ext cx="11691681" cy="4494969"/>
          </a:xfrm>
          <a:prstGeom prst="rect">
            <a:avLst/>
          </a:prstGeom>
        </p:spPr>
        <p:txBody>
          <a:bodyPr lIns="0" tIns="0" rIns="0" bIns="0" rtlCol="0" anchor="t">
            <a:spAutoFit/>
          </a:bodyPr>
          <a:lstStyle/>
          <a:p>
            <a:pPr algn="ctr">
              <a:lnSpc>
                <a:spcPts val="5156"/>
              </a:lnSpc>
            </a:pPr>
            <a:r>
              <a:rPr lang="en-US" sz="3683">
                <a:solidFill>
                  <a:srgbClr val="FFFFFF"/>
                </a:solidFill>
                <a:latin typeface="Lexend Deca"/>
                <a:ea typeface="Lexend Deca"/>
                <a:cs typeface="Lexend Deca"/>
                <a:sym typeface="Lexend Deca"/>
              </a:rPr>
              <a:t>Although Singapore’s tourism sector has greatly recovered, and is about to reach a pre-pandemic tourism level from 2019, getting back on track.</a:t>
            </a:r>
          </a:p>
          <a:p>
            <a:pPr algn="ctr">
              <a:lnSpc>
                <a:spcPts val="5156"/>
              </a:lnSpc>
            </a:pPr>
            <a:r>
              <a:rPr lang="en-US" sz="3683">
                <a:solidFill>
                  <a:srgbClr val="FFFFFF"/>
                </a:solidFill>
                <a:latin typeface="Lexend Deca"/>
                <a:ea typeface="Lexend Deca"/>
                <a:cs typeface="Lexend Deca"/>
                <a:sym typeface="Lexend Deca"/>
              </a:rPr>
              <a:t>How can we ensure that Singapore’s tourism sector remain consistently growing, or even increase in the rate of growth?</a:t>
            </a:r>
          </a:p>
          <a:p>
            <a:pPr algn="ctr">
              <a:lnSpc>
                <a:spcPts val="5156"/>
              </a:lnSpc>
              <a:spcBef>
                <a:spcPct val="0"/>
              </a:spcBef>
            </a:pPr>
            <a:endParaRPr lang="en-US" sz="3683">
              <a:solidFill>
                <a:srgbClr val="FFFFFF"/>
              </a:solidFill>
              <a:latin typeface="Lexend Deca"/>
              <a:ea typeface="Lexend Deca"/>
              <a:cs typeface="Lexend Deca"/>
              <a:sym typeface="Lexend Dec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grpSp>
        <p:nvGrpSpPr>
          <p:cNvPr id="2" name="Group 2"/>
          <p:cNvGrpSpPr/>
          <p:nvPr/>
        </p:nvGrpSpPr>
        <p:grpSpPr>
          <a:xfrm>
            <a:off x="1640974" y="464060"/>
            <a:ext cx="14495453" cy="2576595"/>
            <a:chOff x="0" y="0"/>
            <a:chExt cx="3264270" cy="580230"/>
          </a:xfrm>
        </p:grpSpPr>
        <p:sp>
          <p:nvSpPr>
            <p:cNvPr id="3" name="Freeform 3"/>
            <p:cNvSpPr/>
            <p:nvPr/>
          </p:nvSpPr>
          <p:spPr>
            <a:xfrm>
              <a:off x="0" y="0"/>
              <a:ext cx="3264270" cy="580230"/>
            </a:xfrm>
            <a:custGeom>
              <a:avLst/>
              <a:gdLst/>
              <a:ahLst/>
              <a:cxnLst/>
              <a:rect l="l" t="t" r="r" b="b"/>
              <a:pathLst>
                <a:path w="3264270" h="580230">
                  <a:moveTo>
                    <a:pt x="27239" y="0"/>
                  </a:moveTo>
                  <a:lnTo>
                    <a:pt x="3237031" y="0"/>
                  </a:lnTo>
                  <a:cubicBezTo>
                    <a:pt x="3244256" y="0"/>
                    <a:pt x="3251184" y="2870"/>
                    <a:pt x="3256292" y="7978"/>
                  </a:cubicBezTo>
                  <a:cubicBezTo>
                    <a:pt x="3261401" y="13086"/>
                    <a:pt x="3264270" y="20015"/>
                    <a:pt x="3264270" y="27239"/>
                  </a:cubicBezTo>
                  <a:lnTo>
                    <a:pt x="3264270" y="552992"/>
                  </a:lnTo>
                  <a:cubicBezTo>
                    <a:pt x="3264270" y="560216"/>
                    <a:pt x="3261401" y="567144"/>
                    <a:pt x="3256292" y="572252"/>
                  </a:cubicBezTo>
                  <a:cubicBezTo>
                    <a:pt x="3251184" y="577361"/>
                    <a:pt x="3244256" y="580230"/>
                    <a:pt x="3237031" y="580230"/>
                  </a:cubicBezTo>
                  <a:lnTo>
                    <a:pt x="27239" y="580230"/>
                  </a:lnTo>
                  <a:cubicBezTo>
                    <a:pt x="20015" y="580230"/>
                    <a:pt x="13086" y="577361"/>
                    <a:pt x="7978" y="572252"/>
                  </a:cubicBezTo>
                  <a:cubicBezTo>
                    <a:pt x="2870" y="567144"/>
                    <a:pt x="0" y="560216"/>
                    <a:pt x="0" y="552992"/>
                  </a:cubicBezTo>
                  <a:lnTo>
                    <a:pt x="0" y="27239"/>
                  </a:lnTo>
                  <a:cubicBezTo>
                    <a:pt x="0" y="20015"/>
                    <a:pt x="2870" y="13086"/>
                    <a:pt x="7978" y="7978"/>
                  </a:cubicBezTo>
                  <a:cubicBezTo>
                    <a:pt x="13086" y="2870"/>
                    <a:pt x="20015" y="0"/>
                    <a:pt x="27239" y="0"/>
                  </a:cubicBezTo>
                  <a:close/>
                </a:path>
              </a:pathLst>
            </a:custGeom>
            <a:solidFill>
              <a:srgbClr val="31356E"/>
            </a:solidFill>
          </p:spPr>
          <p:txBody>
            <a:bodyPr/>
            <a:lstStyle/>
            <a:p>
              <a:endParaRPr lang="en-US"/>
            </a:p>
          </p:txBody>
        </p:sp>
        <p:sp>
          <p:nvSpPr>
            <p:cNvPr id="4" name="TextBox 4"/>
            <p:cNvSpPr txBox="1"/>
            <p:nvPr/>
          </p:nvSpPr>
          <p:spPr>
            <a:xfrm>
              <a:off x="0" y="-38100"/>
              <a:ext cx="3264270" cy="61833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845157" y="601478"/>
            <a:ext cx="14087088" cy="2073158"/>
          </a:xfrm>
          <a:prstGeom prst="rect">
            <a:avLst/>
          </a:prstGeom>
        </p:spPr>
        <p:txBody>
          <a:bodyPr lIns="0" tIns="0" rIns="0" bIns="0" rtlCol="0" anchor="t">
            <a:spAutoFit/>
          </a:bodyPr>
          <a:lstStyle/>
          <a:p>
            <a:pPr algn="ctr">
              <a:lnSpc>
                <a:spcPts val="16981"/>
              </a:lnSpc>
            </a:pPr>
            <a:r>
              <a:rPr lang="en-US" sz="12129">
                <a:solidFill>
                  <a:srgbClr val="FFFFFF"/>
                </a:solidFill>
                <a:latin typeface="Futura Display"/>
                <a:ea typeface="Futura Display"/>
                <a:cs typeface="Futura Display"/>
                <a:sym typeface="Futura Display"/>
              </a:rPr>
              <a:t>OUR BUSINESS OBJECTIVES</a:t>
            </a:r>
          </a:p>
        </p:txBody>
      </p:sp>
      <p:grpSp>
        <p:nvGrpSpPr>
          <p:cNvPr id="6" name="Group 6"/>
          <p:cNvGrpSpPr/>
          <p:nvPr/>
        </p:nvGrpSpPr>
        <p:grpSpPr>
          <a:xfrm>
            <a:off x="351976" y="6425028"/>
            <a:ext cx="17584048" cy="3540221"/>
            <a:chOff x="0" y="0"/>
            <a:chExt cx="3959799" cy="797232"/>
          </a:xfrm>
        </p:grpSpPr>
        <p:sp>
          <p:nvSpPr>
            <p:cNvPr id="7" name="Freeform 7"/>
            <p:cNvSpPr/>
            <p:nvPr/>
          </p:nvSpPr>
          <p:spPr>
            <a:xfrm>
              <a:off x="0" y="0"/>
              <a:ext cx="3959799" cy="797232"/>
            </a:xfrm>
            <a:custGeom>
              <a:avLst/>
              <a:gdLst/>
              <a:ahLst/>
              <a:cxnLst/>
              <a:rect l="l" t="t" r="r" b="b"/>
              <a:pathLst>
                <a:path w="3959799" h="797232">
                  <a:moveTo>
                    <a:pt x="22454" y="0"/>
                  </a:moveTo>
                  <a:lnTo>
                    <a:pt x="3937345" y="0"/>
                  </a:lnTo>
                  <a:cubicBezTo>
                    <a:pt x="3949746" y="0"/>
                    <a:pt x="3959799" y="10053"/>
                    <a:pt x="3959799" y="22454"/>
                  </a:cubicBezTo>
                  <a:lnTo>
                    <a:pt x="3959799" y="774778"/>
                  </a:lnTo>
                  <a:cubicBezTo>
                    <a:pt x="3959799" y="780733"/>
                    <a:pt x="3957433" y="786444"/>
                    <a:pt x="3953222" y="790655"/>
                  </a:cubicBezTo>
                  <a:cubicBezTo>
                    <a:pt x="3949011" y="794866"/>
                    <a:pt x="3943300" y="797232"/>
                    <a:pt x="3937345" y="797232"/>
                  </a:cubicBezTo>
                  <a:lnTo>
                    <a:pt x="22454" y="797232"/>
                  </a:lnTo>
                  <a:cubicBezTo>
                    <a:pt x="10053" y="797232"/>
                    <a:pt x="0" y="787179"/>
                    <a:pt x="0" y="774778"/>
                  </a:cubicBezTo>
                  <a:lnTo>
                    <a:pt x="0" y="22454"/>
                  </a:lnTo>
                  <a:cubicBezTo>
                    <a:pt x="0" y="10053"/>
                    <a:pt x="10053" y="0"/>
                    <a:pt x="22454" y="0"/>
                  </a:cubicBezTo>
                  <a:close/>
                </a:path>
              </a:pathLst>
            </a:custGeom>
            <a:solidFill>
              <a:srgbClr val="FFFFFF"/>
            </a:solidFill>
          </p:spPr>
          <p:txBody>
            <a:bodyPr/>
            <a:lstStyle/>
            <a:p>
              <a:endParaRPr lang="en-US"/>
            </a:p>
          </p:txBody>
        </p:sp>
        <p:sp>
          <p:nvSpPr>
            <p:cNvPr id="8" name="TextBox 8"/>
            <p:cNvSpPr txBox="1"/>
            <p:nvPr/>
          </p:nvSpPr>
          <p:spPr>
            <a:xfrm>
              <a:off x="0" y="-38100"/>
              <a:ext cx="3959799" cy="835332"/>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491829" y="6577428"/>
            <a:ext cx="17219942" cy="3024346"/>
          </a:xfrm>
          <a:prstGeom prst="rect">
            <a:avLst/>
          </a:prstGeom>
        </p:spPr>
        <p:txBody>
          <a:bodyPr lIns="0" tIns="0" rIns="0" bIns="0" rtlCol="0" anchor="t">
            <a:spAutoFit/>
          </a:bodyPr>
          <a:lstStyle/>
          <a:p>
            <a:pPr algn="ctr">
              <a:lnSpc>
                <a:spcPts val="6028"/>
              </a:lnSpc>
            </a:pPr>
            <a:r>
              <a:rPr lang="en-US" sz="4306">
                <a:solidFill>
                  <a:srgbClr val="31356E"/>
                </a:solidFill>
                <a:latin typeface="Lexend Deca"/>
                <a:ea typeface="Lexend Deca"/>
                <a:cs typeface="Lexend Deca"/>
                <a:sym typeface="Lexend Deca"/>
              </a:rPr>
              <a:t>THEREFORE, OUR BUSINESS GOALS IS TO </a:t>
            </a:r>
            <a:r>
              <a:rPr lang="en-US" sz="4306" u="sng">
                <a:solidFill>
                  <a:srgbClr val="31356E"/>
                </a:solidFill>
                <a:latin typeface="Lexend Deca"/>
                <a:ea typeface="Lexend Deca"/>
                <a:cs typeface="Lexend Deca"/>
                <a:sym typeface="Lexend Deca"/>
              </a:rPr>
              <a:t>IDENTIFY FACTORS</a:t>
            </a:r>
            <a:r>
              <a:rPr lang="en-US" sz="4306">
                <a:solidFill>
                  <a:srgbClr val="31356E"/>
                </a:solidFill>
                <a:latin typeface="Lexend Deca"/>
                <a:ea typeface="Lexend Deca"/>
                <a:cs typeface="Lexend Deca"/>
                <a:sym typeface="Lexend Deca"/>
              </a:rPr>
              <a:t> THAT WILL ATTRACT MORE TOURISTS TO COME TO SINGAPORE AND SPEND MORE TOURIST MONEY, SO THAT WE CAN IMPROVE SINGAPORE’S TOURISM RECEIPT.</a:t>
            </a:r>
          </a:p>
        </p:txBody>
      </p:sp>
      <p:sp>
        <p:nvSpPr>
          <p:cNvPr id="10" name="TextBox 10"/>
          <p:cNvSpPr txBox="1"/>
          <p:nvPr/>
        </p:nvSpPr>
        <p:spPr>
          <a:xfrm>
            <a:off x="826521" y="3213408"/>
            <a:ext cx="16885250" cy="3211619"/>
          </a:xfrm>
          <a:prstGeom prst="rect">
            <a:avLst/>
          </a:prstGeom>
        </p:spPr>
        <p:txBody>
          <a:bodyPr lIns="0" tIns="0" rIns="0" bIns="0" rtlCol="0" anchor="t">
            <a:spAutoFit/>
          </a:bodyPr>
          <a:lstStyle/>
          <a:p>
            <a:pPr algn="l">
              <a:lnSpc>
                <a:spcPts val="5156"/>
              </a:lnSpc>
            </a:pPr>
            <a:r>
              <a:rPr lang="en-US" sz="3683">
                <a:solidFill>
                  <a:srgbClr val="FFFFFF"/>
                </a:solidFill>
                <a:latin typeface="Lexend Deca"/>
                <a:ea typeface="Lexend Deca"/>
                <a:cs typeface="Lexend Deca"/>
                <a:sym typeface="Lexend Deca"/>
              </a:rPr>
              <a:t>In order to allow Singapore’s tourism sector to recover, we must fulfil either one of these two conditions:</a:t>
            </a:r>
          </a:p>
          <a:p>
            <a:pPr marL="795222" lvl="1" indent="-397611" algn="l">
              <a:lnSpc>
                <a:spcPts val="5156"/>
              </a:lnSpc>
              <a:buFont typeface="Arial"/>
              <a:buChar char="•"/>
            </a:pPr>
            <a:r>
              <a:rPr lang="en-US" sz="3683">
                <a:solidFill>
                  <a:srgbClr val="FFFFFF"/>
                </a:solidFill>
                <a:latin typeface="Lexend Deca"/>
                <a:ea typeface="Lexend Deca"/>
                <a:cs typeface="Lexend Deca"/>
                <a:sym typeface="Lexend Deca"/>
              </a:rPr>
              <a:t>Increase Tourist Arrival Rate. </a:t>
            </a:r>
          </a:p>
          <a:p>
            <a:pPr marL="795222" lvl="1" indent="-397611" algn="just">
              <a:lnSpc>
                <a:spcPts val="5156"/>
              </a:lnSpc>
              <a:buFont typeface="Arial"/>
              <a:buChar char="•"/>
            </a:pPr>
            <a:r>
              <a:rPr lang="en-US" sz="3683">
                <a:solidFill>
                  <a:srgbClr val="FFFFFF"/>
                </a:solidFill>
                <a:latin typeface="Lexend Deca"/>
                <a:ea typeface="Lexend Deca"/>
                <a:cs typeface="Lexend Deca"/>
                <a:sym typeface="Lexend Deca"/>
              </a:rPr>
              <a:t>Increase Tourist Receipt.</a:t>
            </a:r>
          </a:p>
          <a:p>
            <a:pPr algn="ctr">
              <a:lnSpc>
                <a:spcPts val="5156"/>
              </a:lnSpc>
              <a:spcBef>
                <a:spcPct val="0"/>
              </a:spcBef>
            </a:pPr>
            <a:endParaRPr lang="en-US" sz="3683">
              <a:solidFill>
                <a:srgbClr val="FFFFFF"/>
              </a:solidFill>
              <a:latin typeface="Lexend Deca"/>
              <a:ea typeface="Lexend Deca"/>
              <a:cs typeface="Lexend Deca"/>
              <a:sym typeface="Lexend Dec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sp>
        <p:nvSpPr>
          <p:cNvPr id="2" name="TextBox 2"/>
          <p:cNvSpPr txBox="1"/>
          <p:nvPr/>
        </p:nvSpPr>
        <p:spPr>
          <a:xfrm>
            <a:off x="1028700" y="798515"/>
            <a:ext cx="15245709" cy="29074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OUR DATA MINING GOALS</a:t>
            </a:r>
          </a:p>
          <a:p>
            <a:pPr algn="ctr">
              <a:lnSpc>
                <a:spcPts val="11172"/>
              </a:lnSpc>
            </a:pPr>
            <a:endParaRPr lang="en-US" sz="11638">
              <a:solidFill>
                <a:srgbClr val="FFFFFF"/>
              </a:solidFill>
              <a:latin typeface="Futura Display"/>
              <a:ea typeface="Futura Display"/>
              <a:cs typeface="Futura Display"/>
              <a:sym typeface="Futura Display"/>
            </a:endParaRPr>
          </a:p>
        </p:txBody>
      </p:sp>
      <p:sp>
        <p:nvSpPr>
          <p:cNvPr id="3" name="TextBox 3"/>
          <p:cNvSpPr txBox="1"/>
          <p:nvPr/>
        </p:nvSpPr>
        <p:spPr>
          <a:xfrm>
            <a:off x="1028700" y="3142386"/>
            <a:ext cx="16761923" cy="4742916"/>
          </a:xfrm>
          <a:prstGeom prst="rect">
            <a:avLst/>
          </a:prstGeom>
        </p:spPr>
        <p:txBody>
          <a:bodyPr lIns="0" tIns="0" rIns="0" bIns="0" rtlCol="0" anchor="t">
            <a:spAutoFit/>
          </a:bodyPr>
          <a:lstStyle/>
          <a:p>
            <a:pPr marL="754794" lvl="1" indent="-377397" algn="l">
              <a:lnSpc>
                <a:spcPts val="4894"/>
              </a:lnSpc>
              <a:buAutoNum type="arabicPeriod"/>
            </a:pPr>
            <a:r>
              <a:rPr lang="en-US" sz="3496" u="sng">
                <a:solidFill>
                  <a:srgbClr val="FFFFFF"/>
                </a:solidFill>
                <a:latin typeface="Lexend Deca"/>
                <a:ea typeface="Lexend Deca"/>
                <a:cs typeface="Lexend Deca"/>
                <a:sym typeface="Lexend Deca"/>
              </a:rPr>
              <a:t>Find the demographics of tourists coming to Singapore. </a:t>
            </a:r>
          </a:p>
          <a:p>
            <a:pPr marL="711615" lvl="1" indent="-355808" algn="just">
              <a:lnSpc>
                <a:spcPts val="4614"/>
              </a:lnSpc>
              <a:buFont typeface="Arial"/>
              <a:buChar char="•"/>
            </a:pPr>
            <a:r>
              <a:rPr lang="en-US" sz="3296">
                <a:solidFill>
                  <a:srgbClr val="FFFFFF"/>
                </a:solidFill>
                <a:latin typeface="Lexend Deca"/>
                <a:ea typeface="Lexend Deca"/>
                <a:cs typeface="Lexend Deca"/>
                <a:sym typeface="Lexend Deca"/>
              </a:rPr>
              <a:t> Types based on: Gender, Age, Race, Citizenship etc.</a:t>
            </a:r>
          </a:p>
          <a:p>
            <a:pPr algn="just">
              <a:lnSpc>
                <a:spcPts val="4614"/>
              </a:lnSpc>
            </a:pPr>
            <a:endParaRPr lang="en-US" sz="3296">
              <a:solidFill>
                <a:srgbClr val="FFFFFF"/>
              </a:solidFill>
              <a:latin typeface="Lexend Deca"/>
              <a:ea typeface="Lexend Deca"/>
              <a:cs typeface="Lexend Deca"/>
              <a:sym typeface="Lexend Deca"/>
            </a:endParaRPr>
          </a:p>
          <a:p>
            <a:pPr algn="l">
              <a:lnSpc>
                <a:spcPts val="4894"/>
              </a:lnSpc>
            </a:pPr>
            <a:r>
              <a:rPr lang="en-US" sz="3496">
                <a:solidFill>
                  <a:srgbClr val="FFFFFF"/>
                </a:solidFill>
                <a:latin typeface="Lexend Deca"/>
                <a:ea typeface="Lexend Deca"/>
                <a:cs typeface="Lexend Deca"/>
                <a:sym typeface="Lexend Deca"/>
              </a:rPr>
              <a:t>   2. Identify the most popular tourist spendings. </a:t>
            </a:r>
          </a:p>
          <a:p>
            <a:pPr marL="711615" lvl="1" indent="-355808" algn="l">
              <a:lnSpc>
                <a:spcPts val="4614"/>
              </a:lnSpc>
              <a:buFont typeface="Arial"/>
              <a:buChar char="•"/>
            </a:pPr>
            <a:r>
              <a:rPr lang="en-US" sz="3296">
                <a:solidFill>
                  <a:srgbClr val="FFFFFF"/>
                </a:solidFill>
                <a:latin typeface="Lexend Deca"/>
                <a:ea typeface="Lexend Deca"/>
                <a:cs typeface="Lexend Deca"/>
                <a:sym typeface="Lexend Deca"/>
              </a:rPr>
              <a:t>Which category: Food, Accommodation, Shopping etc.</a:t>
            </a:r>
          </a:p>
          <a:p>
            <a:pPr algn="l">
              <a:lnSpc>
                <a:spcPts val="4614"/>
              </a:lnSpc>
            </a:pPr>
            <a:endParaRPr lang="en-US" sz="3296">
              <a:solidFill>
                <a:srgbClr val="FFFFFF"/>
              </a:solidFill>
              <a:latin typeface="Lexend Deca"/>
              <a:ea typeface="Lexend Deca"/>
              <a:cs typeface="Lexend Deca"/>
              <a:sym typeface="Lexend Deca"/>
            </a:endParaRPr>
          </a:p>
          <a:p>
            <a:pPr algn="l">
              <a:lnSpc>
                <a:spcPts val="4894"/>
              </a:lnSpc>
            </a:pPr>
            <a:r>
              <a:rPr lang="en-US" sz="3496">
                <a:solidFill>
                  <a:srgbClr val="FFFFFF"/>
                </a:solidFill>
                <a:latin typeface="Lexend Deca"/>
                <a:ea typeface="Lexend Deca"/>
                <a:cs typeface="Lexend Deca"/>
                <a:sym typeface="Lexend Deca"/>
              </a:rPr>
              <a:t>   3. Identify if we can still utilize revenge tourism</a:t>
            </a:r>
          </a:p>
          <a:p>
            <a:pPr marL="711615" lvl="1" indent="-355808" algn="l">
              <a:lnSpc>
                <a:spcPts val="4614"/>
              </a:lnSpc>
              <a:buFont typeface="Arial"/>
              <a:buChar char="•"/>
            </a:pPr>
            <a:r>
              <a:rPr lang="en-US" sz="3296">
                <a:solidFill>
                  <a:srgbClr val="FFFFFF"/>
                </a:solidFill>
                <a:latin typeface="Lexend Deca"/>
                <a:ea typeface="Lexend Deca"/>
                <a:cs typeface="Lexend Deca"/>
                <a:sym typeface="Lexend Deca"/>
              </a:rPr>
              <a:t>Look into pre covid and post covid to see if theres still potential for growth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grpSp>
        <p:nvGrpSpPr>
          <p:cNvPr id="2" name="Group 2"/>
          <p:cNvGrpSpPr/>
          <p:nvPr/>
        </p:nvGrpSpPr>
        <p:grpSpPr>
          <a:xfrm>
            <a:off x="9439408" y="6172200"/>
            <a:ext cx="6202578" cy="3086100"/>
            <a:chOff x="0" y="0"/>
            <a:chExt cx="1633601" cy="812800"/>
          </a:xfrm>
        </p:grpSpPr>
        <p:sp>
          <p:nvSpPr>
            <p:cNvPr id="3" name="Freeform 3"/>
            <p:cNvSpPr/>
            <p:nvPr/>
          </p:nvSpPr>
          <p:spPr>
            <a:xfrm>
              <a:off x="0" y="0"/>
              <a:ext cx="1633601" cy="812800"/>
            </a:xfrm>
            <a:custGeom>
              <a:avLst/>
              <a:gdLst/>
              <a:ahLst/>
              <a:cxnLst/>
              <a:rect l="l" t="t" r="r" b="b"/>
              <a:pathLst>
                <a:path w="1633601" h="812800">
                  <a:moveTo>
                    <a:pt x="63657" y="0"/>
                  </a:moveTo>
                  <a:lnTo>
                    <a:pt x="1569944" y="0"/>
                  </a:lnTo>
                  <a:cubicBezTo>
                    <a:pt x="1605101" y="0"/>
                    <a:pt x="1633601" y="28500"/>
                    <a:pt x="1633601" y="63657"/>
                  </a:cubicBezTo>
                  <a:lnTo>
                    <a:pt x="1633601" y="749143"/>
                  </a:lnTo>
                  <a:cubicBezTo>
                    <a:pt x="1633601" y="766026"/>
                    <a:pt x="1626894" y="782217"/>
                    <a:pt x="1614956" y="794155"/>
                  </a:cubicBezTo>
                  <a:cubicBezTo>
                    <a:pt x="1603018" y="806093"/>
                    <a:pt x="1586827" y="812800"/>
                    <a:pt x="1569944" y="812800"/>
                  </a:cubicBezTo>
                  <a:lnTo>
                    <a:pt x="63657" y="812800"/>
                  </a:lnTo>
                  <a:cubicBezTo>
                    <a:pt x="28500" y="812800"/>
                    <a:pt x="0" y="784300"/>
                    <a:pt x="0" y="749143"/>
                  </a:cubicBezTo>
                  <a:lnTo>
                    <a:pt x="0" y="63657"/>
                  </a:lnTo>
                  <a:cubicBezTo>
                    <a:pt x="0" y="28500"/>
                    <a:pt x="28500" y="0"/>
                    <a:pt x="63657" y="0"/>
                  </a:cubicBezTo>
                  <a:close/>
                </a:path>
              </a:pathLst>
            </a:custGeom>
            <a:solidFill>
              <a:srgbClr val="65B2CA"/>
            </a:solidFill>
          </p:spPr>
          <p:txBody>
            <a:bodyPr/>
            <a:lstStyle/>
            <a:p>
              <a:endParaRPr lang="en-US"/>
            </a:p>
          </p:txBody>
        </p:sp>
        <p:sp>
          <p:nvSpPr>
            <p:cNvPr id="4" name="TextBox 4"/>
            <p:cNvSpPr txBox="1"/>
            <p:nvPr/>
          </p:nvSpPr>
          <p:spPr>
            <a:xfrm>
              <a:off x="0" y="-38100"/>
              <a:ext cx="1633601" cy="8509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073408" y="6172200"/>
            <a:ext cx="6174999" cy="3086100"/>
            <a:chOff x="0" y="0"/>
            <a:chExt cx="1626337" cy="812800"/>
          </a:xfrm>
        </p:grpSpPr>
        <p:sp>
          <p:nvSpPr>
            <p:cNvPr id="6" name="Freeform 6"/>
            <p:cNvSpPr/>
            <p:nvPr/>
          </p:nvSpPr>
          <p:spPr>
            <a:xfrm>
              <a:off x="0" y="0"/>
              <a:ext cx="1626337" cy="812800"/>
            </a:xfrm>
            <a:custGeom>
              <a:avLst/>
              <a:gdLst/>
              <a:ahLst/>
              <a:cxnLst/>
              <a:rect l="l" t="t" r="r" b="b"/>
              <a:pathLst>
                <a:path w="1626337" h="812800">
                  <a:moveTo>
                    <a:pt x="63941" y="0"/>
                  </a:moveTo>
                  <a:lnTo>
                    <a:pt x="1562396" y="0"/>
                  </a:lnTo>
                  <a:cubicBezTo>
                    <a:pt x="1597710" y="0"/>
                    <a:pt x="1626337" y="28628"/>
                    <a:pt x="1626337" y="63941"/>
                  </a:cubicBezTo>
                  <a:lnTo>
                    <a:pt x="1626337" y="748859"/>
                  </a:lnTo>
                  <a:cubicBezTo>
                    <a:pt x="1626337" y="765817"/>
                    <a:pt x="1619600" y="782081"/>
                    <a:pt x="1607609" y="794072"/>
                  </a:cubicBezTo>
                  <a:cubicBezTo>
                    <a:pt x="1595618" y="806063"/>
                    <a:pt x="1579354" y="812800"/>
                    <a:pt x="1562396" y="812800"/>
                  </a:cubicBezTo>
                  <a:lnTo>
                    <a:pt x="63941" y="812800"/>
                  </a:lnTo>
                  <a:cubicBezTo>
                    <a:pt x="46983" y="812800"/>
                    <a:pt x="30719" y="806063"/>
                    <a:pt x="18728" y="794072"/>
                  </a:cubicBezTo>
                  <a:cubicBezTo>
                    <a:pt x="6737" y="782081"/>
                    <a:pt x="0" y="765817"/>
                    <a:pt x="0" y="748859"/>
                  </a:cubicBezTo>
                  <a:lnTo>
                    <a:pt x="0" y="63941"/>
                  </a:lnTo>
                  <a:cubicBezTo>
                    <a:pt x="0" y="46983"/>
                    <a:pt x="6737" y="30719"/>
                    <a:pt x="18728" y="18728"/>
                  </a:cubicBezTo>
                  <a:cubicBezTo>
                    <a:pt x="30719" y="6737"/>
                    <a:pt x="46983" y="0"/>
                    <a:pt x="63941" y="0"/>
                  </a:cubicBezTo>
                  <a:close/>
                </a:path>
              </a:pathLst>
            </a:custGeom>
            <a:solidFill>
              <a:srgbClr val="2D8BBA"/>
            </a:solidFill>
          </p:spPr>
          <p:txBody>
            <a:bodyPr/>
            <a:lstStyle/>
            <a:p>
              <a:endParaRPr lang="en-US"/>
            </a:p>
          </p:txBody>
        </p:sp>
        <p:sp>
          <p:nvSpPr>
            <p:cNvPr id="7" name="TextBox 7"/>
            <p:cNvSpPr txBox="1"/>
            <p:nvPr/>
          </p:nvSpPr>
          <p:spPr>
            <a:xfrm>
              <a:off x="0" y="-38100"/>
              <a:ext cx="1626337" cy="8509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439408" y="2733836"/>
            <a:ext cx="6202578" cy="3086100"/>
            <a:chOff x="0" y="0"/>
            <a:chExt cx="1633601" cy="812800"/>
          </a:xfrm>
        </p:grpSpPr>
        <p:sp>
          <p:nvSpPr>
            <p:cNvPr id="9" name="Freeform 9"/>
            <p:cNvSpPr/>
            <p:nvPr/>
          </p:nvSpPr>
          <p:spPr>
            <a:xfrm>
              <a:off x="0" y="0"/>
              <a:ext cx="1633601" cy="812800"/>
            </a:xfrm>
            <a:custGeom>
              <a:avLst/>
              <a:gdLst/>
              <a:ahLst/>
              <a:cxnLst/>
              <a:rect l="l" t="t" r="r" b="b"/>
              <a:pathLst>
                <a:path w="1633601" h="812800">
                  <a:moveTo>
                    <a:pt x="63657" y="0"/>
                  </a:moveTo>
                  <a:lnTo>
                    <a:pt x="1569944" y="0"/>
                  </a:lnTo>
                  <a:cubicBezTo>
                    <a:pt x="1605101" y="0"/>
                    <a:pt x="1633601" y="28500"/>
                    <a:pt x="1633601" y="63657"/>
                  </a:cubicBezTo>
                  <a:lnTo>
                    <a:pt x="1633601" y="749143"/>
                  </a:lnTo>
                  <a:cubicBezTo>
                    <a:pt x="1633601" y="766026"/>
                    <a:pt x="1626894" y="782217"/>
                    <a:pt x="1614956" y="794155"/>
                  </a:cubicBezTo>
                  <a:cubicBezTo>
                    <a:pt x="1603018" y="806093"/>
                    <a:pt x="1586827" y="812800"/>
                    <a:pt x="1569944" y="812800"/>
                  </a:cubicBezTo>
                  <a:lnTo>
                    <a:pt x="63657" y="812800"/>
                  </a:lnTo>
                  <a:cubicBezTo>
                    <a:pt x="28500" y="812800"/>
                    <a:pt x="0" y="784300"/>
                    <a:pt x="0" y="749143"/>
                  </a:cubicBezTo>
                  <a:lnTo>
                    <a:pt x="0" y="63657"/>
                  </a:lnTo>
                  <a:cubicBezTo>
                    <a:pt x="0" y="28500"/>
                    <a:pt x="28500" y="0"/>
                    <a:pt x="63657" y="0"/>
                  </a:cubicBezTo>
                  <a:close/>
                </a:path>
              </a:pathLst>
            </a:custGeom>
            <a:solidFill>
              <a:srgbClr val="2D8BBA"/>
            </a:solidFill>
          </p:spPr>
          <p:txBody>
            <a:bodyPr/>
            <a:lstStyle/>
            <a:p>
              <a:endParaRPr lang="en-US"/>
            </a:p>
          </p:txBody>
        </p:sp>
        <p:sp>
          <p:nvSpPr>
            <p:cNvPr id="10" name="TextBox 10"/>
            <p:cNvSpPr txBox="1"/>
            <p:nvPr/>
          </p:nvSpPr>
          <p:spPr>
            <a:xfrm>
              <a:off x="0" y="-38100"/>
              <a:ext cx="1633601" cy="8509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2073408" y="2733836"/>
            <a:ext cx="6174999" cy="3086100"/>
            <a:chOff x="0" y="0"/>
            <a:chExt cx="1626337" cy="812800"/>
          </a:xfrm>
        </p:grpSpPr>
        <p:sp>
          <p:nvSpPr>
            <p:cNvPr id="12" name="Freeform 12"/>
            <p:cNvSpPr/>
            <p:nvPr/>
          </p:nvSpPr>
          <p:spPr>
            <a:xfrm>
              <a:off x="0" y="0"/>
              <a:ext cx="1626337" cy="812800"/>
            </a:xfrm>
            <a:custGeom>
              <a:avLst/>
              <a:gdLst/>
              <a:ahLst/>
              <a:cxnLst/>
              <a:rect l="l" t="t" r="r" b="b"/>
              <a:pathLst>
                <a:path w="1626337" h="812800">
                  <a:moveTo>
                    <a:pt x="63941" y="0"/>
                  </a:moveTo>
                  <a:lnTo>
                    <a:pt x="1562396" y="0"/>
                  </a:lnTo>
                  <a:cubicBezTo>
                    <a:pt x="1597710" y="0"/>
                    <a:pt x="1626337" y="28628"/>
                    <a:pt x="1626337" y="63941"/>
                  </a:cubicBezTo>
                  <a:lnTo>
                    <a:pt x="1626337" y="748859"/>
                  </a:lnTo>
                  <a:cubicBezTo>
                    <a:pt x="1626337" y="765817"/>
                    <a:pt x="1619600" y="782081"/>
                    <a:pt x="1607609" y="794072"/>
                  </a:cubicBezTo>
                  <a:cubicBezTo>
                    <a:pt x="1595618" y="806063"/>
                    <a:pt x="1579354" y="812800"/>
                    <a:pt x="1562396" y="812800"/>
                  </a:cubicBezTo>
                  <a:lnTo>
                    <a:pt x="63941" y="812800"/>
                  </a:lnTo>
                  <a:cubicBezTo>
                    <a:pt x="46983" y="812800"/>
                    <a:pt x="30719" y="806063"/>
                    <a:pt x="18728" y="794072"/>
                  </a:cubicBezTo>
                  <a:cubicBezTo>
                    <a:pt x="6737" y="782081"/>
                    <a:pt x="0" y="765817"/>
                    <a:pt x="0" y="748859"/>
                  </a:cubicBezTo>
                  <a:lnTo>
                    <a:pt x="0" y="63941"/>
                  </a:lnTo>
                  <a:cubicBezTo>
                    <a:pt x="0" y="46983"/>
                    <a:pt x="6737" y="30719"/>
                    <a:pt x="18728" y="18728"/>
                  </a:cubicBezTo>
                  <a:cubicBezTo>
                    <a:pt x="30719" y="6737"/>
                    <a:pt x="46983" y="0"/>
                    <a:pt x="63941" y="0"/>
                  </a:cubicBezTo>
                  <a:close/>
                </a:path>
              </a:pathLst>
            </a:custGeom>
            <a:solidFill>
              <a:srgbClr val="65B2CA"/>
            </a:solidFill>
          </p:spPr>
          <p:txBody>
            <a:bodyPr/>
            <a:lstStyle/>
            <a:p>
              <a:endParaRPr lang="en-US"/>
            </a:p>
          </p:txBody>
        </p:sp>
        <p:sp>
          <p:nvSpPr>
            <p:cNvPr id="13" name="TextBox 13"/>
            <p:cNvSpPr txBox="1"/>
            <p:nvPr/>
          </p:nvSpPr>
          <p:spPr>
            <a:xfrm>
              <a:off x="0" y="-38100"/>
              <a:ext cx="1626337" cy="8509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2646014" y="413184"/>
            <a:ext cx="12995972" cy="14977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DATA SOURCES:</a:t>
            </a:r>
          </a:p>
        </p:txBody>
      </p:sp>
      <p:sp>
        <p:nvSpPr>
          <p:cNvPr id="15" name="TextBox 15"/>
          <p:cNvSpPr txBox="1"/>
          <p:nvPr/>
        </p:nvSpPr>
        <p:spPr>
          <a:xfrm>
            <a:off x="2165833" y="6282463"/>
            <a:ext cx="6082575" cy="2525809"/>
          </a:xfrm>
          <a:prstGeom prst="rect">
            <a:avLst/>
          </a:prstGeom>
        </p:spPr>
        <p:txBody>
          <a:bodyPr lIns="0" tIns="0" rIns="0" bIns="0" rtlCol="0" anchor="t">
            <a:spAutoFit/>
          </a:bodyPr>
          <a:lstStyle/>
          <a:p>
            <a:pPr algn="ctr">
              <a:lnSpc>
                <a:spcPts val="5066"/>
              </a:lnSpc>
              <a:spcBef>
                <a:spcPct val="0"/>
              </a:spcBef>
            </a:pPr>
            <a:r>
              <a:rPr lang="en-US" sz="3619">
                <a:solidFill>
                  <a:srgbClr val="000000"/>
                </a:solidFill>
                <a:latin typeface="Lexend Deca"/>
                <a:ea typeface="Lexend Deca"/>
                <a:cs typeface="Lexend Deca"/>
                <a:sym typeface="Lexend Deca"/>
              </a:rPr>
              <a:t>Hotel Stats: https://tablebuilder.singstat.gov.sg/table/TS/M550081</a:t>
            </a:r>
          </a:p>
        </p:txBody>
      </p:sp>
      <p:sp>
        <p:nvSpPr>
          <p:cNvPr id="16" name="TextBox 16"/>
          <p:cNvSpPr txBox="1"/>
          <p:nvPr/>
        </p:nvSpPr>
        <p:spPr>
          <a:xfrm>
            <a:off x="2165833" y="3367030"/>
            <a:ext cx="5990150" cy="1780698"/>
          </a:xfrm>
          <a:prstGeom prst="rect">
            <a:avLst/>
          </a:prstGeom>
        </p:spPr>
        <p:txBody>
          <a:bodyPr lIns="0" tIns="0" rIns="0" bIns="0" rtlCol="0" anchor="t">
            <a:spAutoFit/>
          </a:bodyPr>
          <a:lstStyle/>
          <a:p>
            <a:pPr algn="ctr">
              <a:lnSpc>
                <a:spcPts val="4751"/>
              </a:lnSpc>
              <a:spcBef>
                <a:spcPct val="0"/>
              </a:spcBef>
            </a:pPr>
            <a:r>
              <a:rPr lang="en-US" sz="3393">
                <a:solidFill>
                  <a:srgbClr val="FFFFFF"/>
                </a:solidFill>
                <a:latin typeface="Canva Sans"/>
                <a:ea typeface="Canva Sans"/>
                <a:cs typeface="Canva Sans"/>
                <a:sym typeface="Canva Sans"/>
              </a:rPr>
              <a:t>Tourist Receipts/Spendings: https://tablebuilder.singstat.gov.sg/table/TS/M550371#</a:t>
            </a:r>
          </a:p>
        </p:txBody>
      </p:sp>
      <p:sp>
        <p:nvSpPr>
          <p:cNvPr id="17" name="TextBox 17"/>
          <p:cNvSpPr txBox="1"/>
          <p:nvPr/>
        </p:nvSpPr>
        <p:spPr>
          <a:xfrm>
            <a:off x="9547867" y="3191611"/>
            <a:ext cx="5985661" cy="2214245"/>
          </a:xfrm>
          <a:prstGeom prst="rect">
            <a:avLst/>
          </a:prstGeom>
        </p:spPr>
        <p:txBody>
          <a:bodyPr lIns="0" tIns="0" rIns="0" bIns="0" rtlCol="0" anchor="t">
            <a:spAutoFit/>
          </a:bodyPr>
          <a:lstStyle/>
          <a:p>
            <a:pPr algn="ctr">
              <a:lnSpc>
                <a:spcPts val="4480"/>
              </a:lnSpc>
              <a:spcBef>
                <a:spcPct val="0"/>
              </a:spcBef>
            </a:pPr>
            <a:r>
              <a:rPr lang="en-US" sz="3200">
                <a:solidFill>
                  <a:srgbClr val="000000"/>
                </a:solidFill>
                <a:latin typeface="Lexend Deca"/>
                <a:ea typeface="Lexend Deca"/>
                <a:cs typeface="Lexend Deca"/>
                <a:sym typeface="Lexend Deca"/>
              </a:rPr>
              <a:t>Tourist Demographics (age/gender etc): https://tablebuilder.singstat.gov.sg/table/TS/M550241</a:t>
            </a:r>
          </a:p>
        </p:txBody>
      </p:sp>
      <p:sp>
        <p:nvSpPr>
          <p:cNvPr id="18" name="TextBox 18"/>
          <p:cNvSpPr txBox="1"/>
          <p:nvPr/>
        </p:nvSpPr>
        <p:spPr>
          <a:xfrm>
            <a:off x="9547867" y="6272938"/>
            <a:ext cx="5985661" cy="2664131"/>
          </a:xfrm>
          <a:prstGeom prst="rect">
            <a:avLst/>
          </a:prstGeom>
        </p:spPr>
        <p:txBody>
          <a:bodyPr lIns="0" tIns="0" rIns="0" bIns="0" rtlCol="0" anchor="t">
            <a:spAutoFit/>
          </a:bodyPr>
          <a:lstStyle/>
          <a:p>
            <a:pPr algn="ctr">
              <a:lnSpc>
                <a:spcPts val="5342"/>
              </a:lnSpc>
              <a:spcBef>
                <a:spcPct val="0"/>
              </a:spcBef>
            </a:pPr>
            <a:r>
              <a:rPr lang="en-US" sz="3815">
                <a:solidFill>
                  <a:srgbClr val="FFFFFF"/>
                </a:solidFill>
                <a:latin typeface="Lexend Deca"/>
                <a:ea typeface="Lexend Deca"/>
                <a:cs typeface="Lexend Deca"/>
                <a:sym typeface="Lexend Deca"/>
              </a:rPr>
              <a:t>Country of arrivals: https://tablebuilder.singstat.gov.sg/table/TS/M550081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grpSp>
        <p:nvGrpSpPr>
          <p:cNvPr id="2" name="Group 2"/>
          <p:cNvGrpSpPr/>
          <p:nvPr/>
        </p:nvGrpSpPr>
        <p:grpSpPr>
          <a:xfrm>
            <a:off x="10008687" y="2203734"/>
            <a:ext cx="6905423" cy="7191214"/>
            <a:chOff x="0" y="0"/>
            <a:chExt cx="9207231" cy="9588286"/>
          </a:xfrm>
        </p:grpSpPr>
        <p:grpSp>
          <p:nvGrpSpPr>
            <p:cNvPr id="3" name="Group 3"/>
            <p:cNvGrpSpPr/>
            <p:nvPr/>
          </p:nvGrpSpPr>
          <p:grpSpPr>
            <a:xfrm>
              <a:off x="0" y="0"/>
              <a:ext cx="9207231" cy="9588286"/>
              <a:chOff x="0" y="0"/>
              <a:chExt cx="1421382" cy="1480208"/>
            </a:xfrm>
          </p:grpSpPr>
          <p:sp>
            <p:nvSpPr>
              <p:cNvPr id="4" name="Freeform 4"/>
              <p:cNvSpPr/>
              <p:nvPr/>
            </p:nvSpPr>
            <p:spPr>
              <a:xfrm>
                <a:off x="0" y="0"/>
                <a:ext cx="1421382" cy="1480208"/>
              </a:xfrm>
              <a:custGeom>
                <a:avLst/>
                <a:gdLst/>
                <a:ahLst/>
                <a:cxnLst/>
                <a:rect l="l" t="t" r="r" b="b"/>
                <a:pathLst>
                  <a:path w="1421382" h="1480208">
                    <a:moveTo>
                      <a:pt x="57178" y="0"/>
                    </a:moveTo>
                    <a:lnTo>
                      <a:pt x="1364204" y="0"/>
                    </a:lnTo>
                    <a:cubicBezTo>
                      <a:pt x="1395783" y="0"/>
                      <a:pt x="1421382" y="25599"/>
                      <a:pt x="1421382" y="57178"/>
                    </a:cubicBezTo>
                    <a:lnTo>
                      <a:pt x="1421382" y="1423030"/>
                    </a:lnTo>
                    <a:cubicBezTo>
                      <a:pt x="1421382" y="1454609"/>
                      <a:pt x="1395783" y="1480208"/>
                      <a:pt x="1364204" y="1480208"/>
                    </a:cubicBezTo>
                    <a:lnTo>
                      <a:pt x="57178" y="1480208"/>
                    </a:lnTo>
                    <a:cubicBezTo>
                      <a:pt x="25599" y="1480208"/>
                      <a:pt x="0" y="1454609"/>
                      <a:pt x="0" y="1423030"/>
                    </a:cubicBezTo>
                    <a:lnTo>
                      <a:pt x="0" y="57178"/>
                    </a:lnTo>
                    <a:cubicBezTo>
                      <a:pt x="0" y="25599"/>
                      <a:pt x="25599" y="0"/>
                      <a:pt x="57178" y="0"/>
                    </a:cubicBezTo>
                    <a:close/>
                  </a:path>
                </a:pathLst>
              </a:custGeom>
              <a:solidFill>
                <a:srgbClr val="181818"/>
              </a:solidFill>
            </p:spPr>
            <p:txBody>
              <a:bodyPr/>
              <a:lstStyle/>
              <a:p>
                <a:endParaRPr lang="en-US"/>
              </a:p>
            </p:txBody>
          </p:sp>
          <p:sp>
            <p:nvSpPr>
              <p:cNvPr id="5" name="TextBox 5"/>
              <p:cNvSpPr txBox="1"/>
              <p:nvPr/>
            </p:nvSpPr>
            <p:spPr>
              <a:xfrm>
                <a:off x="0" y="-38100"/>
                <a:ext cx="1421382" cy="1518308"/>
              </a:xfrm>
              <a:prstGeom prst="rect">
                <a:avLst/>
              </a:prstGeom>
            </p:spPr>
            <p:txBody>
              <a:bodyPr lIns="55577" tIns="55577" rIns="55577" bIns="55577" rtlCol="0" anchor="ctr"/>
              <a:lstStyle/>
              <a:p>
                <a:pPr algn="ctr">
                  <a:lnSpc>
                    <a:spcPts val="2659"/>
                  </a:lnSpc>
                  <a:spcBef>
                    <a:spcPct val="0"/>
                  </a:spcBef>
                </a:pPr>
                <a:endParaRPr/>
              </a:p>
            </p:txBody>
          </p:sp>
        </p:grpSp>
        <p:sp>
          <p:nvSpPr>
            <p:cNvPr id="6" name="Freeform 6"/>
            <p:cNvSpPr/>
            <p:nvPr/>
          </p:nvSpPr>
          <p:spPr>
            <a:xfrm>
              <a:off x="0" y="571271"/>
              <a:ext cx="9207231" cy="8328459"/>
            </a:xfrm>
            <a:custGeom>
              <a:avLst/>
              <a:gdLst/>
              <a:ahLst/>
              <a:cxnLst/>
              <a:rect l="l" t="t" r="r" b="b"/>
              <a:pathLst>
                <a:path w="9207231" h="8328459">
                  <a:moveTo>
                    <a:pt x="0" y="0"/>
                  </a:moveTo>
                  <a:lnTo>
                    <a:pt x="9207231" y="0"/>
                  </a:lnTo>
                  <a:lnTo>
                    <a:pt x="9207231" y="8328459"/>
                  </a:lnTo>
                  <a:lnTo>
                    <a:pt x="0" y="8328459"/>
                  </a:lnTo>
                  <a:lnTo>
                    <a:pt x="0" y="0"/>
                  </a:lnTo>
                  <a:close/>
                </a:path>
              </a:pathLst>
            </a:custGeom>
            <a:blipFill>
              <a:blip r:embed="rId2"/>
              <a:stretch>
                <a:fillRect t="-503" b="-503"/>
              </a:stretch>
            </a:blipFill>
          </p:spPr>
          <p:txBody>
            <a:bodyPr/>
            <a:lstStyle/>
            <a:p>
              <a:endParaRPr lang="en-US"/>
            </a:p>
          </p:txBody>
        </p:sp>
      </p:grpSp>
      <p:sp>
        <p:nvSpPr>
          <p:cNvPr id="7" name="TextBox 7"/>
          <p:cNvSpPr txBox="1"/>
          <p:nvPr/>
        </p:nvSpPr>
        <p:spPr>
          <a:xfrm>
            <a:off x="2646014" y="413184"/>
            <a:ext cx="12995972" cy="14977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DATA CLEANING</a:t>
            </a:r>
          </a:p>
        </p:txBody>
      </p:sp>
      <p:sp>
        <p:nvSpPr>
          <p:cNvPr id="8" name="TextBox 8"/>
          <p:cNvSpPr txBox="1"/>
          <p:nvPr/>
        </p:nvSpPr>
        <p:spPr>
          <a:xfrm>
            <a:off x="1028700" y="3227383"/>
            <a:ext cx="8831021" cy="4771743"/>
          </a:xfrm>
          <a:prstGeom prst="rect">
            <a:avLst/>
          </a:prstGeom>
        </p:spPr>
        <p:txBody>
          <a:bodyPr lIns="0" tIns="0" rIns="0" bIns="0" rtlCol="0" anchor="t">
            <a:spAutoFit/>
          </a:bodyPr>
          <a:lstStyle/>
          <a:p>
            <a:pPr algn="l">
              <a:lnSpc>
                <a:spcPts val="4743"/>
              </a:lnSpc>
            </a:pPr>
            <a:r>
              <a:rPr lang="en-US" sz="3387">
                <a:solidFill>
                  <a:srgbClr val="FFFFFF"/>
                </a:solidFill>
                <a:latin typeface="Lexend Deca"/>
                <a:ea typeface="Lexend Deca"/>
                <a:cs typeface="Lexend Deca"/>
                <a:sym typeface="Lexend Deca"/>
              </a:rPr>
              <a:t>Formatted the Date such that it spans from the start of 2008 to the end of 2023.</a:t>
            </a:r>
          </a:p>
          <a:p>
            <a:pPr algn="l">
              <a:lnSpc>
                <a:spcPts val="4743"/>
              </a:lnSpc>
            </a:pPr>
            <a:endParaRPr lang="en-US" sz="3387">
              <a:solidFill>
                <a:srgbClr val="FFFFFF"/>
              </a:solidFill>
              <a:latin typeface="Lexend Deca"/>
              <a:ea typeface="Lexend Deca"/>
              <a:cs typeface="Lexend Deca"/>
              <a:sym typeface="Lexend Deca"/>
            </a:endParaRPr>
          </a:p>
          <a:p>
            <a:pPr algn="l">
              <a:lnSpc>
                <a:spcPts val="4743"/>
              </a:lnSpc>
            </a:pPr>
            <a:r>
              <a:rPr lang="en-US" sz="3387">
                <a:solidFill>
                  <a:srgbClr val="FFFFFF"/>
                </a:solidFill>
                <a:latin typeface="Lexend Deca"/>
                <a:ea typeface="Lexend Deca"/>
                <a:cs typeface="Lexend Deca"/>
                <a:sym typeface="Lexend Deca"/>
              </a:rPr>
              <a:t>Ensured column names and units are uniform.</a:t>
            </a:r>
          </a:p>
          <a:p>
            <a:pPr algn="l">
              <a:lnSpc>
                <a:spcPts val="4743"/>
              </a:lnSpc>
            </a:pPr>
            <a:endParaRPr lang="en-US" sz="3387">
              <a:solidFill>
                <a:srgbClr val="FFFFFF"/>
              </a:solidFill>
              <a:latin typeface="Lexend Deca"/>
              <a:ea typeface="Lexend Deca"/>
              <a:cs typeface="Lexend Deca"/>
              <a:sym typeface="Lexend Deca"/>
            </a:endParaRPr>
          </a:p>
          <a:p>
            <a:pPr algn="l">
              <a:lnSpc>
                <a:spcPts val="4743"/>
              </a:lnSpc>
            </a:pPr>
            <a:r>
              <a:rPr lang="en-US" sz="3387">
                <a:solidFill>
                  <a:srgbClr val="FFFFFF"/>
                </a:solidFill>
                <a:latin typeface="Lexend Deca"/>
                <a:ea typeface="Lexend Deca"/>
                <a:cs typeface="Lexend Deca"/>
                <a:sym typeface="Lexend Deca"/>
              </a:rPr>
              <a:t>Used Transpose function to swap the rows and columns to make the date the index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grpSp>
        <p:nvGrpSpPr>
          <p:cNvPr id="2" name="Group 2"/>
          <p:cNvGrpSpPr/>
          <p:nvPr/>
        </p:nvGrpSpPr>
        <p:grpSpPr>
          <a:xfrm>
            <a:off x="1808604" y="1561801"/>
            <a:ext cx="4948165" cy="5191281"/>
            <a:chOff x="0" y="0"/>
            <a:chExt cx="6597553" cy="6921708"/>
          </a:xfrm>
        </p:grpSpPr>
        <p:grpSp>
          <p:nvGrpSpPr>
            <p:cNvPr id="3" name="Group 3"/>
            <p:cNvGrpSpPr/>
            <p:nvPr/>
          </p:nvGrpSpPr>
          <p:grpSpPr>
            <a:xfrm>
              <a:off x="0" y="0"/>
              <a:ext cx="6597553" cy="6921708"/>
              <a:chOff x="0" y="0"/>
              <a:chExt cx="1018509" cy="1068551"/>
            </a:xfrm>
          </p:grpSpPr>
          <p:sp>
            <p:nvSpPr>
              <p:cNvPr id="4" name="Freeform 4"/>
              <p:cNvSpPr/>
              <p:nvPr/>
            </p:nvSpPr>
            <p:spPr>
              <a:xfrm>
                <a:off x="0" y="0"/>
                <a:ext cx="1018509" cy="1068551"/>
              </a:xfrm>
              <a:custGeom>
                <a:avLst/>
                <a:gdLst/>
                <a:ahLst/>
                <a:cxnLst/>
                <a:rect l="l" t="t" r="r" b="b"/>
                <a:pathLst>
                  <a:path w="1018509" h="1068551">
                    <a:moveTo>
                      <a:pt x="79795" y="0"/>
                    </a:moveTo>
                    <a:lnTo>
                      <a:pt x="938714" y="0"/>
                    </a:lnTo>
                    <a:cubicBezTo>
                      <a:pt x="982783" y="0"/>
                      <a:pt x="1018509" y="35725"/>
                      <a:pt x="1018509" y="79795"/>
                    </a:cubicBezTo>
                    <a:lnTo>
                      <a:pt x="1018509" y="988756"/>
                    </a:lnTo>
                    <a:cubicBezTo>
                      <a:pt x="1018509" y="1009919"/>
                      <a:pt x="1010102" y="1030215"/>
                      <a:pt x="995137" y="1045179"/>
                    </a:cubicBezTo>
                    <a:cubicBezTo>
                      <a:pt x="980173" y="1060144"/>
                      <a:pt x="959877" y="1068551"/>
                      <a:pt x="938714" y="1068551"/>
                    </a:cubicBezTo>
                    <a:lnTo>
                      <a:pt x="79795" y="1068551"/>
                    </a:lnTo>
                    <a:cubicBezTo>
                      <a:pt x="58632" y="1068551"/>
                      <a:pt x="38336" y="1060144"/>
                      <a:pt x="23371" y="1045179"/>
                    </a:cubicBezTo>
                    <a:cubicBezTo>
                      <a:pt x="8407" y="1030215"/>
                      <a:pt x="0" y="1009919"/>
                      <a:pt x="0" y="988756"/>
                    </a:cubicBezTo>
                    <a:lnTo>
                      <a:pt x="0" y="79795"/>
                    </a:lnTo>
                    <a:cubicBezTo>
                      <a:pt x="0" y="58632"/>
                      <a:pt x="8407" y="38336"/>
                      <a:pt x="23371" y="23371"/>
                    </a:cubicBezTo>
                    <a:cubicBezTo>
                      <a:pt x="38336" y="8407"/>
                      <a:pt x="58632" y="0"/>
                      <a:pt x="79795" y="0"/>
                    </a:cubicBezTo>
                    <a:close/>
                  </a:path>
                </a:pathLst>
              </a:custGeom>
              <a:solidFill>
                <a:srgbClr val="FFFFFF"/>
              </a:solidFill>
            </p:spPr>
            <p:txBody>
              <a:bodyPr/>
              <a:lstStyle/>
              <a:p>
                <a:endParaRPr lang="en-US"/>
              </a:p>
            </p:txBody>
          </p:sp>
          <p:sp>
            <p:nvSpPr>
              <p:cNvPr id="5" name="TextBox 5"/>
              <p:cNvSpPr txBox="1"/>
              <p:nvPr/>
            </p:nvSpPr>
            <p:spPr>
              <a:xfrm>
                <a:off x="0" y="-38100"/>
                <a:ext cx="1018509" cy="1106651"/>
              </a:xfrm>
              <a:prstGeom prst="rect">
                <a:avLst/>
              </a:prstGeom>
            </p:spPr>
            <p:txBody>
              <a:bodyPr lIns="55577" tIns="55577" rIns="55577" bIns="55577" rtlCol="0" anchor="ctr"/>
              <a:lstStyle/>
              <a:p>
                <a:pPr algn="ctr">
                  <a:lnSpc>
                    <a:spcPts val="2659"/>
                  </a:lnSpc>
                  <a:spcBef>
                    <a:spcPct val="0"/>
                  </a:spcBef>
                </a:pPr>
                <a:endParaRPr/>
              </a:p>
            </p:txBody>
          </p:sp>
        </p:grpSp>
        <p:sp>
          <p:nvSpPr>
            <p:cNvPr id="6" name="Freeform 6"/>
            <p:cNvSpPr/>
            <p:nvPr/>
          </p:nvSpPr>
          <p:spPr>
            <a:xfrm>
              <a:off x="110014" y="339946"/>
              <a:ext cx="6377524" cy="6255076"/>
            </a:xfrm>
            <a:custGeom>
              <a:avLst/>
              <a:gdLst/>
              <a:ahLst/>
              <a:cxnLst/>
              <a:rect l="l" t="t" r="r" b="b"/>
              <a:pathLst>
                <a:path w="6377524" h="6255076">
                  <a:moveTo>
                    <a:pt x="0" y="0"/>
                  </a:moveTo>
                  <a:lnTo>
                    <a:pt x="6377525" y="0"/>
                  </a:lnTo>
                  <a:lnTo>
                    <a:pt x="6377525" y="6255075"/>
                  </a:lnTo>
                  <a:lnTo>
                    <a:pt x="0" y="6255075"/>
                  </a:lnTo>
                  <a:lnTo>
                    <a:pt x="0" y="0"/>
                  </a:lnTo>
                  <a:close/>
                </a:path>
              </a:pathLst>
            </a:custGeom>
            <a:blipFill>
              <a:blip r:embed="rId2"/>
              <a:stretch>
                <a:fillRect/>
              </a:stretch>
            </a:blipFill>
          </p:spPr>
          <p:txBody>
            <a:bodyPr/>
            <a:lstStyle/>
            <a:p>
              <a:endParaRPr lang="en-US"/>
            </a:p>
          </p:txBody>
        </p:sp>
      </p:grpSp>
      <p:grpSp>
        <p:nvGrpSpPr>
          <p:cNvPr id="7" name="Group 7"/>
          <p:cNvGrpSpPr/>
          <p:nvPr/>
        </p:nvGrpSpPr>
        <p:grpSpPr>
          <a:xfrm>
            <a:off x="10119211" y="1764432"/>
            <a:ext cx="6406529" cy="4147081"/>
            <a:chOff x="0" y="0"/>
            <a:chExt cx="8542039" cy="5529442"/>
          </a:xfrm>
        </p:grpSpPr>
        <p:grpSp>
          <p:nvGrpSpPr>
            <p:cNvPr id="8" name="Group 8"/>
            <p:cNvGrpSpPr/>
            <p:nvPr/>
          </p:nvGrpSpPr>
          <p:grpSpPr>
            <a:xfrm>
              <a:off x="0" y="0"/>
              <a:ext cx="8542039" cy="5529442"/>
              <a:chOff x="0" y="0"/>
              <a:chExt cx="1318692" cy="853617"/>
            </a:xfrm>
          </p:grpSpPr>
          <p:sp>
            <p:nvSpPr>
              <p:cNvPr id="9" name="Freeform 9"/>
              <p:cNvSpPr/>
              <p:nvPr/>
            </p:nvSpPr>
            <p:spPr>
              <a:xfrm>
                <a:off x="0" y="0"/>
                <a:ext cx="1318692" cy="853617"/>
              </a:xfrm>
              <a:custGeom>
                <a:avLst/>
                <a:gdLst/>
                <a:ahLst/>
                <a:cxnLst/>
                <a:rect l="l" t="t" r="r" b="b"/>
                <a:pathLst>
                  <a:path w="1318692" h="853617">
                    <a:moveTo>
                      <a:pt x="61631" y="0"/>
                    </a:moveTo>
                    <a:lnTo>
                      <a:pt x="1257061" y="0"/>
                    </a:lnTo>
                    <a:cubicBezTo>
                      <a:pt x="1291099" y="0"/>
                      <a:pt x="1318692" y="27593"/>
                      <a:pt x="1318692" y="61631"/>
                    </a:cubicBezTo>
                    <a:lnTo>
                      <a:pt x="1318692" y="791987"/>
                    </a:lnTo>
                    <a:cubicBezTo>
                      <a:pt x="1318692" y="826024"/>
                      <a:pt x="1291099" y="853617"/>
                      <a:pt x="1257061" y="853617"/>
                    </a:cubicBezTo>
                    <a:lnTo>
                      <a:pt x="61631" y="853617"/>
                    </a:lnTo>
                    <a:cubicBezTo>
                      <a:pt x="27593" y="853617"/>
                      <a:pt x="0" y="826024"/>
                      <a:pt x="0" y="791987"/>
                    </a:cubicBezTo>
                    <a:lnTo>
                      <a:pt x="0" y="61631"/>
                    </a:lnTo>
                    <a:cubicBezTo>
                      <a:pt x="0" y="27593"/>
                      <a:pt x="27593" y="0"/>
                      <a:pt x="61631" y="0"/>
                    </a:cubicBezTo>
                    <a:close/>
                  </a:path>
                </a:pathLst>
              </a:custGeom>
              <a:solidFill>
                <a:srgbClr val="FFFFFF"/>
              </a:solidFill>
            </p:spPr>
            <p:txBody>
              <a:bodyPr/>
              <a:lstStyle/>
              <a:p>
                <a:endParaRPr lang="en-US"/>
              </a:p>
            </p:txBody>
          </p:sp>
          <p:sp>
            <p:nvSpPr>
              <p:cNvPr id="10" name="TextBox 10"/>
              <p:cNvSpPr txBox="1"/>
              <p:nvPr/>
            </p:nvSpPr>
            <p:spPr>
              <a:xfrm>
                <a:off x="0" y="-38100"/>
                <a:ext cx="1318692" cy="891717"/>
              </a:xfrm>
              <a:prstGeom prst="rect">
                <a:avLst/>
              </a:prstGeom>
            </p:spPr>
            <p:txBody>
              <a:bodyPr lIns="55577" tIns="55577" rIns="55577" bIns="55577" rtlCol="0" anchor="ctr"/>
              <a:lstStyle/>
              <a:p>
                <a:pPr algn="ctr">
                  <a:lnSpc>
                    <a:spcPts val="2659"/>
                  </a:lnSpc>
                  <a:spcBef>
                    <a:spcPct val="0"/>
                  </a:spcBef>
                </a:pPr>
                <a:endParaRPr/>
              </a:p>
            </p:txBody>
          </p:sp>
        </p:grpSp>
        <p:sp>
          <p:nvSpPr>
            <p:cNvPr id="11" name="Freeform 11"/>
            <p:cNvSpPr/>
            <p:nvPr/>
          </p:nvSpPr>
          <p:spPr>
            <a:xfrm>
              <a:off x="268481" y="234053"/>
              <a:ext cx="8023750" cy="5165449"/>
            </a:xfrm>
            <a:custGeom>
              <a:avLst/>
              <a:gdLst/>
              <a:ahLst/>
              <a:cxnLst/>
              <a:rect l="l" t="t" r="r" b="b"/>
              <a:pathLst>
                <a:path w="8023750" h="5165449">
                  <a:moveTo>
                    <a:pt x="0" y="0"/>
                  </a:moveTo>
                  <a:lnTo>
                    <a:pt x="8023750" y="0"/>
                  </a:lnTo>
                  <a:lnTo>
                    <a:pt x="8023750" y="5165449"/>
                  </a:lnTo>
                  <a:lnTo>
                    <a:pt x="0" y="5165449"/>
                  </a:lnTo>
                  <a:lnTo>
                    <a:pt x="0" y="0"/>
                  </a:lnTo>
                  <a:close/>
                </a:path>
              </a:pathLst>
            </a:custGeom>
            <a:blipFill>
              <a:blip r:embed="rId3"/>
              <a:stretch>
                <a:fillRect/>
              </a:stretch>
            </a:blipFill>
          </p:spPr>
          <p:txBody>
            <a:bodyPr/>
            <a:lstStyle/>
            <a:p>
              <a:endParaRPr lang="en-US"/>
            </a:p>
          </p:txBody>
        </p:sp>
      </p:grpSp>
      <p:grpSp>
        <p:nvGrpSpPr>
          <p:cNvPr id="12" name="Group 12"/>
          <p:cNvGrpSpPr/>
          <p:nvPr/>
        </p:nvGrpSpPr>
        <p:grpSpPr>
          <a:xfrm>
            <a:off x="538163" y="6899674"/>
            <a:ext cx="7225510" cy="3223978"/>
            <a:chOff x="0" y="0"/>
            <a:chExt cx="1487267" cy="663610"/>
          </a:xfrm>
        </p:grpSpPr>
        <p:sp>
          <p:nvSpPr>
            <p:cNvPr id="13" name="Freeform 13"/>
            <p:cNvSpPr/>
            <p:nvPr/>
          </p:nvSpPr>
          <p:spPr>
            <a:xfrm>
              <a:off x="0" y="0"/>
              <a:ext cx="1487267" cy="663610"/>
            </a:xfrm>
            <a:custGeom>
              <a:avLst/>
              <a:gdLst/>
              <a:ahLst/>
              <a:cxnLst/>
              <a:rect l="l" t="t" r="r" b="b"/>
              <a:pathLst>
                <a:path w="1487267" h="663610">
                  <a:moveTo>
                    <a:pt x="54645" y="0"/>
                  </a:moveTo>
                  <a:lnTo>
                    <a:pt x="1432622" y="0"/>
                  </a:lnTo>
                  <a:cubicBezTo>
                    <a:pt x="1447115" y="0"/>
                    <a:pt x="1461014" y="5757"/>
                    <a:pt x="1471262" y="16005"/>
                  </a:cubicBezTo>
                  <a:cubicBezTo>
                    <a:pt x="1481510" y="26253"/>
                    <a:pt x="1487267" y="40152"/>
                    <a:pt x="1487267" y="54645"/>
                  </a:cubicBezTo>
                  <a:lnTo>
                    <a:pt x="1487267" y="608965"/>
                  </a:lnTo>
                  <a:cubicBezTo>
                    <a:pt x="1487267" y="639144"/>
                    <a:pt x="1462802" y="663610"/>
                    <a:pt x="1432622" y="663610"/>
                  </a:cubicBezTo>
                  <a:lnTo>
                    <a:pt x="54645" y="663610"/>
                  </a:lnTo>
                  <a:cubicBezTo>
                    <a:pt x="24465" y="663610"/>
                    <a:pt x="0" y="639144"/>
                    <a:pt x="0" y="608965"/>
                  </a:cubicBezTo>
                  <a:lnTo>
                    <a:pt x="0" y="54645"/>
                  </a:lnTo>
                  <a:cubicBezTo>
                    <a:pt x="0" y="24465"/>
                    <a:pt x="24465" y="0"/>
                    <a:pt x="54645" y="0"/>
                  </a:cubicBezTo>
                  <a:close/>
                </a:path>
              </a:pathLst>
            </a:custGeom>
            <a:solidFill>
              <a:srgbClr val="FFFFFF"/>
            </a:solidFill>
          </p:spPr>
          <p:txBody>
            <a:bodyPr/>
            <a:lstStyle/>
            <a:p>
              <a:endParaRPr lang="en-US"/>
            </a:p>
          </p:txBody>
        </p:sp>
        <p:sp>
          <p:nvSpPr>
            <p:cNvPr id="14" name="TextBox 14"/>
            <p:cNvSpPr txBox="1"/>
            <p:nvPr/>
          </p:nvSpPr>
          <p:spPr>
            <a:xfrm>
              <a:off x="0" y="-38100"/>
              <a:ext cx="1487267" cy="701710"/>
            </a:xfrm>
            <a:prstGeom prst="rect">
              <a:avLst/>
            </a:prstGeom>
          </p:spPr>
          <p:txBody>
            <a:bodyPr lIns="55577" tIns="55577" rIns="55577" bIns="55577" rtlCol="0" anchor="ctr"/>
            <a:lstStyle/>
            <a:p>
              <a:pPr algn="ctr">
                <a:lnSpc>
                  <a:spcPts val="2659"/>
                </a:lnSpc>
                <a:spcBef>
                  <a:spcPct val="0"/>
                </a:spcBef>
              </a:pPr>
              <a:endParaRPr/>
            </a:p>
          </p:txBody>
        </p:sp>
      </p:grpSp>
      <p:sp>
        <p:nvSpPr>
          <p:cNvPr id="15" name="Freeform 15"/>
          <p:cNvSpPr/>
          <p:nvPr/>
        </p:nvSpPr>
        <p:spPr>
          <a:xfrm>
            <a:off x="1018026" y="6938181"/>
            <a:ext cx="6265784" cy="3164063"/>
          </a:xfrm>
          <a:custGeom>
            <a:avLst/>
            <a:gdLst/>
            <a:ahLst/>
            <a:cxnLst/>
            <a:rect l="l" t="t" r="r" b="b"/>
            <a:pathLst>
              <a:path w="6318126" h="3233922">
                <a:moveTo>
                  <a:pt x="0" y="0"/>
                </a:moveTo>
                <a:lnTo>
                  <a:pt x="6318126" y="0"/>
                </a:lnTo>
                <a:lnTo>
                  <a:pt x="6318126" y="3233922"/>
                </a:lnTo>
                <a:lnTo>
                  <a:pt x="0" y="3233922"/>
                </a:lnTo>
                <a:lnTo>
                  <a:pt x="0" y="0"/>
                </a:lnTo>
                <a:close/>
              </a:path>
            </a:pathLst>
          </a:custGeom>
          <a:blipFill>
            <a:blip r:embed="rId4"/>
            <a:stretch>
              <a:fillRect/>
            </a:stretch>
          </a:blipFill>
        </p:spPr>
        <p:txBody>
          <a:bodyPr/>
          <a:lstStyle/>
          <a:p>
            <a:endParaRPr lang="en-US"/>
          </a:p>
        </p:txBody>
      </p:sp>
      <p:grpSp>
        <p:nvGrpSpPr>
          <p:cNvPr id="16" name="Group 16"/>
          <p:cNvGrpSpPr/>
          <p:nvPr/>
        </p:nvGrpSpPr>
        <p:grpSpPr>
          <a:xfrm>
            <a:off x="9611660" y="6416647"/>
            <a:ext cx="7140089" cy="3707005"/>
            <a:chOff x="0" y="0"/>
            <a:chExt cx="9520119" cy="4942673"/>
          </a:xfrm>
        </p:grpSpPr>
        <p:grpSp>
          <p:nvGrpSpPr>
            <p:cNvPr id="17" name="Group 17"/>
            <p:cNvGrpSpPr/>
            <p:nvPr/>
          </p:nvGrpSpPr>
          <p:grpSpPr>
            <a:xfrm>
              <a:off x="0" y="0"/>
              <a:ext cx="9520119" cy="4942673"/>
              <a:chOff x="0" y="0"/>
              <a:chExt cx="1469685" cy="763034"/>
            </a:xfrm>
          </p:grpSpPr>
          <p:sp>
            <p:nvSpPr>
              <p:cNvPr id="18" name="Freeform 18"/>
              <p:cNvSpPr/>
              <p:nvPr/>
            </p:nvSpPr>
            <p:spPr>
              <a:xfrm>
                <a:off x="0" y="0"/>
                <a:ext cx="1469685" cy="763034"/>
              </a:xfrm>
              <a:custGeom>
                <a:avLst/>
                <a:gdLst/>
                <a:ahLst/>
                <a:cxnLst/>
                <a:rect l="l" t="t" r="r" b="b"/>
                <a:pathLst>
                  <a:path w="1469685" h="763034">
                    <a:moveTo>
                      <a:pt x="55299" y="0"/>
                    </a:moveTo>
                    <a:lnTo>
                      <a:pt x="1414386" y="0"/>
                    </a:lnTo>
                    <a:cubicBezTo>
                      <a:pt x="1429052" y="0"/>
                      <a:pt x="1443118" y="5826"/>
                      <a:pt x="1453488" y="16197"/>
                    </a:cubicBezTo>
                    <a:cubicBezTo>
                      <a:pt x="1463859" y="26567"/>
                      <a:pt x="1469685" y="40633"/>
                      <a:pt x="1469685" y="55299"/>
                    </a:cubicBezTo>
                    <a:lnTo>
                      <a:pt x="1469685" y="707735"/>
                    </a:lnTo>
                    <a:cubicBezTo>
                      <a:pt x="1469685" y="722401"/>
                      <a:pt x="1463859" y="736467"/>
                      <a:pt x="1453488" y="746837"/>
                    </a:cubicBezTo>
                    <a:cubicBezTo>
                      <a:pt x="1443118" y="757208"/>
                      <a:pt x="1429052" y="763034"/>
                      <a:pt x="1414386" y="763034"/>
                    </a:cubicBezTo>
                    <a:lnTo>
                      <a:pt x="55299" y="763034"/>
                    </a:lnTo>
                    <a:cubicBezTo>
                      <a:pt x="40633" y="763034"/>
                      <a:pt x="26567" y="757208"/>
                      <a:pt x="16197" y="746837"/>
                    </a:cubicBezTo>
                    <a:cubicBezTo>
                      <a:pt x="5826" y="736467"/>
                      <a:pt x="0" y="722401"/>
                      <a:pt x="0" y="707735"/>
                    </a:cubicBezTo>
                    <a:lnTo>
                      <a:pt x="0" y="55299"/>
                    </a:lnTo>
                    <a:cubicBezTo>
                      <a:pt x="0" y="40633"/>
                      <a:pt x="5826" y="26567"/>
                      <a:pt x="16197" y="16197"/>
                    </a:cubicBezTo>
                    <a:cubicBezTo>
                      <a:pt x="26567" y="5826"/>
                      <a:pt x="40633" y="0"/>
                      <a:pt x="55299" y="0"/>
                    </a:cubicBezTo>
                    <a:close/>
                  </a:path>
                </a:pathLst>
              </a:custGeom>
              <a:solidFill>
                <a:srgbClr val="FFFFFF"/>
              </a:solidFill>
            </p:spPr>
            <p:txBody>
              <a:bodyPr/>
              <a:lstStyle/>
              <a:p>
                <a:endParaRPr lang="en-US"/>
              </a:p>
            </p:txBody>
          </p:sp>
          <p:sp>
            <p:nvSpPr>
              <p:cNvPr id="19" name="TextBox 19"/>
              <p:cNvSpPr txBox="1"/>
              <p:nvPr/>
            </p:nvSpPr>
            <p:spPr>
              <a:xfrm>
                <a:off x="0" y="-38100"/>
                <a:ext cx="1469685" cy="801134"/>
              </a:xfrm>
              <a:prstGeom prst="rect">
                <a:avLst/>
              </a:prstGeom>
            </p:spPr>
            <p:txBody>
              <a:bodyPr lIns="55577" tIns="55577" rIns="55577" bIns="55577" rtlCol="0" anchor="ctr"/>
              <a:lstStyle/>
              <a:p>
                <a:pPr algn="ctr">
                  <a:lnSpc>
                    <a:spcPts val="2659"/>
                  </a:lnSpc>
                  <a:spcBef>
                    <a:spcPct val="0"/>
                  </a:spcBef>
                </a:pPr>
                <a:endParaRPr/>
              </a:p>
            </p:txBody>
          </p:sp>
        </p:grpSp>
        <p:sp>
          <p:nvSpPr>
            <p:cNvPr id="20" name="Freeform 20"/>
            <p:cNvSpPr/>
            <p:nvPr/>
          </p:nvSpPr>
          <p:spPr>
            <a:xfrm>
              <a:off x="338367" y="314672"/>
              <a:ext cx="8921469" cy="4334089"/>
            </a:xfrm>
            <a:custGeom>
              <a:avLst/>
              <a:gdLst/>
              <a:ahLst/>
              <a:cxnLst/>
              <a:rect l="l" t="t" r="r" b="b"/>
              <a:pathLst>
                <a:path w="8921469" h="4334089">
                  <a:moveTo>
                    <a:pt x="0" y="0"/>
                  </a:moveTo>
                  <a:lnTo>
                    <a:pt x="8921469" y="0"/>
                  </a:lnTo>
                  <a:lnTo>
                    <a:pt x="8921469" y="4334090"/>
                  </a:lnTo>
                  <a:lnTo>
                    <a:pt x="0" y="4334090"/>
                  </a:lnTo>
                  <a:lnTo>
                    <a:pt x="0" y="0"/>
                  </a:lnTo>
                  <a:close/>
                </a:path>
              </a:pathLst>
            </a:custGeom>
            <a:blipFill>
              <a:blip r:embed="rId5"/>
              <a:stretch>
                <a:fillRect/>
              </a:stretch>
            </a:blipFill>
          </p:spPr>
          <p:txBody>
            <a:bodyPr/>
            <a:lstStyle/>
            <a:p>
              <a:endParaRPr lang="en-US"/>
            </a:p>
          </p:txBody>
        </p:sp>
      </p:grpSp>
      <p:sp>
        <p:nvSpPr>
          <p:cNvPr id="21" name="TextBox 21"/>
          <p:cNvSpPr txBox="1"/>
          <p:nvPr/>
        </p:nvSpPr>
        <p:spPr>
          <a:xfrm>
            <a:off x="2460483" y="266700"/>
            <a:ext cx="12995972" cy="14977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DATA DICTONARIES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sp>
        <p:nvSpPr>
          <p:cNvPr id="2" name="TextBox 2"/>
          <p:cNvSpPr txBox="1"/>
          <p:nvPr/>
        </p:nvSpPr>
        <p:spPr>
          <a:xfrm>
            <a:off x="2342735" y="1420546"/>
            <a:ext cx="12995972" cy="14977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NOTES:</a:t>
            </a:r>
          </a:p>
        </p:txBody>
      </p:sp>
      <p:sp>
        <p:nvSpPr>
          <p:cNvPr id="3" name="TextBox 3"/>
          <p:cNvSpPr txBox="1"/>
          <p:nvPr/>
        </p:nvSpPr>
        <p:spPr>
          <a:xfrm>
            <a:off x="514350" y="3213517"/>
            <a:ext cx="17259300" cy="1142162"/>
          </a:xfrm>
          <a:prstGeom prst="rect">
            <a:avLst/>
          </a:prstGeom>
        </p:spPr>
        <p:txBody>
          <a:bodyPr lIns="0" tIns="0" rIns="0" bIns="0" rtlCol="0" anchor="t">
            <a:spAutoFit/>
          </a:bodyPr>
          <a:lstStyle/>
          <a:p>
            <a:pPr marL="1423230" lvl="2" indent="-474410" algn="l">
              <a:lnSpc>
                <a:spcPts val="4614"/>
              </a:lnSpc>
              <a:buFont typeface="Arial"/>
              <a:buChar char="⚬"/>
            </a:pPr>
            <a:r>
              <a:rPr lang="en-US" sz="3296">
                <a:solidFill>
                  <a:srgbClr val="FFFFFF"/>
                </a:solidFill>
                <a:latin typeface="Lexend Deca"/>
                <a:ea typeface="Lexend Deca"/>
                <a:cs typeface="Lexend Deca"/>
                <a:sym typeface="Lexend Deca"/>
              </a:rPr>
              <a:t> There is a sharp drop in 2020 due to Covid-19</a:t>
            </a:r>
          </a:p>
          <a:p>
            <a:pPr marL="1423230" lvl="2" indent="-474410" algn="l">
              <a:lnSpc>
                <a:spcPts val="4614"/>
              </a:lnSpc>
              <a:spcBef>
                <a:spcPct val="0"/>
              </a:spcBef>
              <a:buFont typeface="Arial"/>
              <a:buChar char="⚬"/>
            </a:pPr>
            <a:r>
              <a:rPr lang="en-US" sz="3296">
                <a:solidFill>
                  <a:srgbClr val="FFFFFF"/>
                </a:solidFill>
                <a:latin typeface="Lexend Deca"/>
                <a:ea typeface="Lexend Deca"/>
                <a:cs typeface="Lexend Deca"/>
                <a:sym typeface="Lexend Deca"/>
              </a:rPr>
              <a:t> 2024 data is not completed, we only have data up till May-June.</a:t>
            </a:r>
          </a:p>
        </p:txBody>
      </p:sp>
      <p:grpSp>
        <p:nvGrpSpPr>
          <p:cNvPr id="4" name="Group 4"/>
          <p:cNvGrpSpPr/>
          <p:nvPr/>
        </p:nvGrpSpPr>
        <p:grpSpPr>
          <a:xfrm>
            <a:off x="10060330" y="4934398"/>
            <a:ext cx="7198970" cy="4323902"/>
            <a:chOff x="0" y="0"/>
            <a:chExt cx="9598627" cy="5765203"/>
          </a:xfrm>
        </p:grpSpPr>
        <p:grpSp>
          <p:nvGrpSpPr>
            <p:cNvPr id="5" name="Group 5"/>
            <p:cNvGrpSpPr/>
            <p:nvPr/>
          </p:nvGrpSpPr>
          <p:grpSpPr>
            <a:xfrm>
              <a:off x="0" y="0"/>
              <a:ext cx="9598627" cy="5765203"/>
              <a:chOff x="0" y="0"/>
              <a:chExt cx="1481805" cy="890013"/>
            </a:xfrm>
          </p:grpSpPr>
          <p:sp>
            <p:nvSpPr>
              <p:cNvPr id="6" name="Freeform 6"/>
              <p:cNvSpPr/>
              <p:nvPr/>
            </p:nvSpPr>
            <p:spPr>
              <a:xfrm>
                <a:off x="0" y="0"/>
                <a:ext cx="1481805" cy="890013"/>
              </a:xfrm>
              <a:custGeom>
                <a:avLst/>
                <a:gdLst/>
                <a:ahLst/>
                <a:cxnLst/>
                <a:rect l="l" t="t" r="r" b="b"/>
                <a:pathLst>
                  <a:path w="1481805" h="890013">
                    <a:moveTo>
                      <a:pt x="54846" y="0"/>
                    </a:moveTo>
                    <a:lnTo>
                      <a:pt x="1426958" y="0"/>
                    </a:lnTo>
                    <a:cubicBezTo>
                      <a:pt x="1457249" y="0"/>
                      <a:pt x="1481805" y="24556"/>
                      <a:pt x="1481805" y="54846"/>
                    </a:cubicBezTo>
                    <a:lnTo>
                      <a:pt x="1481805" y="835167"/>
                    </a:lnTo>
                    <a:cubicBezTo>
                      <a:pt x="1481805" y="849713"/>
                      <a:pt x="1476026" y="863663"/>
                      <a:pt x="1465740" y="873949"/>
                    </a:cubicBezTo>
                    <a:cubicBezTo>
                      <a:pt x="1455455" y="884235"/>
                      <a:pt x="1441504" y="890013"/>
                      <a:pt x="1426958" y="890013"/>
                    </a:cubicBezTo>
                    <a:lnTo>
                      <a:pt x="54846" y="890013"/>
                    </a:lnTo>
                    <a:cubicBezTo>
                      <a:pt x="24556" y="890013"/>
                      <a:pt x="0" y="865458"/>
                      <a:pt x="0" y="835167"/>
                    </a:cubicBezTo>
                    <a:lnTo>
                      <a:pt x="0" y="54846"/>
                    </a:lnTo>
                    <a:cubicBezTo>
                      <a:pt x="0" y="24556"/>
                      <a:pt x="24556" y="0"/>
                      <a:pt x="54846" y="0"/>
                    </a:cubicBezTo>
                    <a:close/>
                  </a:path>
                </a:pathLst>
              </a:custGeom>
              <a:solidFill>
                <a:srgbClr val="FFFFFF"/>
              </a:solidFill>
            </p:spPr>
            <p:txBody>
              <a:bodyPr/>
              <a:lstStyle/>
              <a:p>
                <a:endParaRPr lang="en-US"/>
              </a:p>
            </p:txBody>
          </p:sp>
          <p:sp>
            <p:nvSpPr>
              <p:cNvPr id="7" name="TextBox 7"/>
              <p:cNvSpPr txBox="1"/>
              <p:nvPr/>
            </p:nvSpPr>
            <p:spPr>
              <a:xfrm>
                <a:off x="0" y="-38100"/>
                <a:ext cx="1481805" cy="928113"/>
              </a:xfrm>
              <a:prstGeom prst="rect">
                <a:avLst/>
              </a:prstGeom>
            </p:spPr>
            <p:txBody>
              <a:bodyPr lIns="55577" tIns="55577" rIns="55577" bIns="55577" rtlCol="0" anchor="ctr"/>
              <a:lstStyle/>
              <a:p>
                <a:pPr algn="ctr">
                  <a:lnSpc>
                    <a:spcPts val="2659"/>
                  </a:lnSpc>
                  <a:spcBef>
                    <a:spcPct val="0"/>
                  </a:spcBef>
                </a:pPr>
                <a:endParaRPr/>
              </a:p>
            </p:txBody>
          </p:sp>
        </p:grpSp>
        <p:sp>
          <p:nvSpPr>
            <p:cNvPr id="8" name="Freeform 8"/>
            <p:cNvSpPr/>
            <p:nvPr/>
          </p:nvSpPr>
          <p:spPr>
            <a:xfrm>
              <a:off x="229365" y="279257"/>
              <a:ext cx="9117921" cy="5121232"/>
            </a:xfrm>
            <a:custGeom>
              <a:avLst/>
              <a:gdLst/>
              <a:ahLst/>
              <a:cxnLst/>
              <a:rect l="l" t="t" r="r" b="b"/>
              <a:pathLst>
                <a:path w="9117921" h="5121232">
                  <a:moveTo>
                    <a:pt x="0" y="0"/>
                  </a:moveTo>
                  <a:lnTo>
                    <a:pt x="9117922" y="0"/>
                  </a:lnTo>
                  <a:lnTo>
                    <a:pt x="9117922" y="5121232"/>
                  </a:lnTo>
                  <a:lnTo>
                    <a:pt x="0" y="5121232"/>
                  </a:lnTo>
                  <a:lnTo>
                    <a:pt x="0" y="0"/>
                  </a:lnTo>
                  <a:close/>
                </a:path>
              </a:pathLst>
            </a:custGeom>
            <a:blipFill>
              <a:blip r:embed="rId2"/>
              <a:stretch>
                <a:fillRect/>
              </a:stretch>
            </a:blipFill>
          </p:spPr>
          <p:txBody>
            <a:bodyPr/>
            <a:lstStyle/>
            <a:p>
              <a:endParaRPr lang="en-US"/>
            </a:p>
          </p:txBody>
        </p:sp>
      </p:grpSp>
      <p:grpSp>
        <p:nvGrpSpPr>
          <p:cNvPr id="9" name="Group 9"/>
          <p:cNvGrpSpPr/>
          <p:nvPr/>
        </p:nvGrpSpPr>
        <p:grpSpPr>
          <a:xfrm>
            <a:off x="1028700" y="4717593"/>
            <a:ext cx="7086106" cy="4321692"/>
            <a:chOff x="0" y="0"/>
            <a:chExt cx="9448142" cy="5762256"/>
          </a:xfrm>
        </p:grpSpPr>
        <p:grpSp>
          <p:nvGrpSpPr>
            <p:cNvPr id="10" name="Group 10"/>
            <p:cNvGrpSpPr/>
            <p:nvPr/>
          </p:nvGrpSpPr>
          <p:grpSpPr>
            <a:xfrm>
              <a:off x="0" y="0"/>
              <a:ext cx="9448142" cy="5762256"/>
              <a:chOff x="0" y="0"/>
              <a:chExt cx="1458573" cy="889558"/>
            </a:xfrm>
          </p:grpSpPr>
          <p:sp>
            <p:nvSpPr>
              <p:cNvPr id="11" name="Freeform 11"/>
              <p:cNvSpPr/>
              <p:nvPr/>
            </p:nvSpPr>
            <p:spPr>
              <a:xfrm>
                <a:off x="0" y="0"/>
                <a:ext cx="1458573" cy="889558"/>
              </a:xfrm>
              <a:custGeom>
                <a:avLst/>
                <a:gdLst/>
                <a:ahLst/>
                <a:cxnLst/>
                <a:rect l="l" t="t" r="r" b="b"/>
                <a:pathLst>
                  <a:path w="1458573" h="889558">
                    <a:moveTo>
                      <a:pt x="55720" y="0"/>
                    </a:moveTo>
                    <a:lnTo>
                      <a:pt x="1402853" y="0"/>
                    </a:lnTo>
                    <a:cubicBezTo>
                      <a:pt x="1433626" y="0"/>
                      <a:pt x="1458573" y="24947"/>
                      <a:pt x="1458573" y="55720"/>
                    </a:cubicBezTo>
                    <a:lnTo>
                      <a:pt x="1458573" y="833838"/>
                    </a:lnTo>
                    <a:cubicBezTo>
                      <a:pt x="1458573" y="864611"/>
                      <a:pt x="1433626" y="889558"/>
                      <a:pt x="1402853" y="889558"/>
                    </a:cubicBezTo>
                    <a:lnTo>
                      <a:pt x="55720" y="889558"/>
                    </a:lnTo>
                    <a:cubicBezTo>
                      <a:pt x="24947" y="889558"/>
                      <a:pt x="0" y="864611"/>
                      <a:pt x="0" y="833838"/>
                    </a:cubicBezTo>
                    <a:lnTo>
                      <a:pt x="0" y="55720"/>
                    </a:lnTo>
                    <a:cubicBezTo>
                      <a:pt x="0" y="24947"/>
                      <a:pt x="24947" y="0"/>
                      <a:pt x="55720" y="0"/>
                    </a:cubicBezTo>
                    <a:close/>
                  </a:path>
                </a:pathLst>
              </a:custGeom>
              <a:solidFill>
                <a:srgbClr val="FFFFFF"/>
              </a:solidFill>
            </p:spPr>
            <p:txBody>
              <a:bodyPr/>
              <a:lstStyle/>
              <a:p>
                <a:endParaRPr lang="en-US"/>
              </a:p>
            </p:txBody>
          </p:sp>
          <p:sp>
            <p:nvSpPr>
              <p:cNvPr id="12" name="TextBox 12"/>
              <p:cNvSpPr txBox="1"/>
              <p:nvPr/>
            </p:nvSpPr>
            <p:spPr>
              <a:xfrm>
                <a:off x="0" y="-38100"/>
                <a:ext cx="1458573" cy="927658"/>
              </a:xfrm>
              <a:prstGeom prst="rect">
                <a:avLst/>
              </a:prstGeom>
            </p:spPr>
            <p:txBody>
              <a:bodyPr lIns="55577" tIns="55577" rIns="55577" bIns="55577" rtlCol="0" anchor="ctr"/>
              <a:lstStyle/>
              <a:p>
                <a:pPr algn="ctr">
                  <a:lnSpc>
                    <a:spcPts val="2659"/>
                  </a:lnSpc>
                  <a:spcBef>
                    <a:spcPct val="0"/>
                  </a:spcBef>
                </a:pPr>
                <a:endParaRPr/>
              </a:p>
            </p:txBody>
          </p:sp>
        </p:grpSp>
        <p:sp>
          <p:nvSpPr>
            <p:cNvPr id="13" name="Freeform 13"/>
            <p:cNvSpPr/>
            <p:nvPr/>
          </p:nvSpPr>
          <p:spPr>
            <a:xfrm>
              <a:off x="119834" y="378352"/>
              <a:ext cx="9153302" cy="5068641"/>
            </a:xfrm>
            <a:custGeom>
              <a:avLst/>
              <a:gdLst/>
              <a:ahLst/>
              <a:cxnLst/>
              <a:rect l="l" t="t" r="r" b="b"/>
              <a:pathLst>
                <a:path w="9153302" h="5068641">
                  <a:moveTo>
                    <a:pt x="0" y="0"/>
                  </a:moveTo>
                  <a:lnTo>
                    <a:pt x="9153302" y="0"/>
                  </a:lnTo>
                  <a:lnTo>
                    <a:pt x="9153302" y="5068641"/>
                  </a:lnTo>
                  <a:lnTo>
                    <a:pt x="0" y="5068641"/>
                  </a:lnTo>
                  <a:lnTo>
                    <a:pt x="0" y="0"/>
                  </a:lnTo>
                  <a:close/>
                </a:path>
              </a:pathLst>
            </a:custGeom>
            <a:blipFill>
              <a:blip r:embed="rId3"/>
              <a:stretch>
                <a:fillRect/>
              </a:stretch>
            </a:blipFill>
          </p:spPr>
          <p:txBody>
            <a:bodyPr/>
            <a:lstStyle/>
            <a:p>
              <a:endParaRPr lang="en-US"/>
            </a:p>
          </p:txBody>
        </p:sp>
      </p:grpSp>
      <p:sp>
        <p:nvSpPr>
          <p:cNvPr id="14" name="TextBox 14"/>
          <p:cNvSpPr txBox="1"/>
          <p:nvPr/>
        </p:nvSpPr>
        <p:spPr>
          <a:xfrm>
            <a:off x="12045114" y="9163050"/>
            <a:ext cx="3293593" cy="887095"/>
          </a:xfrm>
          <a:prstGeom prst="rect">
            <a:avLst/>
          </a:prstGeom>
        </p:spPr>
        <p:txBody>
          <a:bodyPr lIns="0" tIns="0" rIns="0" bIns="0" rtlCol="0" anchor="t">
            <a:spAutoFit/>
          </a:bodyPr>
          <a:lstStyle/>
          <a:p>
            <a:pPr marL="0" lvl="0" indent="0" algn="ctr">
              <a:lnSpc>
                <a:spcPts val="7279"/>
              </a:lnSpc>
              <a:spcBef>
                <a:spcPct val="0"/>
              </a:spcBef>
            </a:pPr>
            <a:r>
              <a:rPr lang="en-US" sz="5199">
                <a:solidFill>
                  <a:srgbClr val="000000"/>
                </a:solidFill>
                <a:latin typeface="Canva Sans Bold"/>
                <a:ea typeface="Canva Sans Bold"/>
                <a:cs typeface="Canva Sans Bold"/>
                <a:sym typeface="Canva Sans Bold"/>
              </a:rPr>
              <a:t>2024 Data</a:t>
            </a:r>
          </a:p>
        </p:txBody>
      </p:sp>
      <p:sp>
        <p:nvSpPr>
          <p:cNvPr id="15" name="TextBox 15"/>
          <p:cNvSpPr txBox="1"/>
          <p:nvPr/>
        </p:nvSpPr>
        <p:spPr>
          <a:xfrm>
            <a:off x="2006660" y="9163050"/>
            <a:ext cx="5130187" cy="887095"/>
          </a:xfrm>
          <a:prstGeom prst="rect">
            <a:avLst/>
          </a:prstGeom>
        </p:spPr>
        <p:txBody>
          <a:bodyPr lIns="0" tIns="0" rIns="0" bIns="0" rtlCol="0" anchor="t">
            <a:spAutoFit/>
          </a:bodyPr>
          <a:lstStyle/>
          <a:p>
            <a:pPr marL="0" lvl="0" indent="0" algn="ctr">
              <a:lnSpc>
                <a:spcPts val="7279"/>
              </a:lnSpc>
              <a:spcBef>
                <a:spcPct val="0"/>
              </a:spcBef>
            </a:pPr>
            <a:r>
              <a:rPr lang="en-US" sz="5199">
                <a:solidFill>
                  <a:srgbClr val="000000"/>
                </a:solidFill>
                <a:latin typeface="Canva Sans Bold"/>
                <a:ea typeface="Canva Sans Bold"/>
                <a:cs typeface="Canva Sans Bold"/>
                <a:sym typeface="Canva Sans Bold"/>
              </a:rPr>
              <a:t>2019-2023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142882" y="-5358759"/>
            <a:ext cx="28573765" cy="18648985"/>
          </a:xfrm>
          <a:prstGeom prst="rect">
            <a:avLst/>
          </a:prstGeom>
        </p:spPr>
      </p:pic>
      <p:grpSp>
        <p:nvGrpSpPr>
          <p:cNvPr id="3" name="Group 3"/>
          <p:cNvGrpSpPr/>
          <p:nvPr/>
        </p:nvGrpSpPr>
        <p:grpSpPr>
          <a:xfrm>
            <a:off x="1028700" y="2644209"/>
            <a:ext cx="16230600" cy="5439467"/>
            <a:chOff x="0" y="0"/>
            <a:chExt cx="3655013" cy="1224928"/>
          </a:xfrm>
        </p:grpSpPr>
        <p:sp>
          <p:nvSpPr>
            <p:cNvPr id="4" name="Freeform 4"/>
            <p:cNvSpPr/>
            <p:nvPr/>
          </p:nvSpPr>
          <p:spPr>
            <a:xfrm>
              <a:off x="0" y="0"/>
              <a:ext cx="3655013" cy="1224928"/>
            </a:xfrm>
            <a:custGeom>
              <a:avLst/>
              <a:gdLst/>
              <a:ahLst/>
              <a:cxnLst/>
              <a:rect l="l" t="t" r="r" b="b"/>
              <a:pathLst>
                <a:path w="3655013" h="1224928">
                  <a:moveTo>
                    <a:pt x="24327" y="0"/>
                  </a:moveTo>
                  <a:lnTo>
                    <a:pt x="3630686" y="0"/>
                  </a:lnTo>
                  <a:cubicBezTo>
                    <a:pt x="3644121" y="0"/>
                    <a:pt x="3655013" y="10891"/>
                    <a:pt x="3655013" y="24327"/>
                  </a:cubicBezTo>
                  <a:lnTo>
                    <a:pt x="3655013" y="1200602"/>
                  </a:lnTo>
                  <a:cubicBezTo>
                    <a:pt x="3655013" y="1207053"/>
                    <a:pt x="3652450" y="1213241"/>
                    <a:pt x="3647887" y="1217803"/>
                  </a:cubicBezTo>
                  <a:cubicBezTo>
                    <a:pt x="3643325" y="1222365"/>
                    <a:pt x="3637138" y="1224928"/>
                    <a:pt x="3630686" y="1224928"/>
                  </a:cubicBezTo>
                  <a:lnTo>
                    <a:pt x="24327" y="1224928"/>
                  </a:lnTo>
                  <a:cubicBezTo>
                    <a:pt x="10891" y="1224928"/>
                    <a:pt x="0" y="1214037"/>
                    <a:pt x="0" y="1200602"/>
                  </a:cubicBezTo>
                  <a:lnTo>
                    <a:pt x="0" y="24327"/>
                  </a:lnTo>
                  <a:cubicBezTo>
                    <a:pt x="0" y="10891"/>
                    <a:pt x="10891" y="0"/>
                    <a:pt x="24327" y="0"/>
                  </a:cubicBezTo>
                  <a:close/>
                </a:path>
              </a:pathLst>
            </a:custGeom>
            <a:solidFill>
              <a:srgbClr val="DA825B"/>
            </a:solidFill>
          </p:spPr>
          <p:txBody>
            <a:bodyPr/>
            <a:lstStyle/>
            <a:p>
              <a:endParaRPr lang="en-US"/>
            </a:p>
          </p:txBody>
        </p:sp>
        <p:sp>
          <p:nvSpPr>
            <p:cNvPr id="5" name="TextBox 5"/>
            <p:cNvSpPr txBox="1"/>
            <p:nvPr/>
          </p:nvSpPr>
          <p:spPr>
            <a:xfrm>
              <a:off x="0" y="-38100"/>
              <a:ext cx="3655013" cy="126302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86344" y="3005088"/>
            <a:ext cx="16115311" cy="4048224"/>
          </a:xfrm>
          <a:prstGeom prst="rect">
            <a:avLst/>
          </a:prstGeom>
        </p:spPr>
        <p:txBody>
          <a:bodyPr lIns="0" tIns="0" rIns="0" bIns="0" rtlCol="0" anchor="t">
            <a:spAutoFit/>
          </a:bodyPr>
          <a:lstStyle/>
          <a:p>
            <a:pPr algn="ctr">
              <a:lnSpc>
                <a:spcPts val="16269"/>
              </a:lnSpc>
            </a:pPr>
            <a:r>
              <a:rPr lang="en-US" sz="11621">
                <a:solidFill>
                  <a:srgbClr val="FFFFFF"/>
                </a:solidFill>
                <a:latin typeface="Futura Display"/>
                <a:ea typeface="Futura Display"/>
                <a:cs typeface="Futura Display"/>
                <a:sym typeface="Futura Display"/>
              </a:rPr>
              <a:t>DATA MINING GOAL: DEMOGRAPHICS OF TOURISTS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grpSp>
        <p:nvGrpSpPr>
          <p:cNvPr id="2" name="Group 2"/>
          <p:cNvGrpSpPr/>
          <p:nvPr/>
        </p:nvGrpSpPr>
        <p:grpSpPr>
          <a:xfrm>
            <a:off x="1615621" y="4507773"/>
            <a:ext cx="3086100" cy="308610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marL="734050" lvl="1" indent="-367025" algn="ctr">
                <a:lnSpc>
                  <a:spcPts val="4759"/>
                </a:lnSpc>
                <a:buAutoNum type="arabicPeriod"/>
              </a:pPr>
              <a:r>
                <a:rPr lang="en-US" sz="3399">
                  <a:solidFill>
                    <a:srgbClr val="000000"/>
                  </a:solidFill>
                  <a:latin typeface="Lexend Deca"/>
                  <a:ea typeface="Lexend Deca"/>
                  <a:cs typeface="Lexend Deca"/>
                  <a:sym typeface="Lexend Deca"/>
                </a:rPr>
                <a:t>Age of Tourists</a:t>
              </a:r>
            </a:p>
          </p:txBody>
        </p:sp>
      </p:grpSp>
      <p:grpSp>
        <p:nvGrpSpPr>
          <p:cNvPr id="5" name="Group 5"/>
          <p:cNvGrpSpPr/>
          <p:nvPr/>
        </p:nvGrpSpPr>
        <p:grpSpPr>
          <a:xfrm>
            <a:off x="5587546" y="3796170"/>
            <a:ext cx="3086100" cy="308610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1942"/>
            </a:solidFill>
          </p:spPr>
          <p:txBody>
            <a:bodyPr/>
            <a:lstStyle/>
            <a:p>
              <a:endParaRPr lang="en-US"/>
            </a:p>
          </p:txBody>
        </p:sp>
        <p:sp>
          <p:nvSpPr>
            <p:cNvPr id="7" name="TextBox 7"/>
            <p:cNvSpPr txBox="1"/>
            <p:nvPr/>
          </p:nvSpPr>
          <p:spPr>
            <a:xfrm>
              <a:off x="76200" y="9525"/>
              <a:ext cx="660400" cy="727075"/>
            </a:xfrm>
            <a:prstGeom prst="rect">
              <a:avLst/>
            </a:prstGeom>
          </p:spPr>
          <p:txBody>
            <a:bodyPr lIns="50800" tIns="50800" rIns="50800" bIns="50800" rtlCol="0" anchor="ctr"/>
            <a:lstStyle/>
            <a:p>
              <a:pPr algn="ctr">
                <a:lnSpc>
                  <a:spcPts val="4759"/>
                </a:lnSpc>
              </a:pPr>
              <a:r>
                <a:rPr lang="en-US" sz="3399">
                  <a:solidFill>
                    <a:srgbClr val="000000"/>
                  </a:solidFill>
                  <a:latin typeface="Lexend Deca"/>
                  <a:ea typeface="Lexend Deca"/>
                  <a:cs typeface="Lexend Deca"/>
                  <a:sym typeface="Lexend Deca"/>
                </a:rPr>
                <a:t>2.Gender of Tourists</a:t>
              </a:r>
            </a:p>
          </p:txBody>
        </p:sp>
      </p:grpSp>
      <p:grpSp>
        <p:nvGrpSpPr>
          <p:cNvPr id="8" name="Group 8"/>
          <p:cNvGrpSpPr/>
          <p:nvPr/>
        </p:nvGrpSpPr>
        <p:grpSpPr>
          <a:xfrm>
            <a:off x="9462159" y="4747024"/>
            <a:ext cx="3086100" cy="308610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5B2CA"/>
            </a:solidFill>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4480"/>
                </a:lnSpc>
              </a:pPr>
              <a:r>
                <a:rPr lang="en-US" sz="3200">
                  <a:solidFill>
                    <a:srgbClr val="000000"/>
                  </a:solidFill>
                  <a:latin typeface="Lexend Deca"/>
                  <a:ea typeface="Lexend Deca"/>
                  <a:cs typeface="Lexend Deca"/>
                  <a:sym typeface="Lexend Deca"/>
                </a:rPr>
                <a:t>3. Country of arrival</a:t>
              </a:r>
            </a:p>
          </p:txBody>
        </p:sp>
      </p:grpSp>
      <p:grpSp>
        <p:nvGrpSpPr>
          <p:cNvPr id="11" name="Group 11"/>
          <p:cNvGrpSpPr/>
          <p:nvPr/>
        </p:nvGrpSpPr>
        <p:grpSpPr>
          <a:xfrm>
            <a:off x="13438602" y="4043941"/>
            <a:ext cx="3086100" cy="30861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5F4"/>
            </a:solidFill>
          </p:spPr>
          <p:txBody>
            <a:bodyPr/>
            <a:lstStyle/>
            <a:p>
              <a:endParaRPr lang="en-US"/>
            </a:p>
          </p:txBody>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4480"/>
                </a:lnSpc>
              </a:pPr>
              <a:r>
                <a:rPr lang="en-US" sz="3200">
                  <a:solidFill>
                    <a:srgbClr val="000000"/>
                  </a:solidFill>
                  <a:latin typeface="Lexend Deca"/>
                  <a:ea typeface="Lexend Deca"/>
                  <a:cs typeface="Lexend Deca"/>
                  <a:sym typeface="Lexend Deca"/>
                </a:rPr>
                <a:t>4. Top Months of Arrival</a:t>
              </a:r>
            </a:p>
          </p:txBody>
        </p:sp>
      </p:grpSp>
      <p:sp>
        <p:nvSpPr>
          <p:cNvPr id="14" name="TextBox 14"/>
          <p:cNvSpPr txBox="1"/>
          <p:nvPr/>
        </p:nvSpPr>
        <p:spPr>
          <a:xfrm>
            <a:off x="1278992" y="1295400"/>
            <a:ext cx="15245709" cy="1497732"/>
          </a:xfrm>
          <a:prstGeom prst="rect">
            <a:avLst/>
          </a:prstGeom>
        </p:spPr>
        <p:txBody>
          <a:bodyPr lIns="0" tIns="0" rIns="0" bIns="0" rtlCol="0" anchor="t">
            <a:spAutoFit/>
          </a:bodyPr>
          <a:lstStyle/>
          <a:p>
            <a:pPr algn="ctr">
              <a:lnSpc>
                <a:spcPts val="11172"/>
              </a:lnSpc>
            </a:pPr>
            <a:r>
              <a:rPr lang="en-US" sz="11638" u="sng">
                <a:solidFill>
                  <a:srgbClr val="FFFFFF"/>
                </a:solidFill>
                <a:latin typeface="Futura Display"/>
                <a:ea typeface="Futura Display"/>
                <a:cs typeface="Futura Display"/>
                <a:sym typeface="Futura Display"/>
              </a:rPr>
              <a:t>DEMOGRAPHICS OF TOURISTS</a:t>
            </a:r>
          </a:p>
        </p:txBody>
      </p:sp>
      <p:sp>
        <p:nvSpPr>
          <p:cNvPr id="15" name="TextBox 15"/>
          <p:cNvSpPr txBox="1"/>
          <p:nvPr/>
        </p:nvSpPr>
        <p:spPr>
          <a:xfrm>
            <a:off x="895869" y="2952752"/>
            <a:ext cx="16496262" cy="1162911"/>
          </a:xfrm>
          <a:prstGeom prst="rect">
            <a:avLst/>
          </a:prstGeom>
        </p:spPr>
        <p:txBody>
          <a:bodyPr lIns="0" tIns="0" rIns="0" bIns="0" rtlCol="0" anchor="t">
            <a:spAutoFit/>
          </a:bodyPr>
          <a:lstStyle/>
          <a:p>
            <a:pPr algn="l">
              <a:lnSpc>
                <a:spcPts val="4816"/>
              </a:lnSpc>
            </a:pPr>
            <a:r>
              <a:rPr lang="en-US" sz="3440">
                <a:solidFill>
                  <a:srgbClr val="FFFFFF"/>
                </a:solidFill>
                <a:latin typeface="Lexend Deca"/>
                <a:ea typeface="Lexend Deca"/>
                <a:cs typeface="Lexend Deca"/>
                <a:sym typeface="Lexend Deca"/>
              </a:rPr>
              <a:t>Identify the demographics of the tourist coming to Singapore. This includes:</a:t>
            </a:r>
          </a:p>
          <a:p>
            <a:pPr algn="ctr">
              <a:lnSpc>
                <a:spcPts val="4541"/>
              </a:lnSpc>
              <a:spcBef>
                <a:spcPct val="0"/>
              </a:spcBef>
            </a:pPr>
            <a:endParaRPr lang="en-US" sz="3440">
              <a:solidFill>
                <a:srgbClr val="FFFFFF"/>
              </a:solidFill>
              <a:latin typeface="Lexend Deca"/>
              <a:ea typeface="Lexend Deca"/>
              <a:cs typeface="Lexend Deca"/>
              <a:sym typeface="Lexend Deca"/>
            </a:endParaRPr>
          </a:p>
        </p:txBody>
      </p:sp>
      <p:sp>
        <p:nvSpPr>
          <p:cNvPr id="16" name="TextBox 16"/>
          <p:cNvSpPr txBox="1"/>
          <p:nvPr/>
        </p:nvSpPr>
        <p:spPr>
          <a:xfrm>
            <a:off x="425515" y="7291966"/>
            <a:ext cx="16966616" cy="2990849"/>
          </a:xfrm>
          <a:prstGeom prst="rect">
            <a:avLst/>
          </a:prstGeom>
        </p:spPr>
        <p:txBody>
          <a:bodyPr lIns="0" tIns="0" rIns="0" bIns="0" rtlCol="0" anchor="t">
            <a:spAutoFit/>
          </a:bodyPr>
          <a:lstStyle/>
          <a:p>
            <a:pPr algn="l">
              <a:lnSpc>
                <a:spcPts val="4816"/>
              </a:lnSpc>
            </a:pPr>
            <a:endParaRPr/>
          </a:p>
          <a:p>
            <a:pPr algn="l">
              <a:lnSpc>
                <a:spcPts val="4816"/>
              </a:lnSpc>
            </a:pPr>
            <a:r>
              <a:rPr lang="en-US" sz="3440">
                <a:solidFill>
                  <a:srgbClr val="FFFFFF"/>
                </a:solidFill>
                <a:latin typeface="Lexend Deca"/>
                <a:ea typeface="Lexend Deca"/>
                <a:cs typeface="Lexend Deca"/>
                <a:sym typeface="Lexend Deca"/>
              </a:rPr>
              <a:t>By identifying the top demographics, we can alter the price or create promotions of plane tickets or activities that they might be interested in.</a:t>
            </a:r>
          </a:p>
          <a:p>
            <a:pPr algn="l">
              <a:lnSpc>
                <a:spcPts val="4816"/>
              </a:lnSpc>
            </a:pPr>
            <a:r>
              <a:rPr lang="en-US" sz="3440">
                <a:solidFill>
                  <a:srgbClr val="FFFFFF"/>
                </a:solidFill>
                <a:latin typeface="Lexend Deca"/>
                <a:ea typeface="Lexend Deca"/>
                <a:cs typeface="Lexend Deca"/>
                <a:sym typeface="Lexend Deca"/>
              </a:rPr>
              <a:t>This will attract more tourists to come to Singapore and spend more money.</a:t>
            </a:r>
          </a:p>
          <a:p>
            <a:pPr algn="ctr">
              <a:lnSpc>
                <a:spcPts val="4541"/>
              </a:lnSpc>
              <a:spcBef>
                <a:spcPct val="0"/>
              </a:spcBef>
            </a:pPr>
            <a:endParaRPr lang="en-US" sz="3440">
              <a:solidFill>
                <a:srgbClr val="FFFFFF"/>
              </a:solidFill>
              <a:latin typeface="Lexend Deca"/>
              <a:ea typeface="Lexend Deca"/>
              <a:cs typeface="Lexend Deca"/>
              <a:sym typeface="Lexend Dec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grpSp>
        <p:nvGrpSpPr>
          <p:cNvPr id="2" name="Group 2"/>
          <p:cNvGrpSpPr/>
          <p:nvPr/>
        </p:nvGrpSpPr>
        <p:grpSpPr>
          <a:xfrm>
            <a:off x="0" y="3829419"/>
            <a:ext cx="5126659" cy="3810431"/>
            <a:chOff x="0" y="0"/>
            <a:chExt cx="6835545" cy="5080574"/>
          </a:xfrm>
        </p:grpSpPr>
        <p:grpSp>
          <p:nvGrpSpPr>
            <p:cNvPr id="3" name="Group 3"/>
            <p:cNvGrpSpPr/>
            <p:nvPr/>
          </p:nvGrpSpPr>
          <p:grpSpPr>
            <a:xfrm>
              <a:off x="0" y="0"/>
              <a:ext cx="6835545" cy="5080574"/>
              <a:chOff x="0" y="0"/>
              <a:chExt cx="1440411" cy="1070597"/>
            </a:xfrm>
          </p:grpSpPr>
          <p:sp>
            <p:nvSpPr>
              <p:cNvPr id="4" name="Freeform 4"/>
              <p:cNvSpPr/>
              <p:nvPr/>
            </p:nvSpPr>
            <p:spPr>
              <a:xfrm>
                <a:off x="0" y="0"/>
                <a:ext cx="1440411" cy="1070597"/>
              </a:xfrm>
              <a:custGeom>
                <a:avLst/>
                <a:gdLst/>
                <a:ahLst/>
                <a:cxnLst/>
                <a:rect l="l" t="t" r="r" b="b"/>
                <a:pathLst>
                  <a:path w="1440411" h="1070597">
                    <a:moveTo>
                      <a:pt x="61729" y="0"/>
                    </a:moveTo>
                    <a:lnTo>
                      <a:pt x="1378683" y="0"/>
                    </a:lnTo>
                    <a:cubicBezTo>
                      <a:pt x="1395054" y="0"/>
                      <a:pt x="1410755" y="6504"/>
                      <a:pt x="1422331" y="18080"/>
                    </a:cubicBezTo>
                    <a:cubicBezTo>
                      <a:pt x="1433908" y="29656"/>
                      <a:pt x="1440411" y="45357"/>
                      <a:pt x="1440411" y="61729"/>
                    </a:cubicBezTo>
                    <a:lnTo>
                      <a:pt x="1440411" y="1008869"/>
                    </a:lnTo>
                    <a:cubicBezTo>
                      <a:pt x="1440411" y="1025240"/>
                      <a:pt x="1433908" y="1040941"/>
                      <a:pt x="1422331" y="1052518"/>
                    </a:cubicBezTo>
                    <a:cubicBezTo>
                      <a:pt x="1410755" y="1064094"/>
                      <a:pt x="1395054" y="1070597"/>
                      <a:pt x="1378683" y="1070597"/>
                    </a:cubicBezTo>
                    <a:lnTo>
                      <a:pt x="61729" y="1070597"/>
                    </a:lnTo>
                    <a:cubicBezTo>
                      <a:pt x="45357" y="1070597"/>
                      <a:pt x="29656" y="1064094"/>
                      <a:pt x="18080" y="1052518"/>
                    </a:cubicBezTo>
                    <a:cubicBezTo>
                      <a:pt x="6504" y="1040941"/>
                      <a:pt x="0" y="1025240"/>
                      <a:pt x="0" y="1008869"/>
                    </a:cubicBezTo>
                    <a:lnTo>
                      <a:pt x="0" y="61729"/>
                    </a:lnTo>
                    <a:cubicBezTo>
                      <a:pt x="0" y="45357"/>
                      <a:pt x="6504" y="29656"/>
                      <a:pt x="18080" y="18080"/>
                    </a:cubicBezTo>
                    <a:cubicBezTo>
                      <a:pt x="29656" y="6504"/>
                      <a:pt x="45357" y="0"/>
                      <a:pt x="61729" y="0"/>
                    </a:cubicBezTo>
                    <a:close/>
                  </a:path>
                </a:pathLst>
              </a:custGeom>
              <a:solidFill>
                <a:srgbClr val="FFFFFF"/>
              </a:solidFill>
            </p:spPr>
            <p:txBody>
              <a:bodyPr/>
              <a:lstStyle/>
              <a:p>
                <a:endParaRPr lang="en-US"/>
              </a:p>
            </p:txBody>
          </p:sp>
          <p:sp>
            <p:nvSpPr>
              <p:cNvPr id="5" name="TextBox 5"/>
              <p:cNvSpPr txBox="1"/>
              <p:nvPr/>
            </p:nvSpPr>
            <p:spPr>
              <a:xfrm>
                <a:off x="0" y="-38100"/>
                <a:ext cx="1440411" cy="1108697"/>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346865" y="173250"/>
              <a:ext cx="6005177" cy="4827691"/>
            </a:xfrm>
            <a:custGeom>
              <a:avLst/>
              <a:gdLst/>
              <a:ahLst/>
              <a:cxnLst/>
              <a:rect l="l" t="t" r="r" b="b"/>
              <a:pathLst>
                <a:path w="6005177" h="4827691">
                  <a:moveTo>
                    <a:pt x="0" y="0"/>
                  </a:moveTo>
                  <a:lnTo>
                    <a:pt x="6005177" y="0"/>
                  </a:lnTo>
                  <a:lnTo>
                    <a:pt x="6005177" y="4827692"/>
                  </a:lnTo>
                  <a:lnTo>
                    <a:pt x="0" y="4827692"/>
                  </a:lnTo>
                  <a:lnTo>
                    <a:pt x="0" y="0"/>
                  </a:lnTo>
                  <a:close/>
                </a:path>
              </a:pathLst>
            </a:custGeom>
            <a:blipFill>
              <a:blip r:embed="rId2"/>
              <a:stretch>
                <a:fillRect l="-2051" r="-2051"/>
              </a:stretch>
            </a:blipFill>
          </p:spPr>
          <p:txBody>
            <a:bodyPr/>
            <a:lstStyle/>
            <a:p>
              <a:endParaRPr lang="en-US"/>
            </a:p>
          </p:txBody>
        </p:sp>
      </p:grpSp>
      <p:grpSp>
        <p:nvGrpSpPr>
          <p:cNvPr id="7" name="Group 7"/>
          <p:cNvGrpSpPr/>
          <p:nvPr/>
        </p:nvGrpSpPr>
        <p:grpSpPr>
          <a:xfrm>
            <a:off x="8515539" y="3735001"/>
            <a:ext cx="6467407" cy="4693671"/>
            <a:chOff x="0" y="0"/>
            <a:chExt cx="8623209" cy="6258228"/>
          </a:xfrm>
        </p:grpSpPr>
        <p:grpSp>
          <p:nvGrpSpPr>
            <p:cNvPr id="8" name="Group 8"/>
            <p:cNvGrpSpPr/>
            <p:nvPr/>
          </p:nvGrpSpPr>
          <p:grpSpPr>
            <a:xfrm>
              <a:off x="0" y="0"/>
              <a:ext cx="8623209" cy="6258228"/>
              <a:chOff x="0" y="0"/>
              <a:chExt cx="1827506" cy="1326299"/>
            </a:xfrm>
          </p:grpSpPr>
          <p:sp>
            <p:nvSpPr>
              <p:cNvPr id="9" name="Freeform 9"/>
              <p:cNvSpPr/>
              <p:nvPr/>
            </p:nvSpPr>
            <p:spPr>
              <a:xfrm>
                <a:off x="0" y="0"/>
                <a:ext cx="1827506" cy="1326299"/>
              </a:xfrm>
              <a:custGeom>
                <a:avLst/>
                <a:gdLst/>
                <a:ahLst/>
                <a:cxnLst/>
                <a:rect l="l" t="t" r="r" b="b"/>
                <a:pathLst>
                  <a:path w="1827506" h="1326299">
                    <a:moveTo>
                      <a:pt x="48654" y="0"/>
                    </a:moveTo>
                    <a:lnTo>
                      <a:pt x="1778853" y="0"/>
                    </a:lnTo>
                    <a:cubicBezTo>
                      <a:pt x="1805723" y="0"/>
                      <a:pt x="1827506" y="21783"/>
                      <a:pt x="1827506" y="48654"/>
                    </a:cubicBezTo>
                    <a:lnTo>
                      <a:pt x="1827506" y="1277645"/>
                    </a:lnTo>
                    <a:cubicBezTo>
                      <a:pt x="1827506" y="1304516"/>
                      <a:pt x="1805723" y="1326299"/>
                      <a:pt x="1778853" y="1326299"/>
                    </a:cubicBezTo>
                    <a:lnTo>
                      <a:pt x="48654" y="1326299"/>
                    </a:lnTo>
                    <a:cubicBezTo>
                      <a:pt x="21783" y="1326299"/>
                      <a:pt x="0" y="1304516"/>
                      <a:pt x="0" y="1277645"/>
                    </a:cubicBezTo>
                    <a:lnTo>
                      <a:pt x="0" y="48654"/>
                    </a:lnTo>
                    <a:cubicBezTo>
                      <a:pt x="0" y="21783"/>
                      <a:pt x="21783" y="0"/>
                      <a:pt x="48654" y="0"/>
                    </a:cubicBezTo>
                    <a:close/>
                  </a:path>
                </a:pathLst>
              </a:custGeom>
              <a:solidFill>
                <a:srgbClr val="FFFFFF"/>
              </a:solidFill>
            </p:spPr>
            <p:txBody>
              <a:bodyPr/>
              <a:lstStyle/>
              <a:p>
                <a:endParaRPr lang="en-US"/>
              </a:p>
            </p:txBody>
          </p:sp>
          <p:sp>
            <p:nvSpPr>
              <p:cNvPr id="10" name="TextBox 10"/>
              <p:cNvSpPr txBox="1"/>
              <p:nvPr/>
            </p:nvSpPr>
            <p:spPr>
              <a:xfrm>
                <a:off x="0" y="-38100"/>
                <a:ext cx="1827506" cy="1364399"/>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82006" y="140987"/>
              <a:ext cx="8176319" cy="5869039"/>
            </a:xfrm>
            <a:custGeom>
              <a:avLst/>
              <a:gdLst/>
              <a:ahLst/>
              <a:cxnLst/>
              <a:rect l="l" t="t" r="r" b="b"/>
              <a:pathLst>
                <a:path w="8176319" h="5869039">
                  <a:moveTo>
                    <a:pt x="0" y="0"/>
                  </a:moveTo>
                  <a:lnTo>
                    <a:pt x="8176320" y="0"/>
                  </a:lnTo>
                  <a:lnTo>
                    <a:pt x="8176320" y="5869039"/>
                  </a:lnTo>
                  <a:lnTo>
                    <a:pt x="0" y="5869039"/>
                  </a:lnTo>
                  <a:lnTo>
                    <a:pt x="0" y="0"/>
                  </a:lnTo>
                  <a:close/>
                </a:path>
              </a:pathLst>
            </a:custGeom>
            <a:blipFill>
              <a:blip r:embed="rId3"/>
              <a:stretch>
                <a:fillRect/>
              </a:stretch>
            </a:blipFill>
          </p:spPr>
          <p:txBody>
            <a:bodyPr/>
            <a:lstStyle/>
            <a:p>
              <a:endParaRPr lang="en-US"/>
            </a:p>
          </p:txBody>
        </p:sp>
      </p:grpSp>
      <p:grpSp>
        <p:nvGrpSpPr>
          <p:cNvPr id="12" name="Group 12"/>
          <p:cNvGrpSpPr/>
          <p:nvPr/>
        </p:nvGrpSpPr>
        <p:grpSpPr>
          <a:xfrm>
            <a:off x="15102074" y="3829419"/>
            <a:ext cx="3027838" cy="4251457"/>
            <a:chOff x="0" y="0"/>
            <a:chExt cx="4037118" cy="5668610"/>
          </a:xfrm>
        </p:grpSpPr>
        <p:grpSp>
          <p:nvGrpSpPr>
            <p:cNvPr id="13" name="Group 13"/>
            <p:cNvGrpSpPr/>
            <p:nvPr/>
          </p:nvGrpSpPr>
          <p:grpSpPr>
            <a:xfrm>
              <a:off x="0" y="0"/>
              <a:ext cx="4037118" cy="5668610"/>
              <a:chOff x="0" y="0"/>
              <a:chExt cx="797455" cy="1119725"/>
            </a:xfrm>
          </p:grpSpPr>
          <p:sp>
            <p:nvSpPr>
              <p:cNvPr id="14" name="Freeform 14"/>
              <p:cNvSpPr/>
              <p:nvPr/>
            </p:nvSpPr>
            <p:spPr>
              <a:xfrm>
                <a:off x="0" y="0"/>
                <a:ext cx="797455" cy="1119725"/>
              </a:xfrm>
              <a:custGeom>
                <a:avLst/>
                <a:gdLst/>
                <a:ahLst/>
                <a:cxnLst/>
                <a:rect l="l" t="t" r="r" b="b"/>
                <a:pathLst>
                  <a:path w="797455" h="1119725">
                    <a:moveTo>
                      <a:pt x="130403" y="0"/>
                    </a:moveTo>
                    <a:lnTo>
                      <a:pt x="667053" y="0"/>
                    </a:lnTo>
                    <a:cubicBezTo>
                      <a:pt x="701638" y="0"/>
                      <a:pt x="734806" y="13739"/>
                      <a:pt x="759261" y="38194"/>
                    </a:cubicBezTo>
                    <a:cubicBezTo>
                      <a:pt x="783717" y="62649"/>
                      <a:pt x="797455" y="95818"/>
                      <a:pt x="797455" y="130403"/>
                    </a:cubicBezTo>
                    <a:lnTo>
                      <a:pt x="797455" y="989323"/>
                    </a:lnTo>
                    <a:cubicBezTo>
                      <a:pt x="797455" y="1023908"/>
                      <a:pt x="783717" y="1057076"/>
                      <a:pt x="759261" y="1081531"/>
                    </a:cubicBezTo>
                    <a:cubicBezTo>
                      <a:pt x="734806" y="1105987"/>
                      <a:pt x="701638" y="1119725"/>
                      <a:pt x="667053" y="1119725"/>
                    </a:cubicBezTo>
                    <a:lnTo>
                      <a:pt x="130403" y="1119725"/>
                    </a:lnTo>
                    <a:cubicBezTo>
                      <a:pt x="95818" y="1119725"/>
                      <a:pt x="62649" y="1105987"/>
                      <a:pt x="38194" y="1081531"/>
                    </a:cubicBezTo>
                    <a:cubicBezTo>
                      <a:pt x="13739" y="1057076"/>
                      <a:pt x="0" y="1023908"/>
                      <a:pt x="0" y="989323"/>
                    </a:cubicBezTo>
                    <a:lnTo>
                      <a:pt x="0" y="130403"/>
                    </a:lnTo>
                    <a:cubicBezTo>
                      <a:pt x="0" y="95818"/>
                      <a:pt x="13739" y="62649"/>
                      <a:pt x="38194" y="38194"/>
                    </a:cubicBezTo>
                    <a:cubicBezTo>
                      <a:pt x="62649" y="13739"/>
                      <a:pt x="95818" y="0"/>
                      <a:pt x="130403" y="0"/>
                    </a:cubicBezTo>
                    <a:close/>
                  </a:path>
                </a:pathLst>
              </a:custGeom>
              <a:solidFill>
                <a:srgbClr val="FFFFFF"/>
              </a:solidFill>
            </p:spPr>
            <p:txBody>
              <a:bodyPr/>
              <a:lstStyle/>
              <a:p>
                <a:endParaRPr lang="en-US"/>
              </a:p>
            </p:txBody>
          </p:sp>
          <p:sp>
            <p:nvSpPr>
              <p:cNvPr id="15" name="TextBox 15"/>
              <p:cNvSpPr txBox="1"/>
              <p:nvPr/>
            </p:nvSpPr>
            <p:spPr>
              <a:xfrm>
                <a:off x="0" y="-38100"/>
                <a:ext cx="797455" cy="1157825"/>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89945" y="453426"/>
              <a:ext cx="3947173" cy="4805254"/>
            </a:xfrm>
            <a:custGeom>
              <a:avLst/>
              <a:gdLst/>
              <a:ahLst/>
              <a:cxnLst/>
              <a:rect l="l" t="t" r="r" b="b"/>
              <a:pathLst>
                <a:path w="3947173" h="4805254">
                  <a:moveTo>
                    <a:pt x="0" y="0"/>
                  </a:moveTo>
                  <a:lnTo>
                    <a:pt x="3947173" y="0"/>
                  </a:lnTo>
                  <a:lnTo>
                    <a:pt x="3947173" y="4805254"/>
                  </a:lnTo>
                  <a:lnTo>
                    <a:pt x="0" y="4805254"/>
                  </a:lnTo>
                  <a:lnTo>
                    <a:pt x="0" y="0"/>
                  </a:lnTo>
                  <a:close/>
                </a:path>
              </a:pathLst>
            </a:custGeom>
            <a:blipFill>
              <a:blip r:embed="rId4"/>
              <a:stretch>
                <a:fillRect/>
              </a:stretch>
            </a:blipFill>
          </p:spPr>
          <p:txBody>
            <a:bodyPr/>
            <a:lstStyle/>
            <a:p>
              <a:endParaRPr lang="en-US"/>
            </a:p>
          </p:txBody>
        </p:sp>
      </p:grpSp>
      <p:grpSp>
        <p:nvGrpSpPr>
          <p:cNvPr id="17" name="Group 17"/>
          <p:cNvGrpSpPr/>
          <p:nvPr/>
        </p:nvGrpSpPr>
        <p:grpSpPr>
          <a:xfrm>
            <a:off x="5126659" y="4190680"/>
            <a:ext cx="2765761" cy="3087909"/>
            <a:chOff x="0" y="0"/>
            <a:chExt cx="728431" cy="813276"/>
          </a:xfrm>
        </p:grpSpPr>
        <p:sp>
          <p:nvSpPr>
            <p:cNvPr id="18" name="Freeform 18"/>
            <p:cNvSpPr/>
            <p:nvPr/>
          </p:nvSpPr>
          <p:spPr>
            <a:xfrm>
              <a:off x="0" y="0"/>
              <a:ext cx="728431" cy="813276"/>
            </a:xfrm>
            <a:custGeom>
              <a:avLst/>
              <a:gdLst/>
              <a:ahLst/>
              <a:cxnLst/>
              <a:rect l="l" t="t" r="r" b="b"/>
              <a:pathLst>
                <a:path w="728431" h="813276">
                  <a:moveTo>
                    <a:pt x="142759" y="0"/>
                  </a:moveTo>
                  <a:lnTo>
                    <a:pt x="585672" y="0"/>
                  </a:lnTo>
                  <a:cubicBezTo>
                    <a:pt x="664515" y="0"/>
                    <a:pt x="728431" y="63915"/>
                    <a:pt x="728431" y="142759"/>
                  </a:cubicBezTo>
                  <a:lnTo>
                    <a:pt x="728431" y="670517"/>
                  </a:lnTo>
                  <a:cubicBezTo>
                    <a:pt x="728431" y="749361"/>
                    <a:pt x="664515" y="813276"/>
                    <a:pt x="585672" y="813276"/>
                  </a:cubicBezTo>
                  <a:lnTo>
                    <a:pt x="142759" y="813276"/>
                  </a:lnTo>
                  <a:cubicBezTo>
                    <a:pt x="63915" y="813276"/>
                    <a:pt x="0" y="749361"/>
                    <a:pt x="0" y="670517"/>
                  </a:cubicBezTo>
                  <a:lnTo>
                    <a:pt x="0" y="142759"/>
                  </a:lnTo>
                  <a:cubicBezTo>
                    <a:pt x="0" y="63915"/>
                    <a:pt x="63915" y="0"/>
                    <a:pt x="142759" y="0"/>
                  </a:cubicBezTo>
                  <a:close/>
                </a:path>
              </a:pathLst>
            </a:custGeom>
            <a:solidFill>
              <a:srgbClr val="FFFFFF"/>
            </a:solidFill>
          </p:spPr>
          <p:txBody>
            <a:bodyPr/>
            <a:lstStyle/>
            <a:p>
              <a:endParaRPr lang="en-US"/>
            </a:p>
          </p:txBody>
        </p:sp>
        <p:sp>
          <p:nvSpPr>
            <p:cNvPr id="19" name="TextBox 19"/>
            <p:cNvSpPr txBox="1"/>
            <p:nvPr/>
          </p:nvSpPr>
          <p:spPr>
            <a:xfrm>
              <a:off x="0" y="-38100"/>
              <a:ext cx="728431" cy="851376"/>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5235568" y="4550494"/>
            <a:ext cx="2547943" cy="2368281"/>
          </a:xfrm>
          <a:custGeom>
            <a:avLst/>
            <a:gdLst/>
            <a:ahLst/>
            <a:cxnLst/>
            <a:rect l="l" t="t" r="r" b="b"/>
            <a:pathLst>
              <a:path w="2547943" h="2368281">
                <a:moveTo>
                  <a:pt x="0" y="0"/>
                </a:moveTo>
                <a:lnTo>
                  <a:pt x="2547943" y="0"/>
                </a:lnTo>
                <a:lnTo>
                  <a:pt x="2547943" y="2368281"/>
                </a:lnTo>
                <a:lnTo>
                  <a:pt x="0" y="2368281"/>
                </a:lnTo>
                <a:lnTo>
                  <a:pt x="0" y="0"/>
                </a:lnTo>
                <a:close/>
              </a:path>
            </a:pathLst>
          </a:custGeom>
          <a:blipFill>
            <a:blip r:embed="rId5"/>
            <a:stretch>
              <a:fillRect/>
            </a:stretch>
          </a:blipFill>
        </p:spPr>
        <p:txBody>
          <a:bodyPr/>
          <a:lstStyle/>
          <a:p>
            <a:endParaRPr lang="en-US"/>
          </a:p>
        </p:txBody>
      </p:sp>
      <p:sp>
        <p:nvSpPr>
          <p:cNvPr id="21" name="TextBox 21"/>
          <p:cNvSpPr txBox="1"/>
          <p:nvPr/>
        </p:nvSpPr>
        <p:spPr>
          <a:xfrm>
            <a:off x="346109" y="8107998"/>
            <a:ext cx="7146218" cy="1979930"/>
          </a:xfrm>
          <a:prstGeom prst="rect">
            <a:avLst/>
          </a:prstGeom>
        </p:spPr>
        <p:txBody>
          <a:bodyPr lIns="0" tIns="0" rIns="0" bIns="0" rtlCol="0" anchor="t">
            <a:spAutoFit/>
          </a:bodyPr>
          <a:lstStyle/>
          <a:p>
            <a:pPr marL="820417" lvl="1" indent="-410209" algn="ctr">
              <a:lnSpc>
                <a:spcPts val="5319"/>
              </a:lnSpc>
              <a:buAutoNum type="arabicPeriod"/>
            </a:pPr>
            <a:r>
              <a:rPr lang="en-US" sz="3799">
                <a:solidFill>
                  <a:srgbClr val="FFFFFF"/>
                </a:solidFill>
                <a:latin typeface="Lexend Deca"/>
                <a:ea typeface="Lexend Deca"/>
                <a:cs typeface="Lexend Deca"/>
                <a:sym typeface="Lexend Deca"/>
              </a:rPr>
              <a:t>The genders are divided almost evenly, 48.67% (Female) and 51.33%(Male)</a:t>
            </a:r>
          </a:p>
        </p:txBody>
      </p:sp>
      <p:sp>
        <p:nvSpPr>
          <p:cNvPr id="22" name="TextBox 22"/>
          <p:cNvSpPr txBox="1"/>
          <p:nvPr/>
        </p:nvSpPr>
        <p:spPr>
          <a:xfrm>
            <a:off x="2646014" y="417876"/>
            <a:ext cx="12995972" cy="14977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ANALYSIS</a:t>
            </a:r>
          </a:p>
        </p:txBody>
      </p:sp>
      <p:sp>
        <p:nvSpPr>
          <p:cNvPr id="23" name="TextBox 23"/>
          <p:cNvSpPr txBox="1"/>
          <p:nvPr/>
        </p:nvSpPr>
        <p:spPr>
          <a:xfrm>
            <a:off x="8717632" y="8361997"/>
            <a:ext cx="8541668" cy="1725931"/>
          </a:xfrm>
          <a:prstGeom prst="rect">
            <a:avLst/>
          </a:prstGeom>
        </p:spPr>
        <p:txBody>
          <a:bodyPr lIns="0" tIns="0" rIns="0" bIns="0" rtlCol="0" anchor="t">
            <a:spAutoFit/>
          </a:bodyPr>
          <a:lstStyle/>
          <a:p>
            <a:pPr algn="ctr">
              <a:lnSpc>
                <a:spcPts val="4619"/>
              </a:lnSpc>
              <a:spcBef>
                <a:spcPct val="0"/>
              </a:spcBef>
            </a:pPr>
            <a:r>
              <a:rPr lang="en-US" sz="3299">
                <a:solidFill>
                  <a:srgbClr val="FFFFFF"/>
                </a:solidFill>
                <a:latin typeface="Lexend Deca"/>
                <a:ea typeface="Lexend Deca"/>
                <a:cs typeface="Lexend Deca"/>
                <a:sym typeface="Lexend Deca"/>
              </a:rPr>
              <a:t>2. The top 3 age groups visiting Singapore are: “25 to 34 Year Olds”, “35-44 Year Olds” and “45-54 Year Olds”.</a:t>
            </a:r>
          </a:p>
        </p:txBody>
      </p:sp>
      <p:sp>
        <p:nvSpPr>
          <p:cNvPr id="24" name="TextBox 24"/>
          <p:cNvSpPr txBox="1"/>
          <p:nvPr/>
        </p:nvSpPr>
        <p:spPr>
          <a:xfrm>
            <a:off x="1358572" y="1810833"/>
            <a:ext cx="5915025" cy="896620"/>
          </a:xfrm>
          <a:prstGeom prst="rect">
            <a:avLst/>
          </a:prstGeom>
        </p:spPr>
        <p:txBody>
          <a:bodyPr lIns="0" tIns="0" rIns="0" bIns="0" rtlCol="0" anchor="t">
            <a:spAutoFit/>
          </a:bodyPr>
          <a:lstStyle/>
          <a:p>
            <a:pPr algn="ctr">
              <a:lnSpc>
                <a:spcPts val="7279"/>
              </a:lnSpc>
            </a:pPr>
            <a:r>
              <a:rPr lang="en-US" sz="5199">
                <a:solidFill>
                  <a:srgbClr val="FFFFFF"/>
                </a:solidFill>
                <a:latin typeface="Lexend Deca"/>
                <a:ea typeface="Lexend Deca"/>
                <a:cs typeface="Lexend Deca"/>
                <a:sym typeface="Lexend Deca"/>
              </a:rPr>
              <a:t>Gender of Tourists</a:t>
            </a:r>
          </a:p>
        </p:txBody>
      </p:sp>
      <p:sp>
        <p:nvSpPr>
          <p:cNvPr id="25" name="TextBox 25"/>
          <p:cNvSpPr txBox="1"/>
          <p:nvPr/>
        </p:nvSpPr>
        <p:spPr>
          <a:xfrm>
            <a:off x="10266729" y="1810833"/>
            <a:ext cx="4835345" cy="896620"/>
          </a:xfrm>
          <a:prstGeom prst="rect">
            <a:avLst/>
          </a:prstGeom>
        </p:spPr>
        <p:txBody>
          <a:bodyPr lIns="0" tIns="0" rIns="0" bIns="0" rtlCol="0" anchor="t">
            <a:spAutoFit/>
          </a:bodyPr>
          <a:lstStyle/>
          <a:p>
            <a:pPr algn="ctr">
              <a:lnSpc>
                <a:spcPts val="7279"/>
              </a:lnSpc>
            </a:pPr>
            <a:r>
              <a:rPr lang="en-US" sz="5199">
                <a:solidFill>
                  <a:srgbClr val="FFFFFF"/>
                </a:solidFill>
                <a:latin typeface="Lexend Deca"/>
                <a:ea typeface="Lexend Deca"/>
                <a:cs typeface="Lexend Deca"/>
                <a:sym typeface="Lexend Deca"/>
              </a:rPr>
              <a:t>Age of Tourists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grpSp>
        <p:nvGrpSpPr>
          <p:cNvPr id="2" name="Group 2"/>
          <p:cNvGrpSpPr/>
          <p:nvPr/>
        </p:nvGrpSpPr>
        <p:grpSpPr>
          <a:xfrm>
            <a:off x="107791" y="2574134"/>
            <a:ext cx="6502562" cy="4668699"/>
            <a:chOff x="0" y="0"/>
            <a:chExt cx="8670083" cy="6224932"/>
          </a:xfrm>
        </p:grpSpPr>
        <p:grpSp>
          <p:nvGrpSpPr>
            <p:cNvPr id="3" name="Group 3"/>
            <p:cNvGrpSpPr/>
            <p:nvPr/>
          </p:nvGrpSpPr>
          <p:grpSpPr>
            <a:xfrm>
              <a:off x="0" y="0"/>
              <a:ext cx="8670083" cy="6224932"/>
              <a:chOff x="0" y="0"/>
              <a:chExt cx="2473596" cy="1775988"/>
            </a:xfrm>
          </p:grpSpPr>
          <p:sp>
            <p:nvSpPr>
              <p:cNvPr id="4" name="Freeform 4"/>
              <p:cNvSpPr/>
              <p:nvPr/>
            </p:nvSpPr>
            <p:spPr>
              <a:xfrm>
                <a:off x="0" y="0"/>
                <a:ext cx="2473596" cy="1775988"/>
              </a:xfrm>
              <a:custGeom>
                <a:avLst/>
                <a:gdLst/>
                <a:ahLst/>
                <a:cxnLst/>
                <a:rect l="l" t="t" r="r" b="b"/>
                <a:pathLst>
                  <a:path w="2473596" h="1775988">
                    <a:moveTo>
                      <a:pt x="53112" y="0"/>
                    </a:moveTo>
                    <a:lnTo>
                      <a:pt x="2420483" y="0"/>
                    </a:lnTo>
                    <a:cubicBezTo>
                      <a:pt x="2449817" y="0"/>
                      <a:pt x="2473596" y="23779"/>
                      <a:pt x="2473596" y="53112"/>
                    </a:cubicBezTo>
                    <a:lnTo>
                      <a:pt x="2473596" y="1722876"/>
                    </a:lnTo>
                    <a:cubicBezTo>
                      <a:pt x="2473596" y="1752209"/>
                      <a:pt x="2449817" y="1775988"/>
                      <a:pt x="2420483" y="1775988"/>
                    </a:cubicBezTo>
                    <a:lnTo>
                      <a:pt x="53112" y="1775988"/>
                    </a:lnTo>
                    <a:cubicBezTo>
                      <a:pt x="23779" y="1775988"/>
                      <a:pt x="0" y="1752209"/>
                      <a:pt x="0" y="1722876"/>
                    </a:cubicBezTo>
                    <a:lnTo>
                      <a:pt x="0" y="53112"/>
                    </a:lnTo>
                    <a:cubicBezTo>
                      <a:pt x="0" y="23779"/>
                      <a:pt x="23779" y="0"/>
                      <a:pt x="53112" y="0"/>
                    </a:cubicBezTo>
                    <a:close/>
                  </a:path>
                </a:pathLst>
              </a:custGeom>
              <a:solidFill>
                <a:srgbClr val="FFFFFF"/>
              </a:solidFill>
            </p:spPr>
            <p:txBody>
              <a:bodyPr/>
              <a:lstStyle/>
              <a:p>
                <a:endParaRPr lang="en-US"/>
              </a:p>
            </p:txBody>
          </p:sp>
          <p:sp>
            <p:nvSpPr>
              <p:cNvPr id="5" name="TextBox 5"/>
              <p:cNvSpPr txBox="1"/>
              <p:nvPr/>
            </p:nvSpPr>
            <p:spPr>
              <a:xfrm>
                <a:off x="0" y="-38100"/>
                <a:ext cx="2473596" cy="1814088"/>
              </a:xfrm>
              <a:prstGeom prst="rect">
                <a:avLst/>
              </a:prstGeom>
            </p:spPr>
            <p:txBody>
              <a:bodyPr lIns="35590" tIns="35590" rIns="35590" bIns="35590" rtlCol="0" anchor="ctr"/>
              <a:lstStyle/>
              <a:p>
                <a:pPr algn="ctr">
                  <a:lnSpc>
                    <a:spcPts val="2659"/>
                  </a:lnSpc>
                  <a:spcBef>
                    <a:spcPct val="0"/>
                  </a:spcBef>
                </a:pPr>
                <a:endParaRPr/>
              </a:p>
            </p:txBody>
          </p:sp>
        </p:grpSp>
        <p:sp>
          <p:nvSpPr>
            <p:cNvPr id="6" name="Freeform 6"/>
            <p:cNvSpPr/>
            <p:nvPr/>
          </p:nvSpPr>
          <p:spPr>
            <a:xfrm rot="-24000">
              <a:off x="263724" y="253693"/>
              <a:ext cx="8186601" cy="5898750"/>
            </a:xfrm>
            <a:custGeom>
              <a:avLst/>
              <a:gdLst/>
              <a:ahLst/>
              <a:cxnLst/>
              <a:rect l="l" t="t" r="r" b="b"/>
              <a:pathLst>
                <a:path w="8186601" h="5898750">
                  <a:moveTo>
                    <a:pt x="40785" y="0"/>
                  </a:moveTo>
                  <a:lnTo>
                    <a:pt x="8186601" y="56869"/>
                  </a:lnTo>
                  <a:lnTo>
                    <a:pt x="8145816" y="5898750"/>
                  </a:lnTo>
                  <a:lnTo>
                    <a:pt x="0" y="5841880"/>
                  </a:lnTo>
                  <a:lnTo>
                    <a:pt x="40785" y="0"/>
                  </a:lnTo>
                  <a:close/>
                </a:path>
              </a:pathLst>
            </a:custGeom>
            <a:blipFill>
              <a:blip r:embed="rId2"/>
              <a:stretch>
                <a:fillRect l="-235" r="-235"/>
              </a:stretch>
            </a:blipFill>
          </p:spPr>
          <p:txBody>
            <a:bodyPr/>
            <a:lstStyle/>
            <a:p>
              <a:endParaRPr lang="en-US"/>
            </a:p>
          </p:txBody>
        </p:sp>
      </p:grpSp>
      <p:grpSp>
        <p:nvGrpSpPr>
          <p:cNvPr id="7" name="Group 7"/>
          <p:cNvGrpSpPr/>
          <p:nvPr/>
        </p:nvGrpSpPr>
        <p:grpSpPr>
          <a:xfrm>
            <a:off x="16078426" y="3316454"/>
            <a:ext cx="2063488" cy="2557896"/>
            <a:chOff x="0" y="0"/>
            <a:chExt cx="815879" cy="1011363"/>
          </a:xfrm>
        </p:grpSpPr>
        <p:sp>
          <p:nvSpPr>
            <p:cNvPr id="8" name="Freeform 8"/>
            <p:cNvSpPr/>
            <p:nvPr/>
          </p:nvSpPr>
          <p:spPr>
            <a:xfrm>
              <a:off x="0" y="0"/>
              <a:ext cx="815879" cy="1011363"/>
            </a:xfrm>
            <a:custGeom>
              <a:avLst/>
              <a:gdLst/>
              <a:ahLst/>
              <a:cxnLst/>
              <a:rect l="l" t="t" r="r" b="b"/>
              <a:pathLst>
                <a:path w="815879" h="1011363">
                  <a:moveTo>
                    <a:pt x="191345" y="0"/>
                  </a:moveTo>
                  <a:lnTo>
                    <a:pt x="624535" y="0"/>
                  </a:lnTo>
                  <a:cubicBezTo>
                    <a:pt x="675282" y="0"/>
                    <a:pt x="723952" y="20159"/>
                    <a:pt x="759836" y="56044"/>
                  </a:cubicBezTo>
                  <a:cubicBezTo>
                    <a:pt x="795720" y="91928"/>
                    <a:pt x="815879" y="140597"/>
                    <a:pt x="815879" y="191345"/>
                  </a:cubicBezTo>
                  <a:lnTo>
                    <a:pt x="815879" y="820018"/>
                  </a:lnTo>
                  <a:cubicBezTo>
                    <a:pt x="815879" y="870766"/>
                    <a:pt x="795720" y="919435"/>
                    <a:pt x="759836" y="955319"/>
                  </a:cubicBezTo>
                  <a:cubicBezTo>
                    <a:pt x="723952" y="991203"/>
                    <a:pt x="675282" y="1011363"/>
                    <a:pt x="624535" y="1011363"/>
                  </a:cubicBezTo>
                  <a:lnTo>
                    <a:pt x="191345" y="1011363"/>
                  </a:lnTo>
                  <a:cubicBezTo>
                    <a:pt x="85668" y="1011363"/>
                    <a:pt x="0" y="925695"/>
                    <a:pt x="0" y="820018"/>
                  </a:cubicBezTo>
                  <a:lnTo>
                    <a:pt x="0" y="191345"/>
                  </a:lnTo>
                  <a:cubicBezTo>
                    <a:pt x="0" y="140597"/>
                    <a:pt x="20159" y="91928"/>
                    <a:pt x="56044" y="56044"/>
                  </a:cubicBezTo>
                  <a:cubicBezTo>
                    <a:pt x="91928" y="20159"/>
                    <a:pt x="140597" y="0"/>
                    <a:pt x="191345" y="0"/>
                  </a:cubicBezTo>
                  <a:close/>
                </a:path>
              </a:pathLst>
            </a:custGeom>
            <a:solidFill>
              <a:srgbClr val="FFFFFF"/>
            </a:solidFill>
          </p:spPr>
          <p:txBody>
            <a:bodyPr/>
            <a:lstStyle/>
            <a:p>
              <a:endParaRPr lang="en-US"/>
            </a:p>
          </p:txBody>
        </p:sp>
        <p:sp>
          <p:nvSpPr>
            <p:cNvPr id="9" name="TextBox 9"/>
            <p:cNvSpPr txBox="1"/>
            <p:nvPr/>
          </p:nvSpPr>
          <p:spPr>
            <a:xfrm>
              <a:off x="0" y="-38100"/>
              <a:ext cx="815879" cy="1049463"/>
            </a:xfrm>
            <a:prstGeom prst="rect">
              <a:avLst/>
            </a:prstGeom>
          </p:spPr>
          <p:txBody>
            <a:bodyPr lIns="23977" tIns="23977" rIns="23977" bIns="23977" rtlCol="0" anchor="ctr"/>
            <a:lstStyle/>
            <a:p>
              <a:pPr algn="ctr">
                <a:lnSpc>
                  <a:spcPts val="2659"/>
                </a:lnSpc>
                <a:spcBef>
                  <a:spcPct val="0"/>
                </a:spcBef>
              </a:pPr>
              <a:endParaRPr/>
            </a:p>
          </p:txBody>
        </p:sp>
      </p:grpSp>
      <p:grpSp>
        <p:nvGrpSpPr>
          <p:cNvPr id="10" name="Group 10"/>
          <p:cNvGrpSpPr/>
          <p:nvPr/>
        </p:nvGrpSpPr>
        <p:grpSpPr>
          <a:xfrm>
            <a:off x="9719015" y="2760052"/>
            <a:ext cx="6012527" cy="4296862"/>
            <a:chOff x="0" y="0"/>
            <a:chExt cx="2377284" cy="1698930"/>
          </a:xfrm>
        </p:grpSpPr>
        <p:sp>
          <p:nvSpPr>
            <p:cNvPr id="11" name="Freeform 11"/>
            <p:cNvSpPr/>
            <p:nvPr/>
          </p:nvSpPr>
          <p:spPr>
            <a:xfrm>
              <a:off x="0" y="0"/>
              <a:ext cx="2377284" cy="1698930"/>
            </a:xfrm>
            <a:custGeom>
              <a:avLst/>
              <a:gdLst/>
              <a:ahLst/>
              <a:cxnLst/>
              <a:rect l="l" t="t" r="r" b="b"/>
              <a:pathLst>
                <a:path w="2377284" h="1698930">
                  <a:moveTo>
                    <a:pt x="65669" y="0"/>
                  </a:moveTo>
                  <a:lnTo>
                    <a:pt x="2311615" y="0"/>
                  </a:lnTo>
                  <a:cubicBezTo>
                    <a:pt x="2329031" y="0"/>
                    <a:pt x="2345734" y="6919"/>
                    <a:pt x="2358050" y="19234"/>
                  </a:cubicBezTo>
                  <a:cubicBezTo>
                    <a:pt x="2370365" y="31549"/>
                    <a:pt x="2377284" y="48253"/>
                    <a:pt x="2377284" y="65669"/>
                  </a:cubicBezTo>
                  <a:lnTo>
                    <a:pt x="2377284" y="1633261"/>
                  </a:lnTo>
                  <a:cubicBezTo>
                    <a:pt x="2377284" y="1650677"/>
                    <a:pt x="2370365" y="1667380"/>
                    <a:pt x="2358050" y="1679696"/>
                  </a:cubicBezTo>
                  <a:cubicBezTo>
                    <a:pt x="2345734" y="1692011"/>
                    <a:pt x="2329031" y="1698930"/>
                    <a:pt x="2311615" y="1698930"/>
                  </a:cubicBezTo>
                  <a:lnTo>
                    <a:pt x="65669" y="1698930"/>
                  </a:lnTo>
                  <a:cubicBezTo>
                    <a:pt x="48253" y="1698930"/>
                    <a:pt x="31549" y="1692011"/>
                    <a:pt x="19234" y="1679696"/>
                  </a:cubicBezTo>
                  <a:cubicBezTo>
                    <a:pt x="6919" y="1667380"/>
                    <a:pt x="0" y="1650677"/>
                    <a:pt x="0" y="1633261"/>
                  </a:cubicBezTo>
                  <a:lnTo>
                    <a:pt x="0" y="65669"/>
                  </a:lnTo>
                  <a:cubicBezTo>
                    <a:pt x="0" y="48253"/>
                    <a:pt x="6919" y="31549"/>
                    <a:pt x="19234" y="19234"/>
                  </a:cubicBezTo>
                  <a:cubicBezTo>
                    <a:pt x="31549" y="6919"/>
                    <a:pt x="48253" y="0"/>
                    <a:pt x="65669" y="0"/>
                  </a:cubicBezTo>
                  <a:close/>
                </a:path>
              </a:pathLst>
            </a:custGeom>
            <a:solidFill>
              <a:srgbClr val="FFFFFF"/>
            </a:solidFill>
          </p:spPr>
          <p:txBody>
            <a:bodyPr/>
            <a:lstStyle/>
            <a:p>
              <a:endParaRPr lang="en-US"/>
            </a:p>
          </p:txBody>
        </p:sp>
        <p:sp>
          <p:nvSpPr>
            <p:cNvPr id="12" name="TextBox 12"/>
            <p:cNvSpPr txBox="1"/>
            <p:nvPr/>
          </p:nvSpPr>
          <p:spPr>
            <a:xfrm>
              <a:off x="0" y="-38100"/>
              <a:ext cx="2377284" cy="1737030"/>
            </a:xfrm>
            <a:prstGeom prst="rect">
              <a:avLst/>
            </a:prstGeom>
          </p:spPr>
          <p:txBody>
            <a:bodyPr lIns="23977" tIns="23977" rIns="23977" bIns="23977" rtlCol="0" anchor="ctr"/>
            <a:lstStyle/>
            <a:p>
              <a:pPr algn="ctr">
                <a:lnSpc>
                  <a:spcPts val="2659"/>
                </a:lnSpc>
                <a:spcBef>
                  <a:spcPct val="0"/>
                </a:spcBef>
              </a:pPr>
              <a:endParaRPr/>
            </a:p>
          </p:txBody>
        </p:sp>
      </p:grpSp>
      <p:sp>
        <p:nvSpPr>
          <p:cNvPr id="13" name="Freeform 13"/>
          <p:cNvSpPr/>
          <p:nvPr/>
        </p:nvSpPr>
        <p:spPr>
          <a:xfrm>
            <a:off x="10088173" y="3011095"/>
            <a:ext cx="5274209" cy="3794777"/>
          </a:xfrm>
          <a:custGeom>
            <a:avLst/>
            <a:gdLst/>
            <a:ahLst/>
            <a:cxnLst/>
            <a:rect l="l" t="t" r="r" b="b"/>
            <a:pathLst>
              <a:path w="5274209" h="3794777">
                <a:moveTo>
                  <a:pt x="0" y="0"/>
                </a:moveTo>
                <a:lnTo>
                  <a:pt x="5274209" y="0"/>
                </a:lnTo>
                <a:lnTo>
                  <a:pt x="5274209" y="3794777"/>
                </a:lnTo>
                <a:lnTo>
                  <a:pt x="0" y="3794777"/>
                </a:lnTo>
                <a:lnTo>
                  <a:pt x="0" y="0"/>
                </a:lnTo>
                <a:close/>
              </a:path>
            </a:pathLst>
          </a:custGeom>
          <a:blipFill>
            <a:blip r:embed="rId3"/>
            <a:stretch>
              <a:fillRect/>
            </a:stretch>
          </a:blipFill>
        </p:spPr>
        <p:txBody>
          <a:bodyPr/>
          <a:lstStyle/>
          <a:p>
            <a:endParaRPr lang="en-US"/>
          </a:p>
        </p:txBody>
      </p:sp>
      <p:sp>
        <p:nvSpPr>
          <p:cNvPr id="14" name="Freeform 14"/>
          <p:cNvSpPr/>
          <p:nvPr/>
        </p:nvSpPr>
        <p:spPr>
          <a:xfrm>
            <a:off x="16078426" y="3728293"/>
            <a:ext cx="2063488" cy="1712097"/>
          </a:xfrm>
          <a:custGeom>
            <a:avLst/>
            <a:gdLst/>
            <a:ahLst/>
            <a:cxnLst/>
            <a:rect l="l" t="t" r="r" b="b"/>
            <a:pathLst>
              <a:path w="2063488" h="1712097">
                <a:moveTo>
                  <a:pt x="0" y="0"/>
                </a:moveTo>
                <a:lnTo>
                  <a:pt x="2063488" y="0"/>
                </a:lnTo>
                <a:lnTo>
                  <a:pt x="2063488" y="1712097"/>
                </a:lnTo>
                <a:lnTo>
                  <a:pt x="0" y="1712097"/>
                </a:lnTo>
                <a:lnTo>
                  <a:pt x="0" y="0"/>
                </a:lnTo>
                <a:close/>
              </a:path>
            </a:pathLst>
          </a:custGeom>
          <a:blipFill>
            <a:blip r:embed="rId4"/>
            <a:stretch>
              <a:fillRect/>
            </a:stretch>
          </a:blipFill>
        </p:spPr>
        <p:txBody>
          <a:bodyPr/>
          <a:lstStyle/>
          <a:p>
            <a:endParaRPr lang="en-US"/>
          </a:p>
        </p:txBody>
      </p:sp>
      <p:grpSp>
        <p:nvGrpSpPr>
          <p:cNvPr id="16" name="Group 16"/>
          <p:cNvGrpSpPr/>
          <p:nvPr/>
        </p:nvGrpSpPr>
        <p:grpSpPr>
          <a:xfrm>
            <a:off x="6610353" y="3364529"/>
            <a:ext cx="2765761" cy="3087909"/>
            <a:chOff x="0" y="0"/>
            <a:chExt cx="728431" cy="813276"/>
          </a:xfrm>
        </p:grpSpPr>
        <p:sp>
          <p:nvSpPr>
            <p:cNvPr id="17" name="Freeform 17"/>
            <p:cNvSpPr/>
            <p:nvPr/>
          </p:nvSpPr>
          <p:spPr>
            <a:xfrm>
              <a:off x="0" y="0"/>
              <a:ext cx="728431" cy="813276"/>
            </a:xfrm>
            <a:custGeom>
              <a:avLst/>
              <a:gdLst/>
              <a:ahLst/>
              <a:cxnLst/>
              <a:rect l="l" t="t" r="r" b="b"/>
              <a:pathLst>
                <a:path w="728431" h="813276">
                  <a:moveTo>
                    <a:pt x="142759" y="0"/>
                  </a:moveTo>
                  <a:lnTo>
                    <a:pt x="585672" y="0"/>
                  </a:lnTo>
                  <a:cubicBezTo>
                    <a:pt x="664515" y="0"/>
                    <a:pt x="728431" y="63915"/>
                    <a:pt x="728431" y="142759"/>
                  </a:cubicBezTo>
                  <a:lnTo>
                    <a:pt x="728431" y="670517"/>
                  </a:lnTo>
                  <a:cubicBezTo>
                    <a:pt x="728431" y="749361"/>
                    <a:pt x="664515" y="813276"/>
                    <a:pt x="585672" y="813276"/>
                  </a:cubicBezTo>
                  <a:lnTo>
                    <a:pt x="142759" y="813276"/>
                  </a:lnTo>
                  <a:cubicBezTo>
                    <a:pt x="63915" y="813276"/>
                    <a:pt x="0" y="749361"/>
                    <a:pt x="0" y="670517"/>
                  </a:cubicBezTo>
                  <a:lnTo>
                    <a:pt x="0" y="142759"/>
                  </a:lnTo>
                  <a:cubicBezTo>
                    <a:pt x="0" y="63915"/>
                    <a:pt x="63915" y="0"/>
                    <a:pt x="142759" y="0"/>
                  </a:cubicBezTo>
                  <a:close/>
                </a:path>
              </a:pathLst>
            </a:custGeom>
            <a:solidFill>
              <a:srgbClr val="FFFFFF"/>
            </a:solidFill>
          </p:spPr>
          <p:txBody>
            <a:bodyPr/>
            <a:lstStyle/>
            <a:p>
              <a:endParaRPr lang="en-US"/>
            </a:p>
          </p:txBody>
        </p:sp>
        <p:sp>
          <p:nvSpPr>
            <p:cNvPr id="18" name="TextBox 18"/>
            <p:cNvSpPr txBox="1"/>
            <p:nvPr/>
          </p:nvSpPr>
          <p:spPr>
            <a:xfrm>
              <a:off x="0" y="-38100"/>
              <a:ext cx="728431" cy="851376"/>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248647" y="8329598"/>
            <a:ext cx="18039353" cy="1790729"/>
          </a:xfrm>
          <a:prstGeom prst="rect">
            <a:avLst/>
          </a:prstGeom>
        </p:spPr>
        <p:txBody>
          <a:bodyPr lIns="0" tIns="0" rIns="0" bIns="0" rtlCol="0" anchor="t">
            <a:spAutoFit/>
          </a:bodyPr>
          <a:lstStyle/>
          <a:p>
            <a:pPr algn="ctr">
              <a:lnSpc>
                <a:spcPts val="4756"/>
              </a:lnSpc>
              <a:spcBef>
                <a:spcPct val="0"/>
              </a:spcBef>
            </a:pPr>
            <a:r>
              <a:rPr lang="en-US" sz="3397">
                <a:solidFill>
                  <a:srgbClr val="FFFFFF"/>
                </a:solidFill>
                <a:latin typeface="Lexend Deca"/>
                <a:ea typeface="Lexend Deca"/>
                <a:cs typeface="Lexend Deca"/>
                <a:sym typeface="Lexend Deca"/>
              </a:rPr>
              <a:t>3. While the largest demographic of tourists are from </a:t>
            </a:r>
            <a:r>
              <a:rPr lang="en-US" sz="3397" u="sng">
                <a:solidFill>
                  <a:srgbClr val="FFFFFF"/>
                </a:solidFill>
                <a:latin typeface="Lexend Deca"/>
                <a:ea typeface="Lexend Deca"/>
                <a:cs typeface="Lexend Deca"/>
                <a:sym typeface="Lexend Deca"/>
              </a:rPr>
              <a:t>Southeast Asia</a:t>
            </a:r>
            <a:r>
              <a:rPr lang="en-US" sz="3397">
                <a:solidFill>
                  <a:srgbClr val="FFFFFF"/>
                </a:solidFill>
                <a:latin typeface="Lexend Deca"/>
                <a:ea typeface="Lexend Deca"/>
                <a:cs typeface="Lexend Deca"/>
                <a:sym typeface="Lexend Deca"/>
              </a:rPr>
              <a:t>, the top countries where tourists are arriving from are: China (Greater China), India(South Asia), Indonesia (Southeast Asia), Malaysia (Southeast Asia) and Australia (Oceania).</a:t>
            </a:r>
          </a:p>
        </p:txBody>
      </p:sp>
      <p:sp>
        <p:nvSpPr>
          <p:cNvPr id="21" name="TextBox 21"/>
          <p:cNvSpPr txBox="1"/>
          <p:nvPr/>
        </p:nvSpPr>
        <p:spPr>
          <a:xfrm>
            <a:off x="2646014" y="417876"/>
            <a:ext cx="12995972" cy="14977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ANALYSIS</a:t>
            </a:r>
          </a:p>
        </p:txBody>
      </p:sp>
      <p:sp>
        <p:nvSpPr>
          <p:cNvPr id="22" name="TextBox 22"/>
          <p:cNvSpPr txBox="1"/>
          <p:nvPr/>
        </p:nvSpPr>
        <p:spPr>
          <a:xfrm>
            <a:off x="1833581" y="7323976"/>
            <a:ext cx="5341144" cy="896620"/>
          </a:xfrm>
          <a:prstGeom prst="rect">
            <a:avLst/>
          </a:prstGeom>
        </p:spPr>
        <p:txBody>
          <a:bodyPr lIns="0" tIns="0" rIns="0" bIns="0" rtlCol="0" anchor="t">
            <a:spAutoFit/>
          </a:bodyPr>
          <a:lstStyle/>
          <a:p>
            <a:pPr algn="ctr">
              <a:lnSpc>
                <a:spcPts val="7279"/>
              </a:lnSpc>
            </a:pPr>
            <a:r>
              <a:rPr lang="en-US" sz="5199">
                <a:solidFill>
                  <a:srgbClr val="FFFFFF"/>
                </a:solidFill>
                <a:latin typeface="Lexend Deca"/>
                <a:ea typeface="Lexend Deca"/>
                <a:cs typeface="Lexend Deca"/>
                <a:sym typeface="Lexend Deca"/>
              </a:rPr>
              <a:t>Areas of Arrivals</a:t>
            </a:r>
          </a:p>
        </p:txBody>
      </p:sp>
      <p:sp>
        <p:nvSpPr>
          <p:cNvPr id="23" name="TextBox 23"/>
          <p:cNvSpPr txBox="1"/>
          <p:nvPr/>
        </p:nvSpPr>
        <p:spPr>
          <a:xfrm>
            <a:off x="10455708" y="7323976"/>
            <a:ext cx="5470091" cy="862159"/>
          </a:xfrm>
          <a:prstGeom prst="rect">
            <a:avLst/>
          </a:prstGeom>
        </p:spPr>
        <p:txBody>
          <a:bodyPr wrap="square" lIns="0" tIns="0" rIns="0" bIns="0" rtlCol="0" anchor="t">
            <a:spAutoFit/>
          </a:bodyPr>
          <a:lstStyle/>
          <a:p>
            <a:pPr algn="ctr">
              <a:lnSpc>
                <a:spcPts val="7279"/>
              </a:lnSpc>
            </a:pPr>
            <a:r>
              <a:rPr lang="en-US" sz="5199" dirty="0">
                <a:solidFill>
                  <a:srgbClr val="FFFFFF"/>
                </a:solidFill>
                <a:latin typeface="Lexend Deca"/>
                <a:ea typeface="Lexend Deca"/>
                <a:cs typeface="Lexend Deca"/>
                <a:sym typeface="Lexend Deca"/>
              </a:rPr>
              <a:t>Top 5 countries</a:t>
            </a:r>
          </a:p>
        </p:txBody>
      </p:sp>
      <p:pic>
        <p:nvPicPr>
          <p:cNvPr id="25" name="Picture 24">
            <a:extLst>
              <a:ext uri="{FF2B5EF4-FFF2-40B4-BE49-F238E27FC236}">
                <a16:creationId xmlns:a16="http://schemas.microsoft.com/office/drawing/2014/main" id="{B8AD7F96-57CA-1B1F-8C72-0B7A60003751}"/>
              </a:ext>
            </a:extLst>
          </p:cNvPr>
          <p:cNvPicPr>
            <a:picLocks noChangeAspect="1"/>
          </p:cNvPicPr>
          <p:nvPr/>
        </p:nvPicPr>
        <p:blipFill>
          <a:blip r:embed="rId5"/>
          <a:stretch>
            <a:fillRect/>
          </a:stretch>
        </p:blipFill>
        <p:spPr>
          <a:xfrm>
            <a:off x="6953254" y="3525251"/>
            <a:ext cx="2167165" cy="266630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327194"/>
            <a:ext cx="9098094" cy="6818475"/>
            <a:chOff x="0" y="0"/>
            <a:chExt cx="12130792" cy="9091300"/>
          </a:xfrm>
        </p:grpSpPr>
        <p:grpSp>
          <p:nvGrpSpPr>
            <p:cNvPr id="3" name="Group 3"/>
            <p:cNvGrpSpPr/>
            <p:nvPr/>
          </p:nvGrpSpPr>
          <p:grpSpPr>
            <a:xfrm>
              <a:off x="0" y="0"/>
              <a:ext cx="12130792" cy="9091300"/>
              <a:chOff x="0" y="0"/>
              <a:chExt cx="2416510" cy="1811029"/>
            </a:xfrm>
          </p:grpSpPr>
          <p:sp>
            <p:nvSpPr>
              <p:cNvPr id="4" name="Freeform 4"/>
              <p:cNvSpPr/>
              <p:nvPr/>
            </p:nvSpPr>
            <p:spPr>
              <a:xfrm>
                <a:off x="0" y="0"/>
                <a:ext cx="2416510" cy="1811029"/>
              </a:xfrm>
              <a:custGeom>
                <a:avLst/>
                <a:gdLst/>
                <a:ahLst/>
                <a:cxnLst/>
                <a:rect l="l" t="t" r="r" b="b"/>
                <a:pathLst>
                  <a:path w="2416510" h="1811029">
                    <a:moveTo>
                      <a:pt x="36795" y="0"/>
                    </a:moveTo>
                    <a:lnTo>
                      <a:pt x="2379716" y="0"/>
                    </a:lnTo>
                    <a:cubicBezTo>
                      <a:pt x="2400037" y="0"/>
                      <a:pt x="2416510" y="16474"/>
                      <a:pt x="2416510" y="36795"/>
                    </a:cubicBezTo>
                    <a:lnTo>
                      <a:pt x="2416510" y="1774235"/>
                    </a:lnTo>
                    <a:cubicBezTo>
                      <a:pt x="2416510" y="1783993"/>
                      <a:pt x="2412634" y="1793352"/>
                      <a:pt x="2405734" y="1800253"/>
                    </a:cubicBezTo>
                    <a:cubicBezTo>
                      <a:pt x="2398833" y="1807153"/>
                      <a:pt x="2389474" y="1811029"/>
                      <a:pt x="2379716" y="1811029"/>
                    </a:cubicBezTo>
                    <a:lnTo>
                      <a:pt x="36795" y="1811029"/>
                    </a:lnTo>
                    <a:cubicBezTo>
                      <a:pt x="27036" y="1811029"/>
                      <a:pt x="17677" y="1807153"/>
                      <a:pt x="10777" y="1800253"/>
                    </a:cubicBezTo>
                    <a:cubicBezTo>
                      <a:pt x="3877" y="1793352"/>
                      <a:pt x="0" y="1783993"/>
                      <a:pt x="0" y="1774235"/>
                    </a:cubicBezTo>
                    <a:lnTo>
                      <a:pt x="0" y="36795"/>
                    </a:lnTo>
                    <a:cubicBezTo>
                      <a:pt x="0" y="27036"/>
                      <a:pt x="3877" y="17677"/>
                      <a:pt x="10777" y="10777"/>
                    </a:cubicBezTo>
                    <a:cubicBezTo>
                      <a:pt x="17677" y="3877"/>
                      <a:pt x="27036" y="0"/>
                      <a:pt x="36795" y="0"/>
                    </a:cubicBezTo>
                    <a:close/>
                  </a:path>
                </a:pathLst>
              </a:custGeom>
              <a:solidFill>
                <a:srgbClr val="FFFFFF"/>
              </a:solidFill>
            </p:spPr>
            <p:txBody>
              <a:bodyPr/>
              <a:lstStyle/>
              <a:p>
                <a:endParaRPr lang="en-US"/>
              </a:p>
            </p:txBody>
          </p:sp>
          <p:sp>
            <p:nvSpPr>
              <p:cNvPr id="5" name="TextBox 5"/>
              <p:cNvSpPr txBox="1"/>
              <p:nvPr/>
            </p:nvSpPr>
            <p:spPr>
              <a:xfrm>
                <a:off x="0" y="-38100"/>
                <a:ext cx="2416510" cy="1849129"/>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356504" y="338945"/>
              <a:ext cx="11340464" cy="8427273"/>
            </a:xfrm>
            <a:custGeom>
              <a:avLst/>
              <a:gdLst/>
              <a:ahLst/>
              <a:cxnLst/>
              <a:rect l="l" t="t" r="r" b="b"/>
              <a:pathLst>
                <a:path w="11340464" h="8427273">
                  <a:moveTo>
                    <a:pt x="0" y="0"/>
                  </a:moveTo>
                  <a:lnTo>
                    <a:pt x="11340464" y="0"/>
                  </a:lnTo>
                  <a:lnTo>
                    <a:pt x="11340464" y="8427273"/>
                  </a:lnTo>
                  <a:lnTo>
                    <a:pt x="0" y="8427273"/>
                  </a:lnTo>
                  <a:lnTo>
                    <a:pt x="0" y="0"/>
                  </a:lnTo>
                  <a:close/>
                </a:path>
              </a:pathLst>
            </a:custGeom>
            <a:blipFill>
              <a:blip r:embed="rId2"/>
              <a:stretch>
                <a:fillRect/>
              </a:stretch>
            </a:blipFill>
          </p:spPr>
          <p:txBody>
            <a:bodyPr/>
            <a:lstStyle/>
            <a:p>
              <a:endParaRPr lang="en-US"/>
            </a:p>
          </p:txBody>
        </p:sp>
      </p:grpSp>
      <p:sp>
        <p:nvSpPr>
          <p:cNvPr id="7" name="Freeform 7"/>
          <p:cNvSpPr/>
          <p:nvPr/>
        </p:nvSpPr>
        <p:spPr>
          <a:xfrm>
            <a:off x="2095469" y="75088"/>
            <a:ext cx="2831518" cy="2095323"/>
          </a:xfrm>
          <a:custGeom>
            <a:avLst/>
            <a:gdLst/>
            <a:ahLst/>
            <a:cxnLst/>
            <a:rect l="l" t="t" r="r" b="b"/>
            <a:pathLst>
              <a:path w="2831518" h="2095323">
                <a:moveTo>
                  <a:pt x="0" y="0"/>
                </a:moveTo>
                <a:lnTo>
                  <a:pt x="2831518" y="0"/>
                </a:lnTo>
                <a:lnTo>
                  <a:pt x="2831518" y="2095323"/>
                </a:lnTo>
                <a:lnTo>
                  <a:pt x="0" y="20953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8" name="Group 8"/>
          <p:cNvGrpSpPr/>
          <p:nvPr/>
        </p:nvGrpSpPr>
        <p:grpSpPr>
          <a:xfrm>
            <a:off x="1481299" y="2499163"/>
            <a:ext cx="2422825" cy="6565165"/>
            <a:chOff x="0" y="0"/>
            <a:chExt cx="638110" cy="1729097"/>
          </a:xfrm>
        </p:grpSpPr>
        <p:sp>
          <p:nvSpPr>
            <p:cNvPr id="9" name="Freeform 9"/>
            <p:cNvSpPr/>
            <p:nvPr/>
          </p:nvSpPr>
          <p:spPr>
            <a:xfrm>
              <a:off x="0" y="0"/>
              <a:ext cx="638110" cy="1729097"/>
            </a:xfrm>
            <a:custGeom>
              <a:avLst/>
              <a:gdLst/>
              <a:ahLst/>
              <a:cxnLst/>
              <a:rect l="l" t="t" r="r" b="b"/>
              <a:pathLst>
                <a:path w="638110" h="1729097">
                  <a:moveTo>
                    <a:pt x="214093" y="0"/>
                  </a:moveTo>
                  <a:lnTo>
                    <a:pt x="424018" y="0"/>
                  </a:lnTo>
                  <a:cubicBezTo>
                    <a:pt x="542258" y="0"/>
                    <a:pt x="638110" y="95852"/>
                    <a:pt x="638110" y="214093"/>
                  </a:cubicBezTo>
                  <a:lnTo>
                    <a:pt x="638110" y="1515005"/>
                  </a:lnTo>
                  <a:cubicBezTo>
                    <a:pt x="638110" y="1633244"/>
                    <a:pt x="542258" y="1729097"/>
                    <a:pt x="424018" y="1729097"/>
                  </a:cubicBezTo>
                  <a:lnTo>
                    <a:pt x="214093" y="1729097"/>
                  </a:lnTo>
                  <a:cubicBezTo>
                    <a:pt x="95852" y="1729097"/>
                    <a:pt x="0" y="1633244"/>
                    <a:pt x="0" y="1515005"/>
                  </a:cubicBezTo>
                  <a:lnTo>
                    <a:pt x="0" y="214093"/>
                  </a:lnTo>
                  <a:cubicBezTo>
                    <a:pt x="0" y="95852"/>
                    <a:pt x="95852" y="0"/>
                    <a:pt x="214093" y="0"/>
                  </a:cubicBezTo>
                  <a:close/>
                </a:path>
              </a:pathLst>
            </a:custGeom>
            <a:solidFill>
              <a:srgbClr val="000000">
                <a:alpha val="0"/>
              </a:srgbClr>
            </a:solidFill>
            <a:ln w="114300" cap="rnd">
              <a:solidFill>
                <a:srgbClr val="A21942"/>
              </a:solidFill>
              <a:prstDash val="solid"/>
              <a:round/>
            </a:ln>
          </p:spPr>
          <p:txBody>
            <a:bodyPr/>
            <a:lstStyle/>
            <a:p>
              <a:endParaRPr lang="en-US"/>
            </a:p>
          </p:txBody>
        </p:sp>
        <p:sp>
          <p:nvSpPr>
            <p:cNvPr id="10" name="TextBox 10"/>
            <p:cNvSpPr txBox="1"/>
            <p:nvPr/>
          </p:nvSpPr>
          <p:spPr>
            <a:xfrm>
              <a:off x="0" y="-38100"/>
              <a:ext cx="638110" cy="1767197"/>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0208040" y="4135266"/>
            <a:ext cx="7818512" cy="4016859"/>
          </a:xfrm>
          <a:prstGeom prst="rect">
            <a:avLst/>
          </a:prstGeom>
        </p:spPr>
        <p:txBody>
          <a:bodyPr lIns="0" tIns="0" rIns="0" bIns="0" rtlCol="0" anchor="t">
            <a:spAutoFit/>
          </a:bodyPr>
          <a:lstStyle/>
          <a:p>
            <a:pPr algn="ctr">
              <a:lnSpc>
                <a:spcPts val="6448"/>
              </a:lnSpc>
              <a:spcBef>
                <a:spcPct val="0"/>
              </a:spcBef>
            </a:pPr>
            <a:r>
              <a:rPr lang="en-US" sz="4605">
                <a:solidFill>
                  <a:srgbClr val="F4F5F4"/>
                </a:solidFill>
                <a:latin typeface="Lexend Deca"/>
                <a:ea typeface="Lexend Deca"/>
                <a:cs typeface="Lexend Deca"/>
                <a:sym typeface="Lexend Deca"/>
              </a:rPr>
              <a:t>4. The top 3 months where tourists often arrive in are: </a:t>
            </a:r>
            <a:r>
              <a:rPr lang="en-US" sz="4605" u="sng">
                <a:solidFill>
                  <a:srgbClr val="F4F5F4"/>
                </a:solidFill>
                <a:latin typeface="Lexend Deca"/>
                <a:ea typeface="Lexend Deca"/>
                <a:cs typeface="Lexend Deca"/>
                <a:sym typeface="Lexend Deca"/>
              </a:rPr>
              <a:t>July(1.17M), December(1.15M) and August(1.13M).</a:t>
            </a:r>
          </a:p>
        </p:txBody>
      </p:sp>
      <p:sp>
        <p:nvSpPr>
          <p:cNvPr id="12" name="TextBox 12"/>
          <p:cNvSpPr txBox="1"/>
          <p:nvPr/>
        </p:nvSpPr>
        <p:spPr>
          <a:xfrm>
            <a:off x="2449228" y="829461"/>
            <a:ext cx="12995972" cy="14977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ANALYSIS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87C7E"/>
        </a:solidFill>
        <a:effectLst/>
      </p:bgPr>
    </p:bg>
    <p:spTree>
      <p:nvGrpSpPr>
        <p:cNvPr id="1" name=""/>
        <p:cNvGrpSpPr/>
        <p:nvPr/>
      </p:nvGrpSpPr>
      <p:grpSpPr>
        <a:xfrm>
          <a:off x="0" y="0"/>
          <a:ext cx="0" cy="0"/>
          <a:chOff x="0" y="0"/>
          <a:chExt cx="0" cy="0"/>
        </a:xfrm>
      </p:grpSpPr>
      <p:sp>
        <p:nvSpPr>
          <p:cNvPr id="2" name="TextBox 2"/>
          <p:cNvSpPr txBox="1"/>
          <p:nvPr/>
        </p:nvSpPr>
        <p:spPr>
          <a:xfrm>
            <a:off x="2646014" y="862988"/>
            <a:ext cx="12995972" cy="14977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RESULTS</a:t>
            </a:r>
          </a:p>
        </p:txBody>
      </p:sp>
      <p:sp>
        <p:nvSpPr>
          <p:cNvPr id="3" name="TextBox 3"/>
          <p:cNvSpPr txBox="1"/>
          <p:nvPr/>
        </p:nvSpPr>
        <p:spPr>
          <a:xfrm>
            <a:off x="0" y="2682400"/>
            <a:ext cx="18288000" cy="6324098"/>
          </a:xfrm>
          <a:prstGeom prst="rect">
            <a:avLst/>
          </a:prstGeom>
        </p:spPr>
        <p:txBody>
          <a:bodyPr lIns="0" tIns="0" rIns="0" bIns="0" rtlCol="0" anchor="t">
            <a:spAutoFit/>
          </a:bodyPr>
          <a:lstStyle/>
          <a:p>
            <a:pPr marL="776403" lvl="1" indent="-388202" algn="l">
              <a:lnSpc>
                <a:spcPts val="5034"/>
              </a:lnSpc>
              <a:buFont typeface="Arial"/>
              <a:buChar char="•"/>
            </a:pPr>
            <a:r>
              <a:rPr lang="en-US" sz="3596">
                <a:solidFill>
                  <a:srgbClr val="FFFFFF"/>
                </a:solidFill>
                <a:latin typeface="Lexend Deca"/>
                <a:ea typeface="Lexend Deca"/>
                <a:cs typeface="Lexend Deca"/>
                <a:sym typeface="Lexend Deca"/>
              </a:rPr>
              <a:t>Based on our analysis, we can create promotions suited for these demographics. For example, we can:</a:t>
            </a:r>
          </a:p>
          <a:p>
            <a:pPr marL="1552807" lvl="2" indent="-517602" algn="l">
              <a:lnSpc>
                <a:spcPts val="5034"/>
              </a:lnSpc>
              <a:buFont typeface="Arial"/>
              <a:buChar char="⚬"/>
            </a:pPr>
            <a:r>
              <a:rPr lang="en-US" sz="3596">
                <a:solidFill>
                  <a:srgbClr val="FFFFFF"/>
                </a:solidFill>
                <a:latin typeface="Lexend Deca"/>
                <a:ea typeface="Lexend Deca"/>
                <a:cs typeface="Lexend Deca"/>
                <a:sym typeface="Lexend Deca"/>
              </a:rPr>
              <a:t> alter the plane prices for the top 5 countries. </a:t>
            </a:r>
          </a:p>
          <a:p>
            <a:pPr marL="1552807" lvl="2" indent="-517602" algn="l">
              <a:lnSpc>
                <a:spcPts val="5034"/>
              </a:lnSpc>
              <a:buFont typeface="Arial"/>
              <a:buChar char="⚬"/>
            </a:pPr>
            <a:r>
              <a:rPr lang="en-US" sz="3596">
                <a:solidFill>
                  <a:srgbClr val="FFFFFF"/>
                </a:solidFill>
                <a:latin typeface="Lexend Deca"/>
                <a:ea typeface="Lexend Deca"/>
                <a:cs typeface="Lexend Deca"/>
                <a:sym typeface="Lexend Deca"/>
              </a:rPr>
              <a:t>create deals and promotions for activities that tourists aged 25-54 year old's prefer, such as sightseeing</a:t>
            </a:r>
          </a:p>
          <a:p>
            <a:pPr marL="1552807" lvl="2" indent="-517602" algn="l">
              <a:lnSpc>
                <a:spcPts val="5034"/>
              </a:lnSpc>
              <a:buFont typeface="Arial"/>
              <a:buChar char="⚬"/>
            </a:pPr>
            <a:r>
              <a:rPr lang="en-US" sz="3596">
                <a:solidFill>
                  <a:srgbClr val="FFFFFF"/>
                </a:solidFill>
                <a:latin typeface="Lexend Deca"/>
                <a:ea typeface="Lexend Deca"/>
                <a:cs typeface="Lexend Deca"/>
                <a:sym typeface="Lexend Deca"/>
              </a:rPr>
              <a:t> create these promotions when tourists are more likely to come, such as </a:t>
            </a:r>
            <a:r>
              <a:rPr lang="en-US" sz="3596" u="sng">
                <a:solidFill>
                  <a:srgbClr val="FFFFFF"/>
                </a:solidFill>
                <a:latin typeface="Lexend Deca"/>
                <a:ea typeface="Lexend Deca"/>
                <a:cs typeface="Lexend Deca"/>
                <a:sym typeface="Lexend Deca"/>
              </a:rPr>
              <a:t>July and December</a:t>
            </a:r>
            <a:r>
              <a:rPr lang="en-US" sz="3596">
                <a:solidFill>
                  <a:srgbClr val="FFFFFF"/>
                </a:solidFill>
                <a:latin typeface="Lexend Deca"/>
                <a:ea typeface="Lexend Deca"/>
                <a:cs typeface="Lexend Deca"/>
                <a:sym typeface="Lexend Deca"/>
              </a:rPr>
              <a:t>.</a:t>
            </a:r>
          </a:p>
          <a:p>
            <a:pPr marL="776403" lvl="1" indent="-388202" algn="l">
              <a:lnSpc>
                <a:spcPts val="5034"/>
              </a:lnSpc>
              <a:buFont typeface="Arial"/>
              <a:buChar char="•"/>
            </a:pPr>
            <a:r>
              <a:rPr lang="en-US" sz="3596">
                <a:solidFill>
                  <a:srgbClr val="FFFFFF"/>
                </a:solidFill>
                <a:latin typeface="Lexend Deca"/>
                <a:ea typeface="Lexend Deca"/>
                <a:cs typeface="Lexend Deca"/>
                <a:sym typeface="Lexend Deca"/>
              </a:rPr>
              <a:t>Doing so will attract more tourists to come to Singapore, hence increasing tourist arrival and receipt.</a:t>
            </a:r>
          </a:p>
          <a:p>
            <a:pPr algn="ctr">
              <a:lnSpc>
                <a:spcPts val="5034"/>
              </a:lnSpc>
              <a:spcBef>
                <a:spcPct val="0"/>
              </a:spcBef>
            </a:pPr>
            <a:endParaRPr lang="en-US" sz="3596">
              <a:solidFill>
                <a:srgbClr val="FFFFFF"/>
              </a:solidFill>
              <a:latin typeface="Lexend Deca"/>
              <a:ea typeface="Lexend Deca"/>
              <a:cs typeface="Lexend Deca"/>
              <a:sym typeface="Lexend Dec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58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142882" y="-5358759"/>
            <a:ext cx="28573765" cy="18648985"/>
          </a:xfrm>
          <a:prstGeom prst="rect">
            <a:avLst/>
          </a:prstGeom>
        </p:spPr>
      </p:pic>
      <p:grpSp>
        <p:nvGrpSpPr>
          <p:cNvPr id="3" name="Group 3"/>
          <p:cNvGrpSpPr/>
          <p:nvPr/>
        </p:nvGrpSpPr>
        <p:grpSpPr>
          <a:xfrm>
            <a:off x="1028700" y="2522774"/>
            <a:ext cx="16230600" cy="5439467"/>
            <a:chOff x="0" y="0"/>
            <a:chExt cx="3655013" cy="1224928"/>
          </a:xfrm>
        </p:grpSpPr>
        <p:sp>
          <p:nvSpPr>
            <p:cNvPr id="4" name="Freeform 4"/>
            <p:cNvSpPr/>
            <p:nvPr/>
          </p:nvSpPr>
          <p:spPr>
            <a:xfrm>
              <a:off x="0" y="0"/>
              <a:ext cx="3655013" cy="1224928"/>
            </a:xfrm>
            <a:custGeom>
              <a:avLst/>
              <a:gdLst/>
              <a:ahLst/>
              <a:cxnLst/>
              <a:rect l="l" t="t" r="r" b="b"/>
              <a:pathLst>
                <a:path w="3655013" h="1224928">
                  <a:moveTo>
                    <a:pt x="24327" y="0"/>
                  </a:moveTo>
                  <a:lnTo>
                    <a:pt x="3630686" y="0"/>
                  </a:lnTo>
                  <a:cubicBezTo>
                    <a:pt x="3644121" y="0"/>
                    <a:pt x="3655013" y="10891"/>
                    <a:pt x="3655013" y="24327"/>
                  </a:cubicBezTo>
                  <a:lnTo>
                    <a:pt x="3655013" y="1200602"/>
                  </a:lnTo>
                  <a:cubicBezTo>
                    <a:pt x="3655013" y="1207053"/>
                    <a:pt x="3652450" y="1213241"/>
                    <a:pt x="3647887" y="1217803"/>
                  </a:cubicBezTo>
                  <a:cubicBezTo>
                    <a:pt x="3643325" y="1222365"/>
                    <a:pt x="3637138" y="1224928"/>
                    <a:pt x="3630686" y="1224928"/>
                  </a:cubicBezTo>
                  <a:lnTo>
                    <a:pt x="24327" y="1224928"/>
                  </a:lnTo>
                  <a:cubicBezTo>
                    <a:pt x="10891" y="1224928"/>
                    <a:pt x="0" y="1214037"/>
                    <a:pt x="0" y="1200602"/>
                  </a:cubicBezTo>
                  <a:lnTo>
                    <a:pt x="0" y="24327"/>
                  </a:lnTo>
                  <a:cubicBezTo>
                    <a:pt x="0" y="10891"/>
                    <a:pt x="10891" y="0"/>
                    <a:pt x="24327" y="0"/>
                  </a:cubicBezTo>
                  <a:close/>
                </a:path>
              </a:pathLst>
            </a:custGeom>
            <a:solidFill>
              <a:srgbClr val="DA825B"/>
            </a:solidFill>
          </p:spPr>
          <p:txBody>
            <a:bodyPr/>
            <a:lstStyle/>
            <a:p>
              <a:endParaRPr lang="en-US"/>
            </a:p>
          </p:txBody>
        </p:sp>
        <p:sp>
          <p:nvSpPr>
            <p:cNvPr id="5" name="TextBox 5"/>
            <p:cNvSpPr txBox="1"/>
            <p:nvPr/>
          </p:nvSpPr>
          <p:spPr>
            <a:xfrm>
              <a:off x="0" y="-38100"/>
              <a:ext cx="3655013" cy="126302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807264" y="2198924"/>
            <a:ext cx="15174058" cy="5753123"/>
          </a:xfrm>
          <a:prstGeom prst="rect">
            <a:avLst/>
          </a:prstGeom>
        </p:spPr>
        <p:txBody>
          <a:bodyPr lIns="0" tIns="0" rIns="0" bIns="0" rtlCol="0" anchor="t">
            <a:spAutoFit/>
          </a:bodyPr>
          <a:lstStyle/>
          <a:p>
            <a:pPr algn="ctr">
              <a:lnSpc>
                <a:spcPts val="23098"/>
              </a:lnSpc>
            </a:pPr>
            <a:r>
              <a:rPr lang="en-US" sz="16499">
                <a:solidFill>
                  <a:srgbClr val="FFFFFF"/>
                </a:solidFill>
                <a:latin typeface="Futura Display"/>
                <a:ea typeface="Futura Display"/>
                <a:cs typeface="Futura Display"/>
                <a:sym typeface="Futura Display"/>
              </a:rPr>
              <a:t>DATA MINING GOAL: TOURIST SPENDINGS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9F581"/>
        </a:solidFill>
        <a:effectLst/>
      </p:bgPr>
    </p:bg>
    <p:spTree>
      <p:nvGrpSpPr>
        <p:cNvPr id="1" name=""/>
        <p:cNvGrpSpPr/>
        <p:nvPr/>
      </p:nvGrpSpPr>
      <p:grpSpPr>
        <a:xfrm>
          <a:off x="0" y="0"/>
          <a:ext cx="0" cy="0"/>
          <a:chOff x="0" y="0"/>
          <a:chExt cx="0" cy="0"/>
        </a:xfrm>
      </p:grpSpPr>
      <p:sp>
        <p:nvSpPr>
          <p:cNvPr id="2" name="TextBox 2"/>
          <p:cNvSpPr txBox="1"/>
          <p:nvPr/>
        </p:nvSpPr>
        <p:spPr>
          <a:xfrm>
            <a:off x="1521145" y="1000222"/>
            <a:ext cx="15245709"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TOURIST SPENDINGS</a:t>
            </a:r>
          </a:p>
        </p:txBody>
      </p:sp>
      <p:sp>
        <p:nvSpPr>
          <p:cNvPr id="3" name="TextBox 3"/>
          <p:cNvSpPr txBox="1"/>
          <p:nvPr/>
        </p:nvSpPr>
        <p:spPr>
          <a:xfrm>
            <a:off x="793129" y="2986513"/>
            <a:ext cx="16701741" cy="6271787"/>
          </a:xfrm>
          <a:prstGeom prst="rect">
            <a:avLst/>
          </a:prstGeom>
        </p:spPr>
        <p:txBody>
          <a:bodyPr lIns="0" tIns="0" rIns="0" bIns="0" rtlCol="0" anchor="t">
            <a:spAutoFit/>
          </a:bodyPr>
          <a:lstStyle/>
          <a:p>
            <a:pPr algn="l">
              <a:lnSpc>
                <a:spcPts val="5010"/>
              </a:lnSpc>
            </a:pPr>
            <a:r>
              <a:rPr lang="en-US" sz="3579">
                <a:solidFill>
                  <a:srgbClr val="000000"/>
                </a:solidFill>
                <a:latin typeface="Lexend Deca"/>
                <a:ea typeface="Lexend Deca"/>
                <a:cs typeface="Lexend Deca"/>
                <a:sym typeface="Lexend Deca"/>
              </a:rPr>
              <a:t>Our second data mining goal is to identify the factors that tourist often spend money on. This includes</a:t>
            </a:r>
          </a:p>
          <a:p>
            <a:pPr marL="772761" lvl="1" indent="-386381" algn="l">
              <a:lnSpc>
                <a:spcPts val="5010"/>
              </a:lnSpc>
              <a:buAutoNum type="arabicPeriod"/>
            </a:pPr>
            <a:r>
              <a:rPr lang="en-US" sz="3579">
                <a:solidFill>
                  <a:srgbClr val="000000"/>
                </a:solidFill>
                <a:latin typeface="Lexend Deca"/>
                <a:ea typeface="Lexend Deca"/>
                <a:cs typeface="Lexend Deca"/>
                <a:sym typeface="Lexend Deca"/>
              </a:rPr>
              <a:t>identifying what are the top earning categories, (accommodation, shopping, F&amp;B)</a:t>
            </a:r>
          </a:p>
          <a:p>
            <a:pPr marL="772761" lvl="1" indent="-386381" algn="l">
              <a:lnSpc>
                <a:spcPts val="5010"/>
              </a:lnSpc>
              <a:buAutoNum type="arabicPeriod"/>
            </a:pPr>
            <a:r>
              <a:rPr lang="en-US" sz="3579">
                <a:solidFill>
                  <a:srgbClr val="000000"/>
                </a:solidFill>
                <a:latin typeface="Lexend Deca"/>
                <a:ea typeface="Lexend Deca"/>
                <a:cs typeface="Lexend Deca"/>
                <a:sym typeface="Lexend Deca"/>
              </a:rPr>
              <a:t>identifying the time span of the year which has the highest spendings by tourists.</a:t>
            </a:r>
          </a:p>
          <a:p>
            <a:pPr algn="l">
              <a:lnSpc>
                <a:spcPts val="5010"/>
              </a:lnSpc>
            </a:pPr>
            <a:r>
              <a:rPr lang="en-US" sz="3579">
                <a:solidFill>
                  <a:srgbClr val="000000"/>
                </a:solidFill>
                <a:latin typeface="Lexend Deca"/>
                <a:ea typeface="Lexend Deca"/>
                <a:cs typeface="Lexend Deca"/>
                <a:sym typeface="Lexend Deca"/>
              </a:rPr>
              <a:t>By doing this, we can alter the prices of said popular categories (Promotions/Discounts) during peak tourist revenue periods, attracting even more tourists to come to Singapore, or profit even more.</a:t>
            </a:r>
          </a:p>
          <a:p>
            <a:pPr algn="l">
              <a:lnSpc>
                <a:spcPts val="5010"/>
              </a:lnSpc>
            </a:pPr>
            <a:endParaRPr lang="en-US" sz="3579">
              <a:solidFill>
                <a:srgbClr val="000000"/>
              </a:solidFill>
              <a:latin typeface="Lexend Deca"/>
              <a:ea typeface="Lexend Deca"/>
              <a:cs typeface="Lexend Deca"/>
              <a:sym typeface="Lexend Dec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70130E-8EA1-3B26-8E74-7C19EA903D58}"/>
              </a:ext>
            </a:extLst>
          </p:cNvPr>
          <p:cNvPicPr>
            <a:picLocks noChangeAspect="1"/>
          </p:cNvPicPr>
          <p:nvPr/>
        </p:nvPicPr>
        <p:blipFill>
          <a:blip r:embed="rId2"/>
          <a:stretch>
            <a:fillRect/>
          </a:stretch>
        </p:blipFill>
        <p:spPr>
          <a:xfrm>
            <a:off x="0" y="20880"/>
            <a:ext cx="18288000" cy="102452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9F581"/>
        </a:solidFill>
        <a:effectLst/>
      </p:bgPr>
    </p:bg>
    <p:spTree>
      <p:nvGrpSpPr>
        <p:cNvPr id="1" name=""/>
        <p:cNvGrpSpPr/>
        <p:nvPr/>
      </p:nvGrpSpPr>
      <p:grpSpPr>
        <a:xfrm>
          <a:off x="0" y="0"/>
          <a:ext cx="0" cy="0"/>
          <a:chOff x="0" y="0"/>
          <a:chExt cx="0" cy="0"/>
        </a:xfrm>
      </p:grpSpPr>
      <p:grpSp>
        <p:nvGrpSpPr>
          <p:cNvPr id="2" name="Group 2"/>
          <p:cNvGrpSpPr/>
          <p:nvPr/>
        </p:nvGrpSpPr>
        <p:grpSpPr>
          <a:xfrm>
            <a:off x="584187" y="4251564"/>
            <a:ext cx="8559813" cy="4313555"/>
            <a:chOff x="0" y="0"/>
            <a:chExt cx="1761914" cy="887883"/>
          </a:xfrm>
        </p:grpSpPr>
        <p:sp>
          <p:nvSpPr>
            <p:cNvPr id="3" name="Freeform 3"/>
            <p:cNvSpPr/>
            <p:nvPr/>
          </p:nvSpPr>
          <p:spPr>
            <a:xfrm>
              <a:off x="0" y="0"/>
              <a:ext cx="1761914" cy="887883"/>
            </a:xfrm>
            <a:custGeom>
              <a:avLst/>
              <a:gdLst/>
              <a:ahLst/>
              <a:cxnLst/>
              <a:rect l="l" t="t" r="r" b="b"/>
              <a:pathLst>
                <a:path w="1761914" h="887883">
                  <a:moveTo>
                    <a:pt x="46127" y="0"/>
                  </a:moveTo>
                  <a:lnTo>
                    <a:pt x="1715788" y="0"/>
                  </a:lnTo>
                  <a:cubicBezTo>
                    <a:pt x="1741263" y="0"/>
                    <a:pt x="1761914" y="20652"/>
                    <a:pt x="1761914" y="46127"/>
                  </a:cubicBezTo>
                  <a:lnTo>
                    <a:pt x="1761914" y="841756"/>
                  </a:lnTo>
                  <a:cubicBezTo>
                    <a:pt x="1761914" y="867232"/>
                    <a:pt x="1741263" y="887883"/>
                    <a:pt x="1715788" y="887883"/>
                  </a:cubicBezTo>
                  <a:lnTo>
                    <a:pt x="46127" y="887883"/>
                  </a:lnTo>
                  <a:cubicBezTo>
                    <a:pt x="20652" y="887883"/>
                    <a:pt x="0" y="867232"/>
                    <a:pt x="0" y="841756"/>
                  </a:cubicBezTo>
                  <a:lnTo>
                    <a:pt x="0" y="46127"/>
                  </a:lnTo>
                  <a:cubicBezTo>
                    <a:pt x="0" y="20652"/>
                    <a:pt x="20652" y="0"/>
                    <a:pt x="46127" y="0"/>
                  </a:cubicBezTo>
                  <a:close/>
                </a:path>
              </a:pathLst>
            </a:custGeom>
            <a:solidFill>
              <a:srgbClr val="FFFFFF"/>
            </a:solidFill>
          </p:spPr>
          <p:txBody>
            <a:bodyPr/>
            <a:lstStyle/>
            <a:p>
              <a:endParaRPr lang="en-US"/>
            </a:p>
          </p:txBody>
        </p:sp>
        <p:sp>
          <p:nvSpPr>
            <p:cNvPr id="4" name="TextBox 4"/>
            <p:cNvSpPr txBox="1"/>
            <p:nvPr/>
          </p:nvSpPr>
          <p:spPr>
            <a:xfrm>
              <a:off x="0" y="-38100"/>
              <a:ext cx="1761914" cy="925983"/>
            </a:xfrm>
            <a:prstGeom prst="rect">
              <a:avLst/>
            </a:prstGeom>
          </p:spPr>
          <p:txBody>
            <a:bodyPr lIns="55577" tIns="55577" rIns="55577" bIns="55577" rtlCol="0" anchor="ctr"/>
            <a:lstStyle/>
            <a:p>
              <a:pPr algn="ctr">
                <a:lnSpc>
                  <a:spcPts val="2659"/>
                </a:lnSpc>
                <a:spcBef>
                  <a:spcPct val="0"/>
                </a:spcBef>
              </a:pPr>
              <a:endParaRPr/>
            </a:p>
          </p:txBody>
        </p:sp>
      </p:grpSp>
      <p:sp>
        <p:nvSpPr>
          <p:cNvPr id="5" name="Freeform 5"/>
          <p:cNvSpPr/>
          <p:nvPr/>
        </p:nvSpPr>
        <p:spPr>
          <a:xfrm>
            <a:off x="806444" y="4472930"/>
            <a:ext cx="8115300" cy="3893433"/>
          </a:xfrm>
          <a:custGeom>
            <a:avLst/>
            <a:gdLst/>
            <a:ahLst/>
            <a:cxnLst/>
            <a:rect l="l" t="t" r="r" b="b"/>
            <a:pathLst>
              <a:path w="8115300" h="3893433">
                <a:moveTo>
                  <a:pt x="0" y="0"/>
                </a:moveTo>
                <a:lnTo>
                  <a:pt x="8115300" y="0"/>
                </a:lnTo>
                <a:lnTo>
                  <a:pt x="8115300" y="3893434"/>
                </a:lnTo>
                <a:lnTo>
                  <a:pt x="0" y="3893434"/>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2646014" y="413184"/>
            <a:ext cx="12995972"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ANALYSIS</a:t>
            </a:r>
          </a:p>
        </p:txBody>
      </p:sp>
      <p:sp>
        <p:nvSpPr>
          <p:cNvPr id="7" name="TextBox 7"/>
          <p:cNvSpPr txBox="1"/>
          <p:nvPr/>
        </p:nvSpPr>
        <p:spPr>
          <a:xfrm>
            <a:off x="9349635" y="2482540"/>
            <a:ext cx="8683257" cy="6365117"/>
          </a:xfrm>
          <a:prstGeom prst="rect">
            <a:avLst/>
          </a:prstGeom>
        </p:spPr>
        <p:txBody>
          <a:bodyPr lIns="0" tIns="0" rIns="0" bIns="0" rtlCol="0" anchor="t">
            <a:spAutoFit/>
          </a:bodyPr>
          <a:lstStyle/>
          <a:p>
            <a:pPr marL="708117" lvl="1" indent="-354059" algn="ctr">
              <a:lnSpc>
                <a:spcPts val="4591"/>
              </a:lnSpc>
              <a:buFont typeface="Arial"/>
              <a:buChar char="•"/>
            </a:pPr>
            <a:r>
              <a:rPr lang="en-US" sz="3279">
                <a:solidFill>
                  <a:srgbClr val="000000"/>
                </a:solidFill>
                <a:latin typeface="Lexend Deca"/>
                <a:ea typeface="Lexend Deca"/>
                <a:cs typeface="Lexend Deca"/>
                <a:sym typeface="Lexend Deca"/>
              </a:rPr>
              <a:t>Accommodation occupies </a:t>
            </a:r>
            <a:r>
              <a:rPr lang="en-US" sz="3279" u="sng">
                <a:solidFill>
                  <a:srgbClr val="000000"/>
                </a:solidFill>
                <a:latin typeface="Lexend Deca"/>
                <a:ea typeface="Lexend Deca"/>
                <a:cs typeface="Lexend Deca"/>
                <a:sym typeface="Lexend Deca"/>
              </a:rPr>
              <a:t>21.24%</a:t>
            </a:r>
            <a:r>
              <a:rPr lang="en-US" sz="3279">
                <a:solidFill>
                  <a:srgbClr val="000000"/>
                </a:solidFill>
                <a:latin typeface="Lexend Deca"/>
                <a:ea typeface="Lexend Deca"/>
                <a:cs typeface="Lexend Deca"/>
                <a:sym typeface="Lexend Deca"/>
              </a:rPr>
              <a:t> of total Tourist Spendings, </a:t>
            </a:r>
            <a:r>
              <a:rPr lang="en-US" sz="3279" u="sng">
                <a:solidFill>
                  <a:srgbClr val="000000"/>
                </a:solidFill>
                <a:latin typeface="Lexend Deca"/>
                <a:ea typeface="Lexend Deca"/>
                <a:cs typeface="Lexend Deca"/>
                <a:sym typeface="Lexend Deca"/>
              </a:rPr>
              <a:t>ranking 2nd</a:t>
            </a:r>
            <a:r>
              <a:rPr lang="en-US" sz="3279">
                <a:solidFill>
                  <a:srgbClr val="000000"/>
                </a:solidFill>
                <a:latin typeface="Lexend Deca"/>
                <a:ea typeface="Lexend Deca"/>
                <a:cs typeface="Lexend Deca"/>
                <a:sym typeface="Lexend Deca"/>
              </a:rPr>
              <a:t> overall against the other Sectors, 1st being “others”.</a:t>
            </a:r>
          </a:p>
          <a:p>
            <a:pPr algn="ctr">
              <a:lnSpc>
                <a:spcPts val="4591"/>
              </a:lnSpc>
            </a:pPr>
            <a:endParaRPr lang="en-US" sz="3279">
              <a:solidFill>
                <a:srgbClr val="000000"/>
              </a:solidFill>
              <a:latin typeface="Lexend Deca"/>
              <a:ea typeface="Lexend Deca"/>
              <a:cs typeface="Lexend Deca"/>
              <a:sym typeface="Lexend Deca"/>
            </a:endParaRPr>
          </a:p>
          <a:p>
            <a:pPr marL="708117" lvl="1" indent="-354059" algn="ctr">
              <a:lnSpc>
                <a:spcPts val="4591"/>
              </a:lnSpc>
              <a:buFont typeface="Arial"/>
              <a:buChar char="•"/>
            </a:pPr>
            <a:r>
              <a:rPr lang="en-US" sz="3279">
                <a:solidFill>
                  <a:srgbClr val="000000"/>
                </a:solidFill>
                <a:latin typeface="Lexend Deca"/>
                <a:ea typeface="Lexend Deca"/>
                <a:cs typeface="Lexend Deca"/>
                <a:sym typeface="Lexend Deca"/>
              </a:rPr>
              <a:t> However, </a:t>
            </a:r>
            <a:r>
              <a:rPr lang="en-US" sz="3279" u="sng">
                <a:solidFill>
                  <a:srgbClr val="000000"/>
                </a:solidFill>
                <a:latin typeface="Lexend Deca"/>
                <a:ea typeface="Lexend Deca"/>
                <a:cs typeface="Lexend Deca"/>
                <a:sym typeface="Lexend Deca"/>
              </a:rPr>
              <a:t>“Others” consists of multiple categories</a:t>
            </a:r>
            <a:r>
              <a:rPr lang="en-US" sz="3279">
                <a:solidFill>
                  <a:srgbClr val="000000"/>
                </a:solidFill>
                <a:latin typeface="Lexend Deca"/>
                <a:ea typeface="Lexend Deca"/>
                <a:cs typeface="Lexend Deca"/>
                <a:sym typeface="Lexend Deca"/>
              </a:rPr>
              <a:t> and should not be considered in this analysis.</a:t>
            </a:r>
          </a:p>
          <a:p>
            <a:pPr algn="ctr">
              <a:lnSpc>
                <a:spcPts val="4591"/>
              </a:lnSpc>
            </a:pPr>
            <a:endParaRPr lang="en-US" sz="3279">
              <a:solidFill>
                <a:srgbClr val="000000"/>
              </a:solidFill>
              <a:latin typeface="Lexend Deca"/>
              <a:ea typeface="Lexend Deca"/>
              <a:cs typeface="Lexend Deca"/>
              <a:sym typeface="Lexend Deca"/>
            </a:endParaRPr>
          </a:p>
          <a:p>
            <a:pPr marL="708117" lvl="1" indent="-354059" algn="ctr">
              <a:lnSpc>
                <a:spcPts val="4591"/>
              </a:lnSpc>
              <a:buFont typeface="Arial"/>
              <a:buChar char="•"/>
            </a:pPr>
            <a:r>
              <a:rPr lang="en-US" sz="3279">
                <a:solidFill>
                  <a:srgbClr val="000000"/>
                </a:solidFill>
                <a:latin typeface="Lexend Deca"/>
                <a:ea typeface="Lexend Deca"/>
                <a:cs typeface="Lexend Deca"/>
                <a:sym typeface="Lexend Deca"/>
              </a:rPr>
              <a:t>As such, we will be focusing on </a:t>
            </a:r>
            <a:r>
              <a:rPr lang="en-US" sz="3279" u="sng">
                <a:solidFill>
                  <a:srgbClr val="000000"/>
                </a:solidFill>
                <a:latin typeface="Lexend Deca"/>
                <a:ea typeface="Lexend Deca"/>
                <a:cs typeface="Lexend Deca"/>
                <a:sym typeface="Lexend Deca"/>
              </a:rPr>
              <a:t>Accommodation</a:t>
            </a:r>
            <a:r>
              <a:rPr lang="en-US" sz="3279">
                <a:solidFill>
                  <a:srgbClr val="000000"/>
                </a:solidFill>
                <a:latin typeface="Lexend Deca"/>
                <a:ea typeface="Lexend Deca"/>
                <a:cs typeface="Lexend Deca"/>
                <a:sym typeface="Lexend Deca"/>
              </a:rPr>
              <a:t>.</a:t>
            </a:r>
          </a:p>
        </p:txBody>
      </p:sp>
      <p:sp>
        <p:nvSpPr>
          <p:cNvPr id="8" name="TextBox 8"/>
          <p:cNvSpPr txBox="1"/>
          <p:nvPr/>
        </p:nvSpPr>
        <p:spPr>
          <a:xfrm>
            <a:off x="806444" y="2463490"/>
            <a:ext cx="8162214" cy="1426704"/>
          </a:xfrm>
          <a:prstGeom prst="rect">
            <a:avLst/>
          </a:prstGeom>
        </p:spPr>
        <p:txBody>
          <a:bodyPr lIns="0" tIns="0" rIns="0" bIns="0" rtlCol="0" anchor="t">
            <a:spAutoFit/>
          </a:bodyPr>
          <a:lstStyle/>
          <a:p>
            <a:pPr algn="ctr">
              <a:lnSpc>
                <a:spcPts val="5767"/>
              </a:lnSpc>
            </a:pPr>
            <a:r>
              <a:rPr lang="en-US" sz="4119">
                <a:solidFill>
                  <a:srgbClr val="000000"/>
                </a:solidFill>
                <a:latin typeface="Lexend Deca"/>
                <a:ea typeface="Lexend Deca"/>
                <a:cs typeface="Lexend Deca"/>
                <a:sym typeface="Lexend Deca"/>
              </a:rPr>
              <a:t>Distribution of top factors affecting Tourist Spendings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9F581"/>
        </a:solidFill>
        <a:effectLst/>
      </p:bgPr>
    </p:bg>
    <p:spTree>
      <p:nvGrpSpPr>
        <p:cNvPr id="1" name=""/>
        <p:cNvGrpSpPr/>
        <p:nvPr/>
      </p:nvGrpSpPr>
      <p:grpSpPr>
        <a:xfrm>
          <a:off x="0" y="0"/>
          <a:ext cx="0" cy="0"/>
          <a:chOff x="0" y="0"/>
          <a:chExt cx="0" cy="0"/>
        </a:xfrm>
      </p:grpSpPr>
      <p:grpSp>
        <p:nvGrpSpPr>
          <p:cNvPr id="2" name="Group 2"/>
          <p:cNvGrpSpPr/>
          <p:nvPr/>
        </p:nvGrpSpPr>
        <p:grpSpPr>
          <a:xfrm>
            <a:off x="3501944" y="2989843"/>
            <a:ext cx="11429689" cy="4410524"/>
            <a:chOff x="0" y="0"/>
            <a:chExt cx="2352637" cy="907843"/>
          </a:xfrm>
        </p:grpSpPr>
        <p:sp>
          <p:nvSpPr>
            <p:cNvPr id="3" name="Freeform 3"/>
            <p:cNvSpPr/>
            <p:nvPr/>
          </p:nvSpPr>
          <p:spPr>
            <a:xfrm>
              <a:off x="0" y="0"/>
              <a:ext cx="2352637" cy="907843"/>
            </a:xfrm>
            <a:custGeom>
              <a:avLst/>
              <a:gdLst/>
              <a:ahLst/>
              <a:cxnLst/>
              <a:rect l="l" t="t" r="r" b="b"/>
              <a:pathLst>
                <a:path w="2352637" h="907843">
                  <a:moveTo>
                    <a:pt x="34545" y="0"/>
                  </a:moveTo>
                  <a:lnTo>
                    <a:pt x="2318092" y="0"/>
                  </a:lnTo>
                  <a:cubicBezTo>
                    <a:pt x="2327254" y="0"/>
                    <a:pt x="2336041" y="3640"/>
                    <a:pt x="2342519" y="10118"/>
                  </a:cubicBezTo>
                  <a:cubicBezTo>
                    <a:pt x="2348998" y="16596"/>
                    <a:pt x="2352637" y="25383"/>
                    <a:pt x="2352637" y="34545"/>
                  </a:cubicBezTo>
                  <a:lnTo>
                    <a:pt x="2352637" y="873298"/>
                  </a:lnTo>
                  <a:cubicBezTo>
                    <a:pt x="2352637" y="892377"/>
                    <a:pt x="2337171" y="907843"/>
                    <a:pt x="2318092" y="907843"/>
                  </a:cubicBezTo>
                  <a:lnTo>
                    <a:pt x="34545" y="907843"/>
                  </a:lnTo>
                  <a:cubicBezTo>
                    <a:pt x="25383" y="907843"/>
                    <a:pt x="16596" y="904203"/>
                    <a:pt x="10118" y="897725"/>
                  </a:cubicBezTo>
                  <a:cubicBezTo>
                    <a:pt x="3640" y="891247"/>
                    <a:pt x="0" y="882460"/>
                    <a:pt x="0" y="873298"/>
                  </a:cubicBezTo>
                  <a:lnTo>
                    <a:pt x="0" y="34545"/>
                  </a:lnTo>
                  <a:cubicBezTo>
                    <a:pt x="0" y="25383"/>
                    <a:pt x="3640" y="16596"/>
                    <a:pt x="10118" y="10118"/>
                  </a:cubicBezTo>
                  <a:cubicBezTo>
                    <a:pt x="16596" y="3640"/>
                    <a:pt x="25383" y="0"/>
                    <a:pt x="34545" y="0"/>
                  </a:cubicBezTo>
                  <a:close/>
                </a:path>
              </a:pathLst>
            </a:custGeom>
            <a:solidFill>
              <a:srgbClr val="FFFFFF"/>
            </a:solidFill>
          </p:spPr>
          <p:txBody>
            <a:bodyPr/>
            <a:lstStyle/>
            <a:p>
              <a:endParaRPr lang="en-US"/>
            </a:p>
          </p:txBody>
        </p:sp>
        <p:sp>
          <p:nvSpPr>
            <p:cNvPr id="4" name="TextBox 4"/>
            <p:cNvSpPr txBox="1"/>
            <p:nvPr/>
          </p:nvSpPr>
          <p:spPr>
            <a:xfrm>
              <a:off x="0" y="-38100"/>
              <a:ext cx="2352637" cy="945943"/>
            </a:xfrm>
            <a:prstGeom prst="rect">
              <a:avLst/>
            </a:prstGeom>
          </p:spPr>
          <p:txBody>
            <a:bodyPr lIns="55577" tIns="55577" rIns="55577" bIns="55577" rtlCol="0" anchor="ctr"/>
            <a:lstStyle/>
            <a:p>
              <a:pPr algn="ctr">
                <a:lnSpc>
                  <a:spcPts val="2659"/>
                </a:lnSpc>
                <a:spcBef>
                  <a:spcPct val="0"/>
                </a:spcBef>
              </a:pPr>
              <a:endParaRPr/>
            </a:p>
          </p:txBody>
        </p:sp>
      </p:grpSp>
      <p:sp>
        <p:nvSpPr>
          <p:cNvPr id="5" name="Freeform 5"/>
          <p:cNvSpPr/>
          <p:nvPr/>
        </p:nvSpPr>
        <p:spPr>
          <a:xfrm>
            <a:off x="3747578" y="3154124"/>
            <a:ext cx="10938421" cy="4081961"/>
          </a:xfrm>
          <a:custGeom>
            <a:avLst/>
            <a:gdLst/>
            <a:ahLst/>
            <a:cxnLst/>
            <a:rect l="l" t="t" r="r" b="b"/>
            <a:pathLst>
              <a:path w="10938421" h="4081961">
                <a:moveTo>
                  <a:pt x="0" y="0"/>
                </a:moveTo>
                <a:lnTo>
                  <a:pt x="10938421" y="0"/>
                </a:lnTo>
                <a:lnTo>
                  <a:pt x="10938421" y="4081961"/>
                </a:lnTo>
                <a:lnTo>
                  <a:pt x="0" y="4081961"/>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2646014" y="413184"/>
            <a:ext cx="12995972"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ANALYSIS</a:t>
            </a:r>
          </a:p>
        </p:txBody>
      </p:sp>
      <p:sp>
        <p:nvSpPr>
          <p:cNvPr id="7" name="TextBox 7"/>
          <p:cNvSpPr txBox="1"/>
          <p:nvPr/>
        </p:nvSpPr>
        <p:spPr>
          <a:xfrm>
            <a:off x="4599402" y="1844241"/>
            <a:ext cx="9154571" cy="1145602"/>
          </a:xfrm>
          <a:prstGeom prst="rect">
            <a:avLst/>
          </a:prstGeom>
        </p:spPr>
        <p:txBody>
          <a:bodyPr lIns="0" tIns="0" rIns="0" bIns="0" rtlCol="0" anchor="t">
            <a:spAutoFit/>
          </a:bodyPr>
          <a:lstStyle/>
          <a:p>
            <a:pPr algn="ctr">
              <a:lnSpc>
                <a:spcPts val="4581"/>
              </a:lnSpc>
            </a:pPr>
            <a:r>
              <a:rPr lang="en-US" sz="3272">
                <a:solidFill>
                  <a:srgbClr val="000000"/>
                </a:solidFill>
                <a:latin typeface="Canva Sans Bold"/>
                <a:ea typeface="Canva Sans Bold"/>
                <a:cs typeface="Canva Sans Bold"/>
                <a:sym typeface="Canva Sans Bold"/>
              </a:rPr>
              <a:t>The graph below showcases Accommodation Revenue in Singapore.</a:t>
            </a:r>
          </a:p>
        </p:txBody>
      </p:sp>
      <p:sp>
        <p:nvSpPr>
          <p:cNvPr id="8" name="TextBox 8"/>
          <p:cNvSpPr txBox="1"/>
          <p:nvPr/>
        </p:nvSpPr>
        <p:spPr>
          <a:xfrm>
            <a:off x="677049" y="7343217"/>
            <a:ext cx="16999277" cy="2150000"/>
          </a:xfrm>
          <a:prstGeom prst="rect">
            <a:avLst/>
          </a:prstGeom>
        </p:spPr>
        <p:txBody>
          <a:bodyPr lIns="0" tIns="0" rIns="0" bIns="0" rtlCol="0" anchor="t">
            <a:spAutoFit/>
          </a:bodyPr>
          <a:lstStyle/>
          <a:p>
            <a:pPr marL="670225" lvl="1" indent="-335113" algn="l">
              <a:lnSpc>
                <a:spcPts val="4346"/>
              </a:lnSpc>
              <a:buFont typeface="Arial"/>
              <a:buChar char="•"/>
            </a:pPr>
            <a:r>
              <a:rPr lang="en-US" sz="3104">
                <a:solidFill>
                  <a:srgbClr val="000000"/>
                </a:solidFill>
                <a:latin typeface="Lexend Deca"/>
                <a:ea typeface="Lexend Deca"/>
                <a:cs typeface="Lexend Deca"/>
                <a:sym typeface="Lexend Deca"/>
              </a:rPr>
              <a:t>Accommodation revenue has been on a steady trend until 2019 (13440M, pre-covid).</a:t>
            </a:r>
          </a:p>
          <a:p>
            <a:pPr marL="670225" lvl="1" indent="-335113" algn="l">
              <a:lnSpc>
                <a:spcPts val="4346"/>
              </a:lnSpc>
              <a:buFont typeface="Arial"/>
              <a:buChar char="•"/>
            </a:pPr>
            <a:r>
              <a:rPr lang="en-US" sz="3104">
                <a:solidFill>
                  <a:srgbClr val="000000"/>
                </a:solidFill>
                <a:latin typeface="Lexend Deca"/>
                <a:ea typeface="Lexend Deca"/>
                <a:cs typeface="Lexend Deca"/>
                <a:sym typeface="Lexend Deca"/>
              </a:rPr>
              <a:t>Dropped due to covid-19 the lowest being in 2021 (1231M, lock-down).</a:t>
            </a:r>
          </a:p>
          <a:p>
            <a:pPr marL="670225" lvl="1" indent="-335113" algn="l">
              <a:lnSpc>
                <a:spcPts val="4346"/>
              </a:lnSpc>
              <a:buFont typeface="Arial"/>
              <a:buChar char="•"/>
            </a:pPr>
            <a:r>
              <a:rPr lang="en-US" sz="3104">
                <a:solidFill>
                  <a:srgbClr val="000000"/>
                </a:solidFill>
                <a:latin typeface="Lexend Deca"/>
                <a:ea typeface="Lexend Deca"/>
                <a:cs typeface="Lexend Deca"/>
                <a:sym typeface="Lexend Deca"/>
              </a:rPr>
              <a:t>Exponential growth after 2021 reaching back to pre-covid levels during 2023 (10849M, post-covid).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9F581"/>
        </a:solidFill>
        <a:effectLst/>
      </p:bgPr>
    </p:bg>
    <p:spTree>
      <p:nvGrpSpPr>
        <p:cNvPr id="1" name=""/>
        <p:cNvGrpSpPr/>
        <p:nvPr/>
      </p:nvGrpSpPr>
      <p:grpSpPr>
        <a:xfrm>
          <a:off x="0" y="0"/>
          <a:ext cx="0" cy="0"/>
          <a:chOff x="0" y="0"/>
          <a:chExt cx="0" cy="0"/>
        </a:xfrm>
      </p:grpSpPr>
      <p:grpSp>
        <p:nvGrpSpPr>
          <p:cNvPr id="2" name="Group 2"/>
          <p:cNvGrpSpPr/>
          <p:nvPr/>
        </p:nvGrpSpPr>
        <p:grpSpPr>
          <a:xfrm>
            <a:off x="663025" y="3594778"/>
            <a:ext cx="9391273" cy="5663522"/>
            <a:chOff x="0" y="0"/>
            <a:chExt cx="2224564" cy="1341551"/>
          </a:xfrm>
        </p:grpSpPr>
        <p:sp>
          <p:nvSpPr>
            <p:cNvPr id="3" name="Freeform 3"/>
            <p:cNvSpPr/>
            <p:nvPr/>
          </p:nvSpPr>
          <p:spPr>
            <a:xfrm>
              <a:off x="0" y="0"/>
              <a:ext cx="2224564" cy="1341550"/>
            </a:xfrm>
            <a:custGeom>
              <a:avLst/>
              <a:gdLst/>
              <a:ahLst/>
              <a:cxnLst/>
              <a:rect l="l" t="t" r="r" b="b"/>
              <a:pathLst>
                <a:path w="2224564" h="1341550">
                  <a:moveTo>
                    <a:pt x="42043" y="0"/>
                  </a:moveTo>
                  <a:lnTo>
                    <a:pt x="2182521" y="0"/>
                  </a:lnTo>
                  <a:cubicBezTo>
                    <a:pt x="2205741" y="0"/>
                    <a:pt x="2224564" y="18823"/>
                    <a:pt x="2224564" y="42043"/>
                  </a:cubicBezTo>
                  <a:lnTo>
                    <a:pt x="2224564" y="1299507"/>
                  </a:lnTo>
                  <a:cubicBezTo>
                    <a:pt x="2224564" y="1322727"/>
                    <a:pt x="2205741" y="1341550"/>
                    <a:pt x="2182521" y="1341550"/>
                  </a:cubicBezTo>
                  <a:lnTo>
                    <a:pt x="42043" y="1341550"/>
                  </a:lnTo>
                  <a:cubicBezTo>
                    <a:pt x="18823" y="1341550"/>
                    <a:pt x="0" y="1322727"/>
                    <a:pt x="0" y="1299507"/>
                  </a:cubicBezTo>
                  <a:lnTo>
                    <a:pt x="0" y="42043"/>
                  </a:lnTo>
                  <a:cubicBezTo>
                    <a:pt x="0" y="18823"/>
                    <a:pt x="18823" y="0"/>
                    <a:pt x="42043" y="0"/>
                  </a:cubicBezTo>
                  <a:close/>
                </a:path>
              </a:pathLst>
            </a:custGeom>
            <a:solidFill>
              <a:srgbClr val="FFFFFF"/>
            </a:solidFill>
          </p:spPr>
          <p:txBody>
            <a:bodyPr/>
            <a:lstStyle/>
            <a:p>
              <a:endParaRPr lang="en-US"/>
            </a:p>
          </p:txBody>
        </p:sp>
        <p:sp>
          <p:nvSpPr>
            <p:cNvPr id="4" name="TextBox 4"/>
            <p:cNvSpPr txBox="1"/>
            <p:nvPr/>
          </p:nvSpPr>
          <p:spPr>
            <a:xfrm>
              <a:off x="0" y="-38100"/>
              <a:ext cx="2224564" cy="1379651"/>
            </a:xfrm>
            <a:prstGeom prst="rect">
              <a:avLst/>
            </a:prstGeom>
          </p:spPr>
          <p:txBody>
            <a:bodyPr lIns="55577" tIns="55577" rIns="55577" bIns="55577" rtlCol="0" anchor="ctr"/>
            <a:lstStyle/>
            <a:p>
              <a:pPr algn="ctr">
                <a:lnSpc>
                  <a:spcPts val="2659"/>
                </a:lnSpc>
                <a:spcBef>
                  <a:spcPct val="0"/>
                </a:spcBef>
              </a:pPr>
              <a:endParaRPr/>
            </a:p>
          </p:txBody>
        </p:sp>
      </p:grpSp>
      <p:sp>
        <p:nvSpPr>
          <p:cNvPr id="5" name="Freeform 5"/>
          <p:cNvSpPr/>
          <p:nvPr/>
        </p:nvSpPr>
        <p:spPr>
          <a:xfrm>
            <a:off x="919655" y="3749790"/>
            <a:ext cx="8799671" cy="5508510"/>
          </a:xfrm>
          <a:custGeom>
            <a:avLst/>
            <a:gdLst/>
            <a:ahLst/>
            <a:cxnLst/>
            <a:rect l="l" t="t" r="r" b="b"/>
            <a:pathLst>
              <a:path w="8799671" h="5508510">
                <a:moveTo>
                  <a:pt x="0" y="0"/>
                </a:moveTo>
                <a:lnTo>
                  <a:pt x="8799671" y="0"/>
                </a:lnTo>
                <a:lnTo>
                  <a:pt x="8799671" y="5508510"/>
                </a:lnTo>
                <a:lnTo>
                  <a:pt x="0" y="5508510"/>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2378128" y="413184"/>
            <a:ext cx="12995972"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ANALYSIS</a:t>
            </a:r>
          </a:p>
        </p:txBody>
      </p:sp>
      <p:sp>
        <p:nvSpPr>
          <p:cNvPr id="7" name="TextBox 7"/>
          <p:cNvSpPr txBox="1"/>
          <p:nvPr/>
        </p:nvSpPr>
        <p:spPr>
          <a:xfrm>
            <a:off x="10807478" y="1834716"/>
            <a:ext cx="6940663" cy="7528966"/>
          </a:xfrm>
          <a:prstGeom prst="rect">
            <a:avLst/>
          </a:prstGeom>
        </p:spPr>
        <p:txBody>
          <a:bodyPr lIns="0" tIns="0" rIns="0" bIns="0" rtlCol="0" anchor="t">
            <a:spAutoFit/>
          </a:bodyPr>
          <a:lstStyle/>
          <a:p>
            <a:pPr marL="773791" lvl="1" indent="-386895" algn="ctr">
              <a:lnSpc>
                <a:spcPts val="5017"/>
              </a:lnSpc>
              <a:buFont typeface="Arial"/>
              <a:buChar char="•"/>
            </a:pPr>
            <a:r>
              <a:rPr lang="en-US" sz="3584">
                <a:solidFill>
                  <a:srgbClr val="000000"/>
                </a:solidFill>
                <a:latin typeface="Lexend Deca"/>
                <a:ea typeface="Lexend Deca"/>
                <a:cs typeface="Lexend Deca"/>
                <a:sym typeface="Lexend Deca"/>
              </a:rPr>
              <a:t>Why use Hotels as the key point of Accommodation?</a:t>
            </a:r>
          </a:p>
          <a:p>
            <a:pPr algn="ctr">
              <a:lnSpc>
                <a:spcPts val="5017"/>
              </a:lnSpc>
            </a:pPr>
            <a:endParaRPr lang="en-US" sz="3584">
              <a:solidFill>
                <a:srgbClr val="000000"/>
              </a:solidFill>
              <a:latin typeface="Lexend Deca"/>
              <a:ea typeface="Lexend Deca"/>
              <a:cs typeface="Lexend Deca"/>
              <a:sym typeface="Lexend Deca"/>
            </a:endParaRPr>
          </a:p>
          <a:p>
            <a:pPr marL="773791" lvl="1" indent="-386895" algn="ctr">
              <a:lnSpc>
                <a:spcPts val="5017"/>
              </a:lnSpc>
              <a:buFont typeface="Arial"/>
              <a:buChar char="•"/>
            </a:pPr>
            <a:r>
              <a:rPr lang="en-US" sz="3584">
                <a:solidFill>
                  <a:srgbClr val="000000"/>
                </a:solidFill>
                <a:latin typeface="Lexend Deca"/>
                <a:ea typeface="Lexend Deca"/>
                <a:cs typeface="Lexend Deca"/>
                <a:sym typeface="Lexend Deca"/>
              </a:rPr>
              <a:t>Hotels take up 49% of Accommodation choices of tourists in the pie chart by Statista. </a:t>
            </a:r>
          </a:p>
          <a:p>
            <a:pPr algn="ctr">
              <a:lnSpc>
                <a:spcPts val="5017"/>
              </a:lnSpc>
            </a:pPr>
            <a:endParaRPr lang="en-US" sz="3584">
              <a:solidFill>
                <a:srgbClr val="000000"/>
              </a:solidFill>
              <a:latin typeface="Lexend Deca"/>
              <a:ea typeface="Lexend Deca"/>
              <a:cs typeface="Lexend Deca"/>
              <a:sym typeface="Lexend Deca"/>
            </a:endParaRPr>
          </a:p>
          <a:p>
            <a:pPr marL="773791" lvl="1" indent="-386895" algn="ctr">
              <a:lnSpc>
                <a:spcPts val="5017"/>
              </a:lnSpc>
              <a:buFont typeface="Arial"/>
              <a:buChar char="•"/>
            </a:pPr>
            <a:r>
              <a:rPr lang="en-US" sz="3584">
                <a:solidFill>
                  <a:srgbClr val="000000"/>
                </a:solidFill>
                <a:latin typeface="Lexend Deca"/>
                <a:ea typeface="Lexend Deca"/>
                <a:cs typeface="Lexend Deca"/>
                <a:sym typeface="Lexend Deca"/>
              </a:rPr>
              <a:t>As such, visually showing that Hotels are a major component of Accommodation.</a:t>
            </a:r>
          </a:p>
        </p:txBody>
      </p:sp>
      <p:sp>
        <p:nvSpPr>
          <p:cNvPr id="8" name="TextBox 8"/>
          <p:cNvSpPr txBox="1"/>
          <p:nvPr/>
        </p:nvSpPr>
        <p:spPr>
          <a:xfrm>
            <a:off x="295330" y="1674571"/>
            <a:ext cx="10126662" cy="1780540"/>
          </a:xfrm>
          <a:prstGeom prst="rect">
            <a:avLst/>
          </a:prstGeom>
        </p:spPr>
        <p:txBody>
          <a:bodyPr lIns="0" tIns="0" rIns="0" bIns="0" rtlCol="0" anchor="t">
            <a:spAutoFit/>
          </a:bodyPr>
          <a:lstStyle/>
          <a:p>
            <a:pPr algn="ctr">
              <a:lnSpc>
                <a:spcPts val="4759"/>
              </a:lnSpc>
            </a:pPr>
            <a:r>
              <a:rPr lang="en-US" sz="3399">
                <a:solidFill>
                  <a:srgbClr val="000000"/>
                </a:solidFill>
                <a:latin typeface="Canva Sans Bold"/>
                <a:ea typeface="Canva Sans Bold"/>
                <a:cs typeface="Canva Sans Bold"/>
                <a:sym typeface="Canva Sans Bold"/>
              </a:rPr>
              <a:t>The Pie Chart below shows the</a:t>
            </a:r>
          </a:p>
          <a:p>
            <a:pPr algn="ctr">
              <a:lnSpc>
                <a:spcPts val="4759"/>
              </a:lnSpc>
            </a:pPr>
            <a:r>
              <a:rPr lang="en-US" sz="3399">
                <a:solidFill>
                  <a:srgbClr val="000000"/>
                </a:solidFill>
                <a:latin typeface="Canva Sans Bold"/>
                <a:ea typeface="Canva Sans Bold"/>
                <a:cs typeface="Canva Sans Bold"/>
                <a:sym typeface="Canva Sans Bold"/>
              </a:rPr>
              <a:t>Accommodation choices of visitors to Singapore in 2023</a:t>
            </a:r>
          </a:p>
        </p:txBody>
      </p:sp>
      <p:sp>
        <p:nvSpPr>
          <p:cNvPr id="9" name="TextBox 9"/>
          <p:cNvSpPr txBox="1"/>
          <p:nvPr/>
        </p:nvSpPr>
        <p:spPr>
          <a:xfrm>
            <a:off x="663025" y="9353550"/>
            <a:ext cx="9391273" cy="836136"/>
          </a:xfrm>
          <a:prstGeom prst="rect">
            <a:avLst/>
          </a:prstGeom>
        </p:spPr>
        <p:txBody>
          <a:bodyPr lIns="0" tIns="0" rIns="0" bIns="0" rtlCol="0" anchor="t">
            <a:spAutoFit/>
          </a:bodyPr>
          <a:lstStyle/>
          <a:p>
            <a:pPr algn="l">
              <a:lnSpc>
                <a:spcPts val="2213"/>
              </a:lnSpc>
            </a:pPr>
            <a:r>
              <a:rPr lang="en-US" sz="1581" u="sng">
                <a:solidFill>
                  <a:srgbClr val="000000"/>
                </a:solidFill>
                <a:latin typeface="Arimo"/>
                <a:ea typeface="Arimo"/>
                <a:cs typeface="Arimo"/>
                <a:sym typeface="Arimo"/>
                <a:hlinkClick r:id="rId3" tooltip="https://www.statista.com/statistics/1100201/singapore-visitor-accommodation-breakdown/#:~:text=Accommodation%20choices%20of%20visitors%20to%20Singapore%202023&amp;text=In%202023%2C%2049%20percent%20of,for%204.47%20billion%20Singapore%20dollars."/>
              </a:rPr>
              <a:t>https://www.statista.com/statistics/1100201/singapore-visitor-accommodation-breakdown/#:~:text=Accommodation%20choices%20of%20visitors%20to%20Singapore%202023&amp;text=In%202023%2C%2049%20percent%20of,for%204.47%20billion%20Singapore%20dollars.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9F581"/>
        </a:solidFill>
        <a:effectLst/>
      </p:bgPr>
    </p:bg>
    <p:spTree>
      <p:nvGrpSpPr>
        <p:cNvPr id="1" name=""/>
        <p:cNvGrpSpPr/>
        <p:nvPr/>
      </p:nvGrpSpPr>
      <p:grpSpPr>
        <a:xfrm>
          <a:off x="0" y="0"/>
          <a:ext cx="0" cy="0"/>
          <a:chOff x="0" y="0"/>
          <a:chExt cx="0" cy="0"/>
        </a:xfrm>
      </p:grpSpPr>
      <p:sp>
        <p:nvSpPr>
          <p:cNvPr id="2" name="TextBox 2"/>
          <p:cNvSpPr txBox="1"/>
          <p:nvPr/>
        </p:nvSpPr>
        <p:spPr>
          <a:xfrm>
            <a:off x="2646014" y="413184"/>
            <a:ext cx="12995972"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ANALYSIS</a:t>
            </a:r>
          </a:p>
        </p:txBody>
      </p:sp>
      <p:sp>
        <p:nvSpPr>
          <p:cNvPr id="3" name="TextBox 3"/>
          <p:cNvSpPr txBox="1"/>
          <p:nvPr/>
        </p:nvSpPr>
        <p:spPr>
          <a:xfrm>
            <a:off x="586283" y="2719705"/>
            <a:ext cx="17701717" cy="4780915"/>
          </a:xfrm>
          <a:prstGeom prst="rect">
            <a:avLst/>
          </a:prstGeom>
        </p:spPr>
        <p:txBody>
          <a:bodyPr lIns="0" tIns="0" rIns="0" bIns="0" rtlCol="0" anchor="t">
            <a:spAutoFit/>
          </a:bodyPr>
          <a:lstStyle/>
          <a:p>
            <a:pPr algn="l">
              <a:lnSpc>
                <a:spcPts val="4759"/>
              </a:lnSpc>
            </a:pPr>
            <a:r>
              <a:rPr lang="en-US" sz="3399">
                <a:solidFill>
                  <a:srgbClr val="000000"/>
                </a:solidFill>
                <a:latin typeface="Canva Sans"/>
                <a:ea typeface="Canva Sans"/>
                <a:cs typeface="Canva Sans"/>
                <a:sym typeface="Canva Sans"/>
              </a:rPr>
              <a:t>Note:</a:t>
            </a:r>
          </a:p>
          <a:p>
            <a:pPr algn="l">
              <a:lnSpc>
                <a:spcPts val="4759"/>
              </a:lnSpc>
            </a:pPr>
            <a:endParaRPr lang="en-US" sz="3399">
              <a:solidFill>
                <a:srgbClr val="000000"/>
              </a:solidFill>
              <a:latin typeface="Canva Sans"/>
              <a:ea typeface="Canva Sans"/>
              <a:cs typeface="Canva Sans"/>
              <a:sym typeface="Canva Sans"/>
            </a:endParaRPr>
          </a:p>
          <a:p>
            <a:pPr algn="l">
              <a:lnSpc>
                <a:spcPts val="4759"/>
              </a:lnSpc>
            </a:pPr>
            <a:r>
              <a:rPr lang="en-US" sz="3399">
                <a:solidFill>
                  <a:srgbClr val="000000"/>
                </a:solidFill>
                <a:latin typeface="Futura Display"/>
                <a:ea typeface="Futura Display"/>
                <a:cs typeface="Futura Display"/>
                <a:sym typeface="Futura Display"/>
              </a:rPr>
              <a:t>Due to limited resources, we are only able to use datasets from g</a:t>
            </a:r>
            <a:r>
              <a:rPr lang="en-US" sz="3399" u="sng">
                <a:solidFill>
                  <a:srgbClr val="000000"/>
                </a:solidFill>
                <a:latin typeface="Futura Display"/>
                <a:ea typeface="Futura Display"/>
                <a:cs typeface="Futura Display"/>
                <a:sym typeface="Futura Display"/>
              </a:rPr>
              <a:t>azetted hotels.</a:t>
            </a:r>
            <a:r>
              <a:rPr lang="en-US" sz="3399">
                <a:solidFill>
                  <a:srgbClr val="000000"/>
                </a:solidFill>
                <a:latin typeface="Futura Display"/>
                <a:ea typeface="Futura Display"/>
                <a:cs typeface="Futura Display"/>
                <a:sym typeface="Futura Display"/>
              </a:rPr>
              <a:t> (Hotels registered with the Singapore Tourism Board).</a:t>
            </a:r>
          </a:p>
          <a:p>
            <a:pPr algn="l">
              <a:lnSpc>
                <a:spcPts val="4759"/>
              </a:lnSpc>
            </a:pPr>
            <a:endParaRPr lang="en-US" sz="3399">
              <a:solidFill>
                <a:srgbClr val="000000"/>
              </a:solidFill>
              <a:latin typeface="Futura Display"/>
              <a:ea typeface="Futura Display"/>
              <a:cs typeface="Futura Display"/>
              <a:sym typeface="Futura Display"/>
            </a:endParaRPr>
          </a:p>
          <a:p>
            <a:pPr algn="l">
              <a:lnSpc>
                <a:spcPts val="4759"/>
              </a:lnSpc>
            </a:pPr>
            <a:r>
              <a:rPr lang="en-US" sz="3399">
                <a:solidFill>
                  <a:srgbClr val="000000"/>
                </a:solidFill>
                <a:latin typeface="Canva Sans"/>
                <a:ea typeface="Canva Sans"/>
                <a:cs typeface="Canva Sans"/>
                <a:sym typeface="Canva Sans"/>
              </a:rPr>
              <a:t>However, since the use of hotels are generalised, we can safely assume that the limited amount of hotels available in the dataset can reliably represent all Hotels.</a:t>
            </a:r>
          </a:p>
          <a:p>
            <a:pPr algn="l">
              <a:lnSpc>
                <a:spcPts val="4759"/>
              </a:lnSpc>
            </a:pPr>
            <a:endParaRPr lang="en-US" sz="3399">
              <a:solidFill>
                <a:srgbClr val="000000"/>
              </a:solidFill>
              <a:latin typeface="Canva Sans"/>
              <a:ea typeface="Canva Sans"/>
              <a:cs typeface="Canva Sans"/>
              <a:sym typeface="Canv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9F581"/>
        </a:solidFill>
        <a:effectLst/>
      </p:bgPr>
    </p:bg>
    <p:spTree>
      <p:nvGrpSpPr>
        <p:cNvPr id="1" name=""/>
        <p:cNvGrpSpPr/>
        <p:nvPr/>
      </p:nvGrpSpPr>
      <p:grpSpPr>
        <a:xfrm>
          <a:off x="0" y="0"/>
          <a:ext cx="0" cy="0"/>
          <a:chOff x="0" y="0"/>
          <a:chExt cx="0" cy="0"/>
        </a:xfrm>
      </p:grpSpPr>
      <p:grpSp>
        <p:nvGrpSpPr>
          <p:cNvPr id="2" name="Group 2"/>
          <p:cNvGrpSpPr/>
          <p:nvPr/>
        </p:nvGrpSpPr>
        <p:grpSpPr>
          <a:xfrm>
            <a:off x="1252977" y="2703079"/>
            <a:ext cx="15603362" cy="3692294"/>
            <a:chOff x="0" y="0"/>
            <a:chExt cx="3211728" cy="760006"/>
          </a:xfrm>
        </p:grpSpPr>
        <p:sp>
          <p:nvSpPr>
            <p:cNvPr id="3" name="Freeform 3"/>
            <p:cNvSpPr/>
            <p:nvPr/>
          </p:nvSpPr>
          <p:spPr>
            <a:xfrm>
              <a:off x="0" y="0"/>
              <a:ext cx="3211728" cy="760006"/>
            </a:xfrm>
            <a:custGeom>
              <a:avLst/>
              <a:gdLst/>
              <a:ahLst/>
              <a:cxnLst/>
              <a:rect l="l" t="t" r="r" b="b"/>
              <a:pathLst>
                <a:path w="3211728" h="760006">
                  <a:moveTo>
                    <a:pt x="25305" y="0"/>
                  </a:moveTo>
                  <a:lnTo>
                    <a:pt x="3186423" y="0"/>
                  </a:lnTo>
                  <a:cubicBezTo>
                    <a:pt x="3200398" y="0"/>
                    <a:pt x="3211728" y="11329"/>
                    <a:pt x="3211728" y="25305"/>
                  </a:cubicBezTo>
                  <a:lnTo>
                    <a:pt x="3211728" y="734701"/>
                  </a:lnTo>
                  <a:cubicBezTo>
                    <a:pt x="3211728" y="741412"/>
                    <a:pt x="3209062" y="747849"/>
                    <a:pt x="3204316" y="752594"/>
                  </a:cubicBezTo>
                  <a:cubicBezTo>
                    <a:pt x="3199571" y="757340"/>
                    <a:pt x="3193134" y="760006"/>
                    <a:pt x="3186423" y="760006"/>
                  </a:cubicBezTo>
                  <a:lnTo>
                    <a:pt x="25305" y="760006"/>
                  </a:lnTo>
                  <a:cubicBezTo>
                    <a:pt x="18593" y="760006"/>
                    <a:pt x="12157" y="757340"/>
                    <a:pt x="7412" y="752594"/>
                  </a:cubicBezTo>
                  <a:cubicBezTo>
                    <a:pt x="2666" y="747849"/>
                    <a:pt x="0" y="741412"/>
                    <a:pt x="0" y="734701"/>
                  </a:cubicBezTo>
                  <a:lnTo>
                    <a:pt x="0" y="25305"/>
                  </a:lnTo>
                  <a:cubicBezTo>
                    <a:pt x="0" y="18593"/>
                    <a:pt x="2666" y="12157"/>
                    <a:pt x="7412" y="7412"/>
                  </a:cubicBezTo>
                  <a:cubicBezTo>
                    <a:pt x="12157" y="2666"/>
                    <a:pt x="18593" y="0"/>
                    <a:pt x="25305" y="0"/>
                  </a:cubicBezTo>
                  <a:close/>
                </a:path>
              </a:pathLst>
            </a:custGeom>
            <a:solidFill>
              <a:srgbClr val="FFFFFF"/>
            </a:solidFill>
          </p:spPr>
          <p:txBody>
            <a:bodyPr/>
            <a:lstStyle/>
            <a:p>
              <a:endParaRPr lang="en-US"/>
            </a:p>
          </p:txBody>
        </p:sp>
        <p:sp>
          <p:nvSpPr>
            <p:cNvPr id="4" name="TextBox 4"/>
            <p:cNvSpPr txBox="1"/>
            <p:nvPr/>
          </p:nvSpPr>
          <p:spPr>
            <a:xfrm>
              <a:off x="0" y="-38100"/>
              <a:ext cx="3211728" cy="798106"/>
            </a:xfrm>
            <a:prstGeom prst="rect">
              <a:avLst/>
            </a:prstGeom>
          </p:spPr>
          <p:txBody>
            <a:bodyPr lIns="55577" tIns="55577" rIns="55577" bIns="55577" rtlCol="0" anchor="ctr"/>
            <a:lstStyle/>
            <a:p>
              <a:pPr algn="ctr">
                <a:lnSpc>
                  <a:spcPts val="2659"/>
                </a:lnSpc>
                <a:spcBef>
                  <a:spcPct val="0"/>
                </a:spcBef>
              </a:pPr>
              <a:endParaRPr/>
            </a:p>
          </p:txBody>
        </p:sp>
      </p:grpSp>
      <p:sp>
        <p:nvSpPr>
          <p:cNvPr id="5" name="Freeform 5"/>
          <p:cNvSpPr/>
          <p:nvPr/>
        </p:nvSpPr>
        <p:spPr>
          <a:xfrm>
            <a:off x="1611877" y="2829103"/>
            <a:ext cx="15064245" cy="3533682"/>
          </a:xfrm>
          <a:custGeom>
            <a:avLst/>
            <a:gdLst/>
            <a:ahLst/>
            <a:cxnLst/>
            <a:rect l="l" t="t" r="r" b="b"/>
            <a:pathLst>
              <a:path w="15064245" h="3533682">
                <a:moveTo>
                  <a:pt x="0" y="0"/>
                </a:moveTo>
                <a:lnTo>
                  <a:pt x="15064246" y="0"/>
                </a:lnTo>
                <a:lnTo>
                  <a:pt x="15064246" y="3533682"/>
                </a:lnTo>
                <a:lnTo>
                  <a:pt x="0" y="3533682"/>
                </a:lnTo>
                <a:lnTo>
                  <a:pt x="0" y="0"/>
                </a:lnTo>
                <a:close/>
              </a:path>
            </a:pathLst>
          </a:custGeom>
          <a:blipFill>
            <a:blip r:embed="rId2"/>
            <a:stretch>
              <a:fillRect l="-282" r="-5961"/>
            </a:stretch>
          </a:blipFill>
        </p:spPr>
        <p:txBody>
          <a:bodyPr/>
          <a:lstStyle/>
          <a:p>
            <a:endParaRPr lang="en-US"/>
          </a:p>
        </p:txBody>
      </p:sp>
      <p:grpSp>
        <p:nvGrpSpPr>
          <p:cNvPr id="6" name="Group 6"/>
          <p:cNvGrpSpPr/>
          <p:nvPr/>
        </p:nvGrpSpPr>
        <p:grpSpPr>
          <a:xfrm>
            <a:off x="12717391" y="2703079"/>
            <a:ext cx="4138947" cy="594624"/>
            <a:chOff x="0" y="0"/>
            <a:chExt cx="5518596" cy="792832"/>
          </a:xfrm>
        </p:grpSpPr>
        <p:grpSp>
          <p:nvGrpSpPr>
            <p:cNvPr id="7" name="Group 7"/>
            <p:cNvGrpSpPr/>
            <p:nvPr/>
          </p:nvGrpSpPr>
          <p:grpSpPr>
            <a:xfrm>
              <a:off x="0" y="0"/>
              <a:ext cx="5518596" cy="792832"/>
              <a:chOff x="0" y="0"/>
              <a:chExt cx="990735" cy="142334"/>
            </a:xfrm>
          </p:grpSpPr>
          <p:sp>
            <p:nvSpPr>
              <p:cNvPr id="8" name="Freeform 8"/>
              <p:cNvSpPr/>
              <p:nvPr/>
            </p:nvSpPr>
            <p:spPr>
              <a:xfrm>
                <a:off x="0" y="0"/>
                <a:ext cx="990735" cy="142334"/>
              </a:xfrm>
              <a:custGeom>
                <a:avLst/>
                <a:gdLst/>
                <a:ahLst/>
                <a:cxnLst/>
                <a:rect l="l" t="t" r="r" b="b"/>
                <a:pathLst>
                  <a:path w="990735" h="142334">
                    <a:moveTo>
                      <a:pt x="71167" y="0"/>
                    </a:moveTo>
                    <a:lnTo>
                      <a:pt x="919567" y="0"/>
                    </a:lnTo>
                    <a:cubicBezTo>
                      <a:pt x="938442" y="0"/>
                      <a:pt x="956544" y="7498"/>
                      <a:pt x="969890" y="20844"/>
                    </a:cubicBezTo>
                    <a:cubicBezTo>
                      <a:pt x="983237" y="34191"/>
                      <a:pt x="990735" y="52293"/>
                      <a:pt x="990735" y="71167"/>
                    </a:cubicBezTo>
                    <a:lnTo>
                      <a:pt x="990735" y="71167"/>
                    </a:lnTo>
                    <a:cubicBezTo>
                      <a:pt x="990735" y="110472"/>
                      <a:pt x="958872" y="142334"/>
                      <a:pt x="919567" y="142334"/>
                    </a:cubicBezTo>
                    <a:lnTo>
                      <a:pt x="71167" y="142334"/>
                    </a:lnTo>
                    <a:cubicBezTo>
                      <a:pt x="52293" y="142334"/>
                      <a:pt x="34191" y="134837"/>
                      <a:pt x="20844" y="121490"/>
                    </a:cubicBezTo>
                    <a:cubicBezTo>
                      <a:pt x="7498" y="108144"/>
                      <a:pt x="0" y="90042"/>
                      <a:pt x="0" y="71167"/>
                    </a:cubicBezTo>
                    <a:lnTo>
                      <a:pt x="0" y="71167"/>
                    </a:lnTo>
                    <a:cubicBezTo>
                      <a:pt x="0" y="52293"/>
                      <a:pt x="7498" y="34191"/>
                      <a:pt x="20844" y="20844"/>
                    </a:cubicBezTo>
                    <a:cubicBezTo>
                      <a:pt x="34191" y="7498"/>
                      <a:pt x="52293" y="0"/>
                      <a:pt x="71167" y="0"/>
                    </a:cubicBezTo>
                    <a:close/>
                  </a:path>
                </a:pathLst>
              </a:custGeom>
              <a:solidFill>
                <a:srgbClr val="000000"/>
              </a:solidFill>
            </p:spPr>
            <p:txBody>
              <a:bodyPr/>
              <a:lstStyle/>
              <a:p>
                <a:endParaRPr lang="en-US"/>
              </a:p>
            </p:txBody>
          </p:sp>
          <p:sp>
            <p:nvSpPr>
              <p:cNvPr id="9" name="TextBox 9"/>
              <p:cNvSpPr txBox="1"/>
              <p:nvPr/>
            </p:nvSpPr>
            <p:spPr>
              <a:xfrm>
                <a:off x="0" y="-38100"/>
                <a:ext cx="990735" cy="180434"/>
              </a:xfrm>
              <a:prstGeom prst="rect">
                <a:avLst/>
              </a:prstGeom>
            </p:spPr>
            <p:txBody>
              <a:bodyPr lIns="55577" tIns="55577" rIns="55577" bIns="55577" rtlCol="0" anchor="ctr"/>
              <a:lstStyle/>
              <a:p>
                <a:pPr algn="ctr">
                  <a:lnSpc>
                    <a:spcPts val="2659"/>
                  </a:lnSpc>
                  <a:spcBef>
                    <a:spcPct val="0"/>
                  </a:spcBef>
                </a:pPr>
                <a:endParaRPr/>
              </a:p>
            </p:txBody>
          </p:sp>
        </p:grpSp>
        <p:sp>
          <p:nvSpPr>
            <p:cNvPr id="10" name="Freeform 10"/>
            <p:cNvSpPr/>
            <p:nvPr/>
          </p:nvSpPr>
          <p:spPr>
            <a:xfrm>
              <a:off x="199278" y="141971"/>
              <a:ext cx="5120040" cy="534152"/>
            </a:xfrm>
            <a:custGeom>
              <a:avLst/>
              <a:gdLst/>
              <a:ahLst/>
              <a:cxnLst/>
              <a:rect l="l" t="t" r="r" b="b"/>
              <a:pathLst>
                <a:path w="5120040" h="534152">
                  <a:moveTo>
                    <a:pt x="0" y="0"/>
                  </a:moveTo>
                  <a:lnTo>
                    <a:pt x="5120040" y="0"/>
                  </a:lnTo>
                  <a:lnTo>
                    <a:pt x="5120040" y="534152"/>
                  </a:lnTo>
                  <a:lnTo>
                    <a:pt x="0" y="534152"/>
                  </a:lnTo>
                  <a:lnTo>
                    <a:pt x="0" y="0"/>
                  </a:lnTo>
                  <a:close/>
                </a:path>
              </a:pathLst>
            </a:custGeom>
            <a:blipFill>
              <a:blip r:embed="rId3"/>
              <a:stretch>
                <a:fillRect/>
              </a:stretch>
            </a:blipFill>
          </p:spPr>
          <p:txBody>
            <a:bodyPr/>
            <a:lstStyle/>
            <a:p>
              <a:endParaRPr lang="en-US"/>
            </a:p>
          </p:txBody>
        </p:sp>
      </p:grpSp>
      <p:sp>
        <p:nvSpPr>
          <p:cNvPr id="11" name="TextBox 11"/>
          <p:cNvSpPr txBox="1"/>
          <p:nvPr/>
        </p:nvSpPr>
        <p:spPr>
          <a:xfrm>
            <a:off x="2646014" y="413184"/>
            <a:ext cx="12995972"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ANALYSIS</a:t>
            </a:r>
          </a:p>
        </p:txBody>
      </p:sp>
      <p:sp>
        <p:nvSpPr>
          <p:cNvPr id="12" name="TextBox 12"/>
          <p:cNvSpPr txBox="1"/>
          <p:nvPr/>
        </p:nvSpPr>
        <p:spPr>
          <a:xfrm>
            <a:off x="2913659" y="1417839"/>
            <a:ext cx="12460682" cy="1180465"/>
          </a:xfrm>
          <a:prstGeom prst="rect">
            <a:avLst/>
          </a:prstGeom>
        </p:spPr>
        <p:txBody>
          <a:bodyPr lIns="0" tIns="0" rIns="0" bIns="0" rtlCol="0" anchor="t">
            <a:spAutoFit/>
          </a:bodyPr>
          <a:lstStyle/>
          <a:p>
            <a:pPr algn="ctr">
              <a:lnSpc>
                <a:spcPts val="4759"/>
              </a:lnSpc>
            </a:pPr>
            <a:r>
              <a:rPr lang="en-US" sz="3399">
                <a:solidFill>
                  <a:srgbClr val="000000"/>
                </a:solidFill>
                <a:latin typeface="Canva Sans Bold"/>
                <a:ea typeface="Canva Sans Bold"/>
                <a:cs typeface="Canva Sans Bold"/>
                <a:sym typeface="Canva Sans Bold"/>
              </a:rPr>
              <a:t>The Graph below shows the best-fit line of Hotel Room Revenue against Accommodation</a:t>
            </a:r>
          </a:p>
        </p:txBody>
      </p:sp>
      <p:sp>
        <p:nvSpPr>
          <p:cNvPr id="13" name="TextBox 13"/>
          <p:cNvSpPr txBox="1"/>
          <p:nvPr/>
        </p:nvSpPr>
        <p:spPr>
          <a:xfrm>
            <a:off x="832474" y="6445524"/>
            <a:ext cx="17455526" cy="3517685"/>
          </a:xfrm>
          <a:prstGeom prst="rect">
            <a:avLst/>
          </a:prstGeom>
        </p:spPr>
        <p:txBody>
          <a:bodyPr lIns="0" tIns="0" rIns="0" bIns="0" rtlCol="0" anchor="t">
            <a:spAutoFit/>
          </a:bodyPr>
          <a:lstStyle/>
          <a:p>
            <a:pPr algn="l">
              <a:lnSpc>
                <a:spcPts val="4036"/>
              </a:lnSpc>
            </a:pPr>
            <a:r>
              <a:rPr lang="en-US" sz="2883">
                <a:solidFill>
                  <a:srgbClr val="000000"/>
                </a:solidFill>
                <a:latin typeface="Canva Sans"/>
                <a:ea typeface="Canva Sans"/>
                <a:cs typeface="Canva Sans"/>
                <a:sym typeface="Canva Sans"/>
              </a:rPr>
              <a:t>Through the use of scatter plot, we are able to determine the best-fit line for the analysis of the relationship between Hotel Room Revenue and Accommodation.</a:t>
            </a:r>
          </a:p>
          <a:p>
            <a:pPr algn="l">
              <a:lnSpc>
                <a:spcPts val="4036"/>
              </a:lnSpc>
            </a:pPr>
            <a:endParaRPr lang="en-US" sz="2883">
              <a:solidFill>
                <a:srgbClr val="000000"/>
              </a:solidFill>
              <a:latin typeface="Canva Sans"/>
              <a:ea typeface="Canva Sans"/>
              <a:cs typeface="Canva Sans"/>
              <a:sym typeface="Canva Sans"/>
            </a:endParaRPr>
          </a:p>
          <a:p>
            <a:pPr algn="l">
              <a:lnSpc>
                <a:spcPts val="4036"/>
              </a:lnSpc>
            </a:pPr>
            <a:r>
              <a:rPr lang="en-US" sz="2883">
                <a:solidFill>
                  <a:srgbClr val="000000"/>
                </a:solidFill>
                <a:latin typeface="Canva Sans"/>
                <a:ea typeface="Canva Sans"/>
                <a:cs typeface="Canva Sans"/>
                <a:sym typeface="Canva Sans"/>
              </a:rPr>
              <a:t>There is correlation between the axises. Hence we can conclude that they have a proportional relationship.</a:t>
            </a:r>
          </a:p>
          <a:p>
            <a:pPr algn="l">
              <a:lnSpc>
                <a:spcPts val="4036"/>
              </a:lnSpc>
            </a:pPr>
            <a:endParaRPr lang="en-US" sz="2883">
              <a:solidFill>
                <a:srgbClr val="000000"/>
              </a:solidFill>
              <a:latin typeface="Canva Sans"/>
              <a:ea typeface="Canva Sans"/>
              <a:cs typeface="Canva Sans"/>
              <a:sym typeface="Canva Sans"/>
            </a:endParaRPr>
          </a:p>
          <a:p>
            <a:pPr algn="l">
              <a:lnSpc>
                <a:spcPts val="4036"/>
              </a:lnSpc>
            </a:pPr>
            <a:r>
              <a:rPr lang="en-US" sz="2883">
                <a:solidFill>
                  <a:srgbClr val="000000"/>
                </a:solidFill>
                <a:latin typeface="Canva Sans"/>
                <a:ea typeface="Canva Sans"/>
                <a:cs typeface="Canva Sans"/>
                <a:sym typeface="Canva Sans"/>
              </a:rPr>
              <a:t>The hotel dataset is a major reliable subset of Accommodation.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9F581"/>
        </a:solidFill>
        <a:effectLst/>
      </p:bgPr>
    </p:bg>
    <p:spTree>
      <p:nvGrpSpPr>
        <p:cNvPr id="1" name=""/>
        <p:cNvGrpSpPr/>
        <p:nvPr/>
      </p:nvGrpSpPr>
      <p:grpSpPr>
        <a:xfrm>
          <a:off x="0" y="0"/>
          <a:ext cx="0" cy="0"/>
          <a:chOff x="0" y="0"/>
          <a:chExt cx="0" cy="0"/>
        </a:xfrm>
      </p:grpSpPr>
      <p:grpSp>
        <p:nvGrpSpPr>
          <p:cNvPr id="2" name="Group 2"/>
          <p:cNvGrpSpPr/>
          <p:nvPr/>
        </p:nvGrpSpPr>
        <p:grpSpPr>
          <a:xfrm>
            <a:off x="518230" y="2577727"/>
            <a:ext cx="7711043" cy="4534414"/>
            <a:chOff x="0" y="0"/>
            <a:chExt cx="1587207" cy="933344"/>
          </a:xfrm>
        </p:grpSpPr>
        <p:sp>
          <p:nvSpPr>
            <p:cNvPr id="3" name="Freeform 3"/>
            <p:cNvSpPr/>
            <p:nvPr/>
          </p:nvSpPr>
          <p:spPr>
            <a:xfrm>
              <a:off x="0" y="0"/>
              <a:ext cx="1587207" cy="933344"/>
            </a:xfrm>
            <a:custGeom>
              <a:avLst/>
              <a:gdLst/>
              <a:ahLst/>
              <a:cxnLst/>
              <a:rect l="l" t="t" r="r" b="b"/>
              <a:pathLst>
                <a:path w="1587207" h="933344">
                  <a:moveTo>
                    <a:pt x="51204" y="0"/>
                  </a:moveTo>
                  <a:lnTo>
                    <a:pt x="1536003" y="0"/>
                  </a:lnTo>
                  <a:cubicBezTo>
                    <a:pt x="1549584" y="0"/>
                    <a:pt x="1562607" y="5395"/>
                    <a:pt x="1572210" y="14997"/>
                  </a:cubicBezTo>
                  <a:cubicBezTo>
                    <a:pt x="1581813" y="24600"/>
                    <a:pt x="1587207" y="37624"/>
                    <a:pt x="1587207" y="51204"/>
                  </a:cubicBezTo>
                  <a:lnTo>
                    <a:pt x="1587207" y="882140"/>
                  </a:lnTo>
                  <a:cubicBezTo>
                    <a:pt x="1587207" y="895720"/>
                    <a:pt x="1581813" y="908744"/>
                    <a:pt x="1572210" y="918347"/>
                  </a:cubicBezTo>
                  <a:cubicBezTo>
                    <a:pt x="1562607" y="927949"/>
                    <a:pt x="1549584" y="933344"/>
                    <a:pt x="1536003" y="933344"/>
                  </a:cubicBezTo>
                  <a:lnTo>
                    <a:pt x="51204" y="933344"/>
                  </a:lnTo>
                  <a:cubicBezTo>
                    <a:pt x="37624" y="933344"/>
                    <a:pt x="24600" y="927949"/>
                    <a:pt x="14997" y="918347"/>
                  </a:cubicBezTo>
                  <a:cubicBezTo>
                    <a:pt x="5395" y="908744"/>
                    <a:pt x="0" y="895720"/>
                    <a:pt x="0" y="882140"/>
                  </a:cubicBezTo>
                  <a:lnTo>
                    <a:pt x="0" y="51204"/>
                  </a:lnTo>
                  <a:cubicBezTo>
                    <a:pt x="0" y="37624"/>
                    <a:pt x="5395" y="24600"/>
                    <a:pt x="14997" y="14997"/>
                  </a:cubicBezTo>
                  <a:cubicBezTo>
                    <a:pt x="24600" y="5395"/>
                    <a:pt x="37624" y="0"/>
                    <a:pt x="51204" y="0"/>
                  </a:cubicBezTo>
                  <a:close/>
                </a:path>
              </a:pathLst>
            </a:custGeom>
            <a:solidFill>
              <a:srgbClr val="FFFFFF"/>
            </a:solidFill>
          </p:spPr>
          <p:txBody>
            <a:bodyPr/>
            <a:lstStyle/>
            <a:p>
              <a:endParaRPr lang="en-US"/>
            </a:p>
          </p:txBody>
        </p:sp>
        <p:sp>
          <p:nvSpPr>
            <p:cNvPr id="4" name="TextBox 4"/>
            <p:cNvSpPr txBox="1"/>
            <p:nvPr/>
          </p:nvSpPr>
          <p:spPr>
            <a:xfrm>
              <a:off x="0" y="-38100"/>
              <a:ext cx="1587207" cy="971444"/>
            </a:xfrm>
            <a:prstGeom prst="rect">
              <a:avLst/>
            </a:prstGeom>
          </p:spPr>
          <p:txBody>
            <a:bodyPr lIns="55577" tIns="55577" rIns="55577" bIns="55577" rtlCol="0" anchor="ctr"/>
            <a:lstStyle/>
            <a:p>
              <a:pPr algn="ctr">
                <a:lnSpc>
                  <a:spcPts val="2659"/>
                </a:lnSpc>
                <a:spcBef>
                  <a:spcPct val="0"/>
                </a:spcBef>
              </a:pPr>
              <a:endParaRPr/>
            </a:p>
          </p:txBody>
        </p:sp>
      </p:grpSp>
      <p:sp>
        <p:nvSpPr>
          <p:cNvPr id="5" name="Freeform 5"/>
          <p:cNvSpPr/>
          <p:nvPr/>
        </p:nvSpPr>
        <p:spPr>
          <a:xfrm>
            <a:off x="863973" y="2714320"/>
            <a:ext cx="7019558" cy="4261228"/>
          </a:xfrm>
          <a:custGeom>
            <a:avLst/>
            <a:gdLst/>
            <a:ahLst/>
            <a:cxnLst/>
            <a:rect l="l" t="t" r="r" b="b"/>
            <a:pathLst>
              <a:path w="7019558" h="4261228">
                <a:moveTo>
                  <a:pt x="0" y="0"/>
                </a:moveTo>
                <a:lnTo>
                  <a:pt x="7019558" y="0"/>
                </a:lnTo>
                <a:lnTo>
                  <a:pt x="7019558" y="4261228"/>
                </a:lnTo>
                <a:lnTo>
                  <a:pt x="0" y="4261228"/>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a:off x="10067141" y="2444377"/>
            <a:ext cx="7564536" cy="4531171"/>
            <a:chOff x="0" y="0"/>
            <a:chExt cx="1557051" cy="932676"/>
          </a:xfrm>
        </p:grpSpPr>
        <p:sp>
          <p:nvSpPr>
            <p:cNvPr id="7" name="Freeform 7"/>
            <p:cNvSpPr/>
            <p:nvPr/>
          </p:nvSpPr>
          <p:spPr>
            <a:xfrm>
              <a:off x="0" y="0"/>
              <a:ext cx="1557051" cy="932676"/>
            </a:xfrm>
            <a:custGeom>
              <a:avLst/>
              <a:gdLst/>
              <a:ahLst/>
              <a:cxnLst/>
              <a:rect l="l" t="t" r="r" b="b"/>
              <a:pathLst>
                <a:path w="1557051" h="932676">
                  <a:moveTo>
                    <a:pt x="52196" y="0"/>
                  </a:moveTo>
                  <a:lnTo>
                    <a:pt x="1504855" y="0"/>
                  </a:lnTo>
                  <a:cubicBezTo>
                    <a:pt x="1533682" y="0"/>
                    <a:pt x="1557051" y="23369"/>
                    <a:pt x="1557051" y="52196"/>
                  </a:cubicBezTo>
                  <a:lnTo>
                    <a:pt x="1557051" y="880480"/>
                  </a:lnTo>
                  <a:cubicBezTo>
                    <a:pt x="1557051" y="909307"/>
                    <a:pt x="1533682" y="932676"/>
                    <a:pt x="1504855" y="932676"/>
                  </a:cubicBezTo>
                  <a:lnTo>
                    <a:pt x="52196" y="932676"/>
                  </a:lnTo>
                  <a:cubicBezTo>
                    <a:pt x="23369" y="932676"/>
                    <a:pt x="0" y="909307"/>
                    <a:pt x="0" y="880480"/>
                  </a:cubicBezTo>
                  <a:lnTo>
                    <a:pt x="0" y="52196"/>
                  </a:lnTo>
                  <a:cubicBezTo>
                    <a:pt x="0" y="23369"/>
                    <a:pt x="23369" y="0"/>
                    <a:pt x="52196" y="0"/>
                  </a:cubicBezTo>
                  <a:close/>
                </a:path>
              </a:pathLst>
            </a:custGeom>
            <a:solidFill>
              <a:srgbClr val="FFFFFF"/>
            </a:solidFill>
          </p:spPr>
          <p:txBody>
            <a:bodyPr/>
            <a:lstStyle/>
            <a:p>
              <a:endParaRPr lang="en-US"/>
            </a:p>
          </p:txBody>
        </p:sp>
        <p:sp>
          <p:nvSpPr>
            <p:cNvPr id="8" name="TextBox 8"/>
            <p:cNvSpPr txBox="1"/>
            <p:nvPr/>
          </p:nvSpPr>
          <p:spPr>
            <a:xfrm>
              <a:off x="0" y="-38100"/>
              <a:ext cx="1557051" cy="970776"/>
            </a:xfrm>
            <a:prstGeom prst="rect">
              <a:avLst/>
            </a:prstGeom>
          </p:spPr>
          <p:txBody>
            <a:bodyPr lIns="55577" tIns="55577" rIns="55577" bIns="55577" rtlCol="0" anchor="ctr"/>
            <a:lstStyle/>
            <a:p>
              <a:pPr algn="ctr">
                <a:lnSpc>
                  <a:spcPts val="2659"/>
                </a:lnSpc>
                <a:spcBef>
                  <a:spcPct val="0"/>
                </a:spcBef>
              </a:pPr>
              <a:endParaRPr/>
            </a:p>
          </p:txBody>
        </p:sp>
      </p:grpSp>
      <p:sp>
        <p:nvSpPr>
          <p:cNvPr id="9" name="Freeform 9"/>
          <p:cNvSpPr/>
          <p:nvPr/>
        </p:nvSpPr>
        <p:spPr>
          <a:xfrm>
            <a:off x="10353482" y="2577941"/>
            <a:ext cx="7065626" cy="4261228"/>
          </a:xfrm>
          <a:custGeom>
            <a:avLst/>
            <a:gdLst/>
            <a:ahLst/>
            <a:cxnLst/>
            <a:rect l="l" t="t" r="r" b="b"/>
            <a:pathLst>
              <a:path w="7065626" h="4261228">
                <a:moveTo>
                  <a:pt x="0" y="0"/>
                </a:moveTo>
                <a:lnTo>
                  <a:pt x="7065625" y="0"/>
                </a:lnTo>
                <a:lnTo>
                  <a:pt x="7065625" y="4261228"/>
                </a:lnTo>
                <a:lnTo>
                  <a:pt x="0" y="4261228"/>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2646014" y="413184"/>
            <a:ext cx="12995972"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ANALYSIS</a:t>
            </a:r>
          </a:p>
        </p:txBody>
      </p:sp>
      <p:sp>
        <p:nvSpPr>
          <p:cNvPr id="11" name="TextBox 11"/>
          <p:cNvSpPr txBox="1"/>
          <p:nvPr/>
        </p:nvSpPr>
        <p:spPr>
          <a:xfrm>
            <a:off x="518230" y="7015357"/>
            <a:ext cx="7365301" cy="3271643"/>
          </a:xfrm>
          <a:prstGeom prst="rect">
            <a:avLst/>
          </a:prstGeom>
        </p:spPr>
        <p:txBody>
          <a:bodyPr lIns="0" tIns="0" rIns="0" bIns="0" rtlCol="0" anchor="t">
            <a:spAutoFit/>
          </a:bodyPr>
          <a:lstStyle/>
          <a:p>
            <a:pPr marL="671476" lvl="1" indent="-335738" algn="l">
              <a:lnSpc>
                <a:spcPts val="4354"/>
              </a:lnSpc>
              <a:buFont typeface="Arial"/>
              <a:buChar char="•"/>
            </a:pPr>
            <a:r>
              <a:rPr lang="en-US" sz="3110">
                <a:solidFill>
                  <a:srgbClr val="000000"/>
                </a:solidFill>
                <a:latin typeface="Lexend Deca"/>
                <a:ea typeface="Lexend Deca"/>
                <a:cs typeface="Lexend Deca"/>
                <a:sym typeface="Lexend Deca"/>
              </a:rPr>
              <a:t>Hotel Room Revenue often peaks at Q3</a:t>
            </a:r>
          </a:p>
          <a:p>
            <a:pPr marL="671476" lvl="1" indent="-335738" algn="l">
              <a:lnSpc>
                <a:spcPts val="4354"/>
              </a:lnSpc>
              <a:buFont typeface="Arial"/>
              <a:buChar char="•"/>
            </a:pPr>
            <a:r>
              <a:rPr lang="en-US" sz="3110">
                <a:solidFill>
                  <a:srgbClr val="000000"/>
                </a:solidFill>
                <a:latin typeface="Lexend Deca"/>
                <a:ea typeface="Lexend Deca"/>
                <a:cs typeface="Lexend Deca"/>
                <a:sym typeface="Lexend Deca"/>
              </a:rPr>
              <a:t>Where as Accommodation peaks at Q4</a:t>
            </a:r>
          </a:p>
          <a:p>
            <a:pPr marL="671476" lvl="1" indent="-335738" algn="l">
              <a:lnSpc>
                <a:spcPts val="4354"/>
              </a:lnSpc>
              <a:buFont typeface="Arial"/>
              <a:buChar char="•"/>
            </a:pPr>
            <a:r>
              <a:rPr lang="en-US" sz="3110">
                <a:solidFill>
                  <a:srgbClr val="000000"/>
                </a:solidFill>
                <a:latin typeface="Lexend Deca"/>
                <a:ea typeface="Lexend Deca"/>
                <a:cs typeface="Lexend Deca"/>
                <a:sym typeface="Lexend Deca"/>
              </a:rPr>
              <a:t>Hence, our optimal timing will be between Q3 and Q4 (July-Dec)</a:t>
            </a:r>
          </a:p>
        </p:txBody>
      </p:sp>
      <p:sp>
        <p:nvSpPr>
          <p:cNvPr id="12" name="TextBox 12"/>
          <p:cNvSpPr txBox="1"/>
          <p:nvPr/>
        </p:nvSpPr>
        <p:spPr>
          <a:xfrm>
            <a:off x="9579914" y="7154975"/>
            <a:ext cx="8051762" cy="238061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000000"/>
                </a:solidFill>
                <a:latin typeface="Lexend Deca"/>
                <a:ea typeface="Lexend Deca"/>
                <a:cs typeface="Lexend Deca"/>
                <a:sym typeface="Lexend Deca"/>
              </a:rPr>
              <a:t>The only exception of this trend is during the 2020-2021 period, where Hotel Room Revenue peaked at Q1 instead</a:t>
            </a:r>
          </a:p>
        </p:txBody>
      </p:sp>
      <p:sp>
        <p:nvSpPr>
          <p:cNvPr id="13" name="TextBox 13"/>
          <p:cNvSpPr txBox="1"/>
          <p:nvPr/>
        </p:nvSpPr>
        <p:spPr>
          <a:xfrm>
            <a:off x="46765" y="1996855"/>
            <a:ext cx="8653975" cy="447522"/>
          </a:xfrm>
          <a:prstGeom prst="rect">
            <a:avLst/>
          </a:prstGeom>
        </p:spPr>
        <p:txBody>
          <a:bodyPr lIns="0" tIns="0" rIns="0" bIns="0" rtlCol="0" anchor="t">
            <a:spAutoFit/>
          </a:bodyPr>
          <a:lstStyle/>
          <a:p>
            <a:pPr algn="ctr">
              <a:lnSpc>
                <a:spcPts val="3683"/>
              </a:lnSpc>
            </a:pPr>
            <a:r>
              <a:rPr lang="en-US" sz="2631">
                <a:solidFill>
                  <a:srgbClr val="000000"/>
                </a:solidFill>
                <a:latin typeface="Canva Sans Bold"/>
                <a:ea typeface="Canva Sans Bold"/>
                <a:cs typeface="Canva Sans Bold"/>
                <a:sym typeface="Canva Sans Bold"/>
              </a:rPr>
              <a:t>Overall Hotel Revenue and Accommodation trend:</a:t>
            </a:r>
          </a:p>
        </p:txBody>
      </p:sp>
      <p:sp>
        <p:nvSpPr>
          <p:cNvPr id="14" name="TextBox 14"/>
          <p:cNvSpPr txBox="1"/>
          <p:nvPr/>
        </p:nvSpPr>
        <p:spPr>
          <a:xfrm>
            <a:off x="9278808" y="1996855"/>
            <a:ext cx="9009192" cy="447522"/>
          </a:xfrm>
          <a:prstGeom prst="rect">
            <a:avLst/>
          </a:prstGeom>
        </p:spPr>
        <p:txBody>
          <a:bodyPr lIns="0" tIns="0" rIns="0" bIns="0" rtlCol="0" anchor="t">
            <a:spAutoFit/>
          </a:bodyPr>
          <a:lstStyle/>
          <a:p>
            <a:pPr algn="ctr">
              <a:lnSpc>
                <a:spcPts val="3683"/>
              </a:lnSpc>
            </a:pPr>
            <a:r>
              <a:rPr lang="en-US" sz="2631">
                <a:solidFill>
                  <a:srgbClr val="000000"/>
                </a:solidFill>
                <a:latin typeface="Canva Sans Bold"/>
                <a:ea typeface="Canva Sans Bold"/>
                <a:cs typeface="Canva Sans Bold"/>
                <a:sym typeface="Canva Sans Bold"/>
              </a:rPr>
              <a:t>2020-2021 Hotel Revenue and Accommodation trend: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9F581"/>
        </a:solidFill>
        <a:effectLst/>
      </p:bgPr>
    </p:bg>
    <p:spTree>
      <p:nvGrpSpPr>
        <p:cNvPr id="1" name=""/>
        <p:cNvGrpSpPr/>
        <p:nvPr/>
      </p:nvGrpSpPr>
      <p:grpSpPr>
        <a:xfrm>
          <a:off x="0" y="0"/>
          <a:ext cx="0" cy="0"/>
          <a:chOff x="0" y="0"/>
          <a:chExt cx="0" cy="0"/>
        </a:xfrm>
      </p:grpSpPr>
      <p:sp>
        <p:nvSpPr>
          <p:cNvPr id="2" name="TextBox 2"/>
          <p:cNvSpPr txBox="1"/>
          <p:nvPr/>
        </p:nvSpPr>
        <p:spPr>
          <a:xfrm>
            <a:off x="2646014" y="413184"/>
            <a:ext cx="12995972"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RESULTS</a:t>
            </a:r>
          </a:p>
        </p:txBody>
      </p:sp>
      <p:sp>
        <p:nvSpPr>
          <p:cNvPr id="3" name="TextBox 3"/>
          <p:cNvSpPr txBox="1"/>
          <p:nvPr/>
        </p:nvSpPr>
        <p:spPr>
          <a:xfrm>
            <a:off x="1028700" y="2203621"/>
            <a:ext cx="16230600" cy="6114174"/>
          </a:xfrm>
          <a:prstGeom prst="rect">
            <a:avLst/>
          </a:prstGeom>
        </p:spPr>
        <p:txBody>
          <a:bodyPr lIns="0" tIns="0" rIns="0" bIns="0" rtlCol="0" anchor="t">
            <a:spAutoFit/>
          </a:bodyPr>
          <a:lstStyle/>
          <a:p>
            <a:pPr algn="l">
              <a:lnSpc>
                <a:spcPts val="4759"/>
              </a:lnSpc>
            </a:pPr>
            <a:r>
              <a:rPr lang="en-US" sz="3399" dirty="0">
                <a:solidFill>
                  <a:srgbClr val="000000"/>
                </a:solidFill>
                <a:latin typeface="Canva Sans"/>
                <a:ea typeface="Canva Sans"/>
                <a:cs typeface="Canva Sans"/>
                <a:sym typeface="Canva Sans"/>
              </a:rPr>
              <a:t>Based on the results collected and analyzed, we can be assured that through leveraging Hotels, we can greatly boost the accommodation sector of Tourism, yielding great benefits for Singapore.</a:t>
            </a:r>
          </a:p>
          <a:p>
            <a:pPr algn="l">
              <a:lnSpc>
                <a:spcPts val="4759"/>
              </a:lnSpc>
            </a:pPr>
            <a:endParaRPr lang="en-US" sz="3399" dirty="0">
              <a:solidFill>
                <a:srgbClr val="000000"/>
              </a:solidFill>
              <a:latin typeface="Canva Sans"/>
              <a:ea typeface="Canva Sans"/>
              <a:cs typeface="Canva Sans"/>
              <a:sym typeface="Canva Sans"/>
            </a:endParaRPr>
          </a:p>
          <a:p>
            <a:pPr algn="l">
              <a:lnSpc>
                <a:spcPts val="4759"/>
              </a:lnSpc>
            </a:pPr>
            <a:r>
              <a:rPr lang="en-US" sz="3399" dirty="0">
                <a:solidFill>
                  <a:srgbClr val="000000"/>
                </a:solidFill>
                <a:latin typeface="Canva Sans"/>
                <a:ea typeface="Canva Sans"/>
                <a:cs typeface="Canva Sans"/>
                <a:sym typeface="Canva Sans"/>
              </a:rPr>
              <a:t>Accurately gauging peak tourism activity time frame in Singapore.   Through making use of all the visualized data, we can find the time period where high volumes of tourists/foreigners come to Singapore for touring (Peak tourism activity), by tracking the revenue by Hotels(Accommodation).</a:t>
            </a:r>
          </a:p>
          <a:p>
            <a:pPr algn="l">
              <a:lnSpc>
                <a:spcPts val="4759"/>
              </a:lnSpc>
            </a:pPr>
            <a:r>
              <a:rPr lang="en-US" sz="3399" dirty="0">
                <a:solidFill>
                  <a:srgbClr val="000000"/>
                </a:solidFill>
                <a:latin typeface="Canva Sans"/>
                <a:ea typeface="Canva Sans"/>
                <a:cs typeface="Canva Sans"/>
                <a:sym typeface="Canva Sans"/>
              </a:rPr>
              <a:t>Peak time would be in the range between Q3 and Q4 (July - November).</a:t>
            </a:r>
          </a:p>
          <a:p>
            <a:pPr algn="l">
              <a:lnSpc>
                <a:spcPts val="4759"/>
              </a:lnSpc>
            </a:pPr>
            <a:endParaRPr lang="en-US" sz="3399" dirty="0">
              <a:solidFill>
                <a:srgbClr val="000000"/>
              </a:solidFill>
              <a:latin typeface="Canva Sans"/>
              <a:ea typeface="Canva Sans"/>
              <a:cs typeface="Canva Sans"/>
              <a:sym typeface="Canv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142882" y="-5358759"/>
            <a:ext cx="28573765" cy="18648985"/>
          </a:xfrm>
          <a:prstGeom prst="rect">
            <a:avLst/>
          </a:prstGeom>
        </p:spPr>
      </p:pic>
      <p:grpSp>
        <p:nvGrpSpPr>
          <p:cNvPr id="3" name="Group 3"/>
          <p:cNvGrpSpPr/>
          <p:nvPr/>
        </p:nvGrpSpPr>
        <p:grpSpPr>
          <a:xfrm>
            <a:off x="1028700" y="2594527"/>
            <a:ext cx="16230600" cy="5439467"/>
            <a:chOff x="0" y="0"/>
            <a:chExt cx="3655013" cy="1224928"/>
          </a:xfrm>
        </p:grpSpPr>
        <p:sp>
          <p:nvSpPr>
            <p:cNvPr id="4" name="Freeform 4"/>
            <p:cNvSpPr/>
            <p:nvPr/>
          </p:nvSpPr>
          <p:spPr>
            <a:xfrm>
              <a:off x="0" y="0"/>
              <a:ext cx="3655013" cy="1224928"/>
            </a:xfrm>
            <a:custGeom>
              <a:avLst/>
              <a:gdLst/>
              <a:ahLst/>
              <a:cxnLst/>
              <a:rect l="l" t="t" r="r" b="b"/>
              <a:pathLst>
                <a:path w="3655013" h="1224928">
                  <a:moveTo>
                    <a:pt x="24327" y="0"/>
                  </a:moveTo>
                  <a:lnTo>
                    <a:pt x="3630686" y="0"/>
                  </a:lnTo>
                  <a:cubicBezTo>
                    <a:pt x="3644121" y="0"/>
                    <a:pt x="3655013" y="10891"/>
                    <a:pt x="3655013" y="24327"/>
                  </a:cubicBezTo>
                  <a:lnTo>
                    <a:pt x="3655013" y="1200602"/>
                  </a:lnTo>
                  <a:cubicBezTo>
                    <a:pt x="3655013" y="1207053"/>
                    <a:pt x="3652450" y="1213241"/>
                    <a:pt x="3647887" y="1217803"/>
                  </a:cubicBezTo>
                  <a:cubicBezTo>
                    <a:pt x="3643325" y="1222365"/>
                    <a:pt x="3637138" y="1224928"/>
                    <a:pt x="3630686" y="1224928"/>
                  </a:cubicBezTo>
                  <a:lnTo>
                    <a:pt x="24327" y="1224928"/>
                  </a:lnTo>
                  <a:cubicBezTo>
                    <a:pt x="10891" y="1224928"/>
                    <a:pt x="0" y="1214037"/>
                    <a:pt x="0" y="1200602"/>
                  </a:cubicBezTo>
                  <a:lnTo>
                    <a:pt x="0" y="24327"/>
                  </a:lnTo>
                  <a:cubicBezTo>
                    <a:pt x="0" y="10891"/>
                    <a:pt x="10891" y="0"/>
                    <a:pt x="24327" y="0"/>
                  </a:cubicBezTo>
                  <a:close/>
                </a:path>
              </a:pathLst>
            </a:custGeom>
            <a:solidFill>
              <a:srgbClr val="DA825B"/>
            </a:solidFill>
          </p:spPr>
          <p:txBody>
            <a:bodyPr/>
            <a:lstStyle/>
            <a:p>
              <a:endParaRPr lang="en-US"/>
            </a:p>
          </p:txBody>
        </p:sp>
        <p:sp>
          <p:nvSpPr>
            <p:cNvPr id="5" name="TextBox 5"/>
            <p:cNvSpPr txBox="1"/>
            <p:nvPr/>
          </p:nvSpPr>
          <p:spPr>
            <a:xfrm>
              <a:off x="0" y="-38100"/>
              <a:ext cx="3655013" cy="126302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556971" y="2270677"/>
            <a:ext cx="15174058" cy="5733825"/>
          </a:xfrm>
          <a:prstGeom prst="rect">
            <a:avLst/>
          </a:prstGeom>
        </p:spPr>
        <p:txBody>
          <a:bodyPr lIns="0" tIns="0" rIns="0" bIns="0" rtlCol="0" anchor="t">
            <a:spAutoFit/>
          </a:bodyPr>
          <a:lstStyle/>
          <a:p>
            <a:pPr algn="ctr">
              <a:lnSpc>
                <a:spcPts val="22958"/>
              </a:lnSpc>
            </a:pPr>
            <a:r>
              <a:rPr lang="en-US" sz="16399">
                <a:solidFill>
                  <a:srgbClr val="FFFFFF"/>
                </a:solidFill>
                <a:latin typeface="Futura Display"/>
                <a:ea typeface="Futura Display"/>
                <a:cs typeface="Futura Display"/>
                <a:sym typeface="Futura Display"/>
              </a:rPr>
              <a:t>DATA MINING GOAL:</a:t>
            </a:r>
          </a:p>
          <a:p>
            <a:pPr algn="ctr">
              <a:lnSpc>
                <a:spcPts val="22958"/>
              </a:lnSpc>
            </a:pPr>
            <a:r>
              <a:rPr lang="en-US" sz="16399">
                <a:solidFill>
                  <a:srgbClr val="FFFFFF"/>
                </a:solidFill>
                <a:latin typeface="Futura Display"/>
                <a:ea typeface="Futura Display"/>
                <a:cs typeface="Futura Display"/>
                <a:sym typeface="Futura Display"/>
              </a:rPr>
              <a:t>REVENGE TOURISM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a:off x="624678" y="2542887"/>
            <a:ext cx="10798795" cy="5201225"/>
            <a:chOff x="0" y="0"/>
            <a:chExt cx="14398393" cy="6934967"/>
          </a:xfrm>
        </p:grpSpPr>
        <p:grpSp>
          <p:nvGrpSpPr>
            <p:cNvPr id="3" name="Group 3"/>
            <p:cNvGrpSpPr/>
            <p:nvPr/>
          </p:nvGrpSpPr>
          <p:grpSpPr>
            <a:xfrm>
              <a:off x="0" y="0"/>
              <a:ext cx="14398393" cy="6934967"/>
              <a:chOff x="0" y="0"/>
              <a:chExt cx="2222777" cy="1070597"/>
            </a:xfrm>
          </p:grpSpPr>
          <p:sp>
            <p:nvSpPr>
              <p:cNvPr id="4" name="Freeform 4"/>
              <p:cNvSpPr/>
              <p:nvPr/>
            </p:nvSpPr>
            <p:spPr>
              <a:xfrm>
                <a:off x="0" y="0"/>
                <a:ext cx="2222777" cy="1070597"/>
              </a:xfrm>
              <a:custGeom>
                <a:avLst/>
                <a:gdLst/>
                <a:ahLst/>
                <a:cxnLst/>
                <a:rect l="l" t="t" r="r" b="b"/>
                <a:pathLst>
                  <a:path w="2222777" h="1070597">
                    <a:moveTo>
                      <a:pt x="36563" y="0"/>
                    </a:moveTo>
                    <a:lnTo>
                      <a:pt x="2186214" y="0"/>
                    </a:lnTo>
                    <a:cubicBezTo>
                      <a:pt x="2206407" y="0"/>
                      <a:pt x="2222777" y="16370"/>
                      <a:pt x="2222777" y="36563"/>
                    </a:cubicBezTo>
                    <a:lnTo>
                      <a:pt x="2222777" y="1034034"/>
                    </a:lnTo>
                    <a:cubicBezTo>
                      <a:pt x="2222777" y="1054228"/>
                      <a:pt x="2206407" y="1070597"/>
                      <a:pt x="2186214" y="1070597"/>
                    </a:cubicBezTo>
                    <a:lnTo>
                      <a:pt x="36563" y="1070597"/>
                    </a:lnTo>
                    <a:cubicBezTo>
                      <a:pt x="16370" y="1070597"/>
                      <a:pt x="0" y="1054228"/>
                      <a:pt x="0" y="1034034"/>
                    </a:cubicBezTo>
                    <a:lnTo>
                      <a:pt x="0" y="36563"/>
                    </a:lnTo>
                    <a:cubicBezTo>
                      <a:pt x="0" y="16370"/>
                      <a:pt x="16370" y="0"/>
                      <a:pt x="36563" y="0"/>
                    </a:cubicBezTo>
                    <a:close/>
                  </a:path>
                </a:pathLst>
              </a:custGeom>
              <a:solidFill>
                <a:srgbClr val="FFFFFF"/>
              </a:solidFill>
            </p:spPr>
            <p:txBody>
              <a:bodyPr/>
              <a:lstStyle/>
              <a:p>
                <a:endParaRPr lang="en-US"/>
              </a:p>
            </p:txBody>
          </p:sp>
          <p:sp>
            <p:nvSpPr>
              <p:cNvPr id="5" name="TextBox 5"/>
              <p:cNvSpPr txBox="1"/>
              <p:nvPr/>
            </p:nvSpPr>
            <p:spPr>
              <a:xfrm>
                <a:off x="0" y="-38100"/>
                <a:ext cx="2222777" cy="1108697"/>
              </a:xfrm>
              <a:prstGeom prst="rect">
                <a:avLst/>
              </a:prstGeom>
            </p:spPr>
            <p:txBody>
              <a:bodyPr lIns="55577" tIns="55577" rIns="55577" bIns="55577" rtlCol="0" anchor="ctr"/>
              <a:lstStyle/>
              <a:p>
                <a:pPr algn="ctr">
                  <a:lnSpc>
                    <a:spcPts val="2659"/>
                  </a:lnSpc>
                  <a:spcBef>
                    <a:spcPct val="0"/>
                  </a:spcBef>
                </a:pPr>
                <a:endParaRPr/>
              </a:p>
            </p:txBody>
          </p:sp>
        </p:grpSp>
        <p:sp>
          <p:nvSpPr>
            <p:cNvPr id="6" name="Freeform 6"/>
            <p:cNvSpPr/>
            <p:nvPr/>
          </p:nvSpPr>
          <p:spPr>
            <a:xfrm>
              <a:off x="294983" y="213184"/>
              <a:ext cx="13824874" cy="6508598"/>
            </a:xfrm>
            <a:custGeom>
              <a:avLst/>
              <a:gdLst/>
              <a:ahLst/>
              <a:cxnLst/>
              <a:rect l="l" t="t" r="r" b="b"/>
              <a:pathLst>
                <a:path w="13824874" h="6508598">
                  <a:moveTo>
                    <a:pt x="0" y="0"/>
                  </a:moveTo>
                  <a:lnTo>
                    <a:pt x="13824874" y="0"/>
                  </a:lnTo>
                  <a:lnTo>
                    <a:pt x="13824874" y="6508599"/>
                  </a:lnTo>
                  <a:lnTo>
                    <a:pt x="0" y="6508599"/>
                  </a:lnTo>
                  <a:lnTo>
                    <a:pt x="0" y="0"/>
                  </a:lnTo>
                  <a:close/>
                </a:path>
              </a:pathLst>
            </a:custGeom>
            <a:blipFill>
              <a:blip r:embed="rId2"/>
              <a:stretch>
                <a:fillRect l="-142" t="-1241" r="-825" b="-1664"/>
              </a:stretch>
            </a:blipFill>
          </p:spPr>
          <p:txBody>
            <a:bodyPr/>
            <a:lstStyle/>
            <a:p>
              <a:endParaRPr lang="en-US"/>
            </a:p>
          </p:txBody>
        </p:sp>
      </p:grpSp>
      <p:sp>
        <p:nvSpPr>
          <p:cNvPr id="7" name="TextBox 7"/>
          <p:cNvSpPr txBox="1"/>
          <p:nvPr/>
        </p:nvSpPr>
        <p:spPr>
          <a:xfrm>
            <a:off x="1521145" y="549572"/>
            <a:ext cx="15245709" cy="1158282"/>
          </a:xfrm>
          <a:prstGeom prst="rect">
            <a:avLst/>
          </a:prstGeom>
        </p:spPr>
        <p:txBody>
          <a:bodyPr lIns="0" tIns="0" rIns="0" bIns="0" rtlCol="0" anchor="t">
            <a:spAutoFit/>
          </a:bodyPr>
          <a:lstStyle/>
          <a:p>
            <a:pPr algn="ctr">
              <a:lnSpc>
                <a:spcPts val="8581"/>
              </a:lnSpc>
            </a:pPr>
            <a:r>
              <a:rPr lang="en-US" sz="8938">
                <a:solidFill>
                  <a:srgbClr val="000000"/>
                </a:solidFill>
                <a:latin typeface="Futura Display"/>
                <a:ea typeface="Futura Display"/>
                <a:cs typeface="Futura Display"/>
                <a:sym typeface="Futura Display"/>
              </a:rPr>
              <a:t>CONTEXT-WHAT IS REVENGE TOURISM?</a:t>
            </a:r>
          </a:p>
        </p:txBody>
      </p:sp>
      <p:sp>
        <p:nvSpPr>
          <p:cNvPr id="8" name="TextBox 8"/>
          <p:cNvSpPr txBox="1"/>
          <p:nvPr/>
        </p:nvSpPr>
        <p:spPr>
          <a:xfrm>
            <a:off x="1521145" y="7986632"/>
            <a:ext cx="8686760" cy="1271668"/>
          </a:xfrm>
          <a:prstGeom prst="rect">
            <a:avLst/>
          </a:prstGeom>
        </p:spPr>
        <p:txBody>
          <a:bodyPr lIns="0" tIns="0" rIns="0" bIns="0" rtlCol="0" anchor="t">
            <a:spAutoFit/>
          </a:bodyPr>
          <a:lstStyle/>
          <a:p>
            <a:pPr algn="l">
              <a:lnSpc>
                <a:spcPts val="3408"/>
              </a:lnSpc>
            </a:pPr>
            <a:r>
              <a:rPr lang="en-US" sz="2434">
                <a:solidFill>
                  <a:srgbClr val="000000"/>
                </a:solidFill>
                <a:latin typeface="Lexend Deca"/>
                <a:ea typeface="Lexend Deca"/>
                <a:cs typeface="Lexend Deca"/>
                <a:sym typeface="Lexend Deca"/>
              </a:rPr>
              <a:t>Source:</a:t>
            </a:r>
            <a:r>
              <a:rPr lang="en-US" sz="2434" u="sng">
                <a:solidFill>
                  <a:srgbClr val="000000"/>
                </a:solidFill>
                <a:latin typeface="Lexend Deca"/>
                <a:ea typeface="Lexend Deca"/>
                <a:cs typeface="Lexend Deca"/>
                <a:sym typeface="Lexend Deca"/>
                <a:hlinkClick r:id="rId3" tooltip="https://www.straitstimes.com/asia/se-asia/surge-in-revenge-travel-as-pent-up-demand-drives-more-malaysians-abroad"/>
              </a:rPr>
              <a:t>https://www.straitstimes.com/asia/se-asia/surge-in-revenge-travel-as-pent-up-demand-drives-more-malaysians-abroad</a:t>
            </a:r>
          </a:p>
        </p:txBody>
      </p:sp>
      <p:sp>
        <p:nvSpPr>
          <p:cNvPr id="9" name="TextBox 9"/>
          <p:cNvSpPr txBox="1"/>
          <p:nvPr/>
        </p:nvSpPr>
        <p:spPr>
          <a:xfrm>
            <a:off x="11285916" y="2367215"/>
            <a:ext cx="6435970" cy="614807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Lexend Deca"/>
                <a:ea typeface="Lexend Deca"/>
                <a:cs typeface="Lexend Deca"/>
                <a:sym typeface="Lexend Deca"/>
              </a:rPr>
              <a:t>Revenge Tourism is when people travel more frequently to make up for lost time previously, such as during Covid 19. </a:t>
            </a:r>
          </a:p>
          <a:p>
            <a:pPr algn="l">
              <a:lnSpc>
                <a:spcPts val="4480"/>
              </a:lnSpc>
            </a:pPr>
            <a:endParaRPr lang="en-US" sz="3200">
              <a:solidFill>
                <a:srgbClr val="000000"/>
              </a:solidFill>
              <a:latin typeface="Lexend Deca"/>
              <a:ea typeface="Lexend Deca"/>
              <a:cs typeface="Lexend Deca"/>
              <a:sym typeface="Lexend Deca"/>
            </a:endParaRPr>
          </a:p>
          <a:p>
            <a:pPr marL="690881" lvl="1" indent="-345440" algn="l">
              <a:lnSpc>
                <a:spcPts val="4480"/>
              </a:lnSpc>
              <a:buFont typeface="Arial"/>
              <a:buChar char="•"/>
            </a:pPr>
            <a:r>
              <a:rPr lang="en-US" sz="3200">
                <a:solidFill>
                  <a:srgbClr val="000000"/>
                </a:solidFill>
                <a:latin typeface="Lexend Deca"/>
                <a:ea typeface="Lexend Deca"/>
                <a:cs typeface="Lexend Deca"/>
                <a:sym typeface="Lexend Deca"/>
              </a:rPr>
              <a:t>Singapore is able to use Revenge Tourism as a great opportunity for financial recovery and stability in the tourism sector.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sp>
        <p:nvSpPr>
          <p:cNvPr id="2" name="TextBox 2"/>
          <p:cNvSpPr txBox="1"/>
          <p:nvPr/>
        </p:nvSpPr>
        <p:spPr>
          <a:xfrm>
            <a:off x="1521145" y="705044"/>
            <a:ext cx="15245709"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REVENGE TOURISM</a:t>
            </a:r>
          </a:p>
        </p:txBody>
      </p:sp>
      <p:sp>
        <p:nvSpPr>
          <p:cNvPr id="3" name="TextBox 3"/>
          <p:cNvSpPr txBox="1"/>
          <p:nvPr/>
        </p:nvSpPr>
        <p:spPr>
          <a:xfrm>
            <a:off x="835644" y="6316980"/>
            <a:ext cx="16423656" cy="2941320"/>
          </a:xfrm>
          <a:prstGeom prst="rect">
            <a:avLst/>
          </a:prstGeom>
        </p:spPr>
        <p:txBody>
          <a:bodyPr lIns="0" tIns="0" rIns="0" bIns="0" rtlCol="0" anchor="t">
            <a:spAutoFit/>
          </a:bodyPr>
          <a:lstStyle/>
          <a:p>
            <a:pPr algn="l">
              <a:lnSpc>
                <a:spcPts val="5880"/>
              </a:lnSpc>
            </a:pPr>
            <a:r>
              <a:rPr lang="en-US" sz="4200">
                <a:solidFill>
                  <a:srgbClr val="000000"/>
                </a:solidFill>
                <a:latin typeface="Lexend Deca"/>
                <a:ea typeface="Lexend Deca"/>
                <a:cs typeface="Lexend Deca"/>
                <a:sym typeface="Lexend Deca"/>
              </a:rPr>
              <a:t>Hence, our third data mining goal is to identify whether revenge tourism is still viable in 2024. This includes identifying</a:t>
            </a:r>
          </a:p>
          <a:p>
            <a:pPr marL="906780" lvl="1" indent="-453390" algn="l">
              <a:lnSpc>
                <a:spcPts val="5880"/>
              </a:lnSpc>
              <a:buFont typeface="Arial"/>
              <a:buChar char="•"/>
            </a:pPr>
            <a:r>
              <a:rPr lang="en-US" sz="4200" u="sng">
                <a:solidFill>
                  <a:srgbClr val="000000"/>
                </a:solidFill>
                <a:latin typeface="Lexend Deca"/>
                <a:ea typeface="Lexend Deca"/>
                <a:cs typeface="Lexend Deca"/>
                <a:sym typeface="Lexend Deca"/>
              </a:rPr>
              <a:t>if we can continue to raise the overall prices for tourists.</a:t>
            </a:r>
          </a:p>
          <a:p>
            <a:pPr algn="l">
              <a:lnSpc>
                <a:spcPts val="5880"/>
              </a:lnSpc>
            </a:pPr>
            <a:endParaRPr lang="en-US" sz="4200" u="sng">
              <a:solidFill>
                <a:srgbClr val="000000"/>
              </a:solidFill>
              <a:latin typeface="Lexend Deca"/>
              <a:ea typeface="Lexend Deca"/>
              <a:cs typeface="Lexend Deca"/>
              <a:sym typeface="Lexend Deca"/>
            </a:endParaRPr>
          </a:p>
        </p:txBody>
      </p:sp>
      <p:sp>
        <p:nvSpPr>
          <p:cNvPr id="4" name="TextBox 4"/>
          <p:cNvSpPr txBox="1"/>
          <p:nvPr/>
        </p:nvSpPr>
        <p:spPr>
          <a:xfrm>
            <a:off x="514350" y="2917026"/>
            <a:ext cx="17259300" cy="3351137"/>
          </a:xfrm>
          <a:prstGeom prst="rect">
            <a:avLst/>
          </a:prstGeom>
        </p:spPr>
        <p:txBody>
          <a:bodyPr lIns="0" tIns="0" rIns="0" bIns="0" rtlCol="0" anchor="t">
            <a:spAutoFit/>
          </a:bodyPr>
          <a:lstStyle/>
          <a:p>
            <a:pPr algn="l">
              <a:lnSpc>
                <a:spcPts val="5341"/>
              </a:lnSpc>
            </a:pPr>
            <a:r>
              <a:rPr lang="en-US" sz="3815">
                <a:solidFill>
                  <a:srgbClr val="000000"/>
                </a:solidFill>
                <a:latin typeface="Lexend Deca"/>
                <a:ea typeface="Lexend Deca"/>
                <a:cs typeface="Lexend Deca"/>
                <a:sym typeface="Lexend Deca"/>
              </a:rPr>
              <a:t>Due to revenge tourism, more tourists arriving in Singapore are willing to pay and spend more money despite increasing costs.</a:t>
            </a:r>
          </a:p>
          <a:p>
            <a:pPr algn="l">
              <a:lnSpc>
                <a:spcPts val="5341"/>
              </a:lnSpc>
            </a:pPr>
            <a:r>
              <a:rPr lang="en-US" sz="3815">
                <a:solidFill>
                  <a:srgbClr val="000000"/>
                </a:solidFill>
                <a:latin typeface="Lexend Deca"/>
                <a:ea typeface="Lexend Deca"/>
                <a:cs typeface="Lexend Deca"/>
                <a:sym typeface="Lexend Deca"/>
              </a:rPr>
              <a:t>Singapore is able to seize this opportunity to increase prices further, allowing Singapore to increase tourism receipt without significantly affecting tourist arrivals negatively.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56520"/>
          </a:xfrm>
          <a:custGeom>
            <a:avLst/>
            <a:gdLst/>
            <a:ahLst/>
            <a:cxnLst/>
            <a:rect l="l" t="t" r="r" b="b"/>
            <a:pathLst>
              <a:path w="18288000" h="10256520">
                <a:moveTo>
                  <a:pt x="0" y="0"/>
                </a:moveTo>
                <a:lnTo>
                  <a:pt x="18288000" y="0"/>
                </a:lnTo>
                <a:lnTo>
                  <a:pt x="18288000" y="10256520"/>
                </a:lnTo>
                <a:lnTo>
                  <a:pt x="0" y="10256520"/>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a:off x="330097" y="2835316"/>
            <a:ext cx="11522842" cy="6109571"/>
            <a:chOff x="0" y="0"/>
            <a:chExt cx="15363790" cy="8146095"/>
          </a:xfrm>
        </p:grpSpPr>
        <p:grpSp>
          <p:nvGrpSpPr>
            <p:cNvPr id="3" name="Group 3"/>
            <p:cNvGrpSpPr/>
            <p:nvPr/>
          </p:nvGrpSpPr>
          <p:grpSpPr>
            <a:xfrm>
              <a:off x="0" y="0"/>
              <a:ext cx="15363790" cy="8146095"/>
              <a:chOff x="0" y="0"/>
              <a:chExt cx="2307158" cy="1223287"/>
            </a:xfrm>
          </p:grpSpPr>
          <p:sp>
            <p:nvSpPr>
              <p:cNvPr id="4" name="Freeform 4"/>
              <p:cNvSpPr/>
              <p:nvPr/>
            </p:nvSpPr>
            <p:spPr>
              <a:xfrm>
                <a:off x="0" y="0"/>
                <a:ext cx="2307158" cy="1223287"/>
              </a:xfrm>
              <a:custGeom>
                <a:avLst/>
                <a:gdLst/>
                <a:ahLst/>
                <a:cxnLst/>
                <a:rect l="l" t="t" r="r" b="b"/>
                <a:pathLst>
                  <a:path w="2307158" h="1223287">
                    <a:moveTo>
                      <a:pt x="35226" y="0"/>
                    </a:moveTo>
                    <a:lnTo>
                      <a:pt x="2271932" y="0"/>
                    </a:lnTo>
                    <a:cubicBezTo>
                      <a:pt x="2281275" y="0"/>
                      <a:pt x="2290234" y="3711"/>
                      <a:pt x="2296841" y="10317"/>
                    </a:cubicBezTo>
                    <a:cubicBezTo>
                      <a:pt x="2303447" y="16924"/>
                      <a:pt x="2307158" y="25883"/>
                      <a:pt x="2307158" y="35226"/>
                    </a:cubicBezTo>
                    <a:lnTo>
                      <a:pt x="2307158" y="1188061"/>
                    </a:lnTo>
                    <a:cubicBezTo>
                      <a:pt x="2307158" y="1207516"/>
                      <a:pt x="2291387" y="1223287"/>
                      <a:pt x="2271932" y="1223287"/>
                    </a:cubicBezTo>
                    <a:lnTo>
                      <a:pt x="35226" y="1223287"/>
                    </a:lnTo>
                    <a:cubicBezTo>
                      <a:pt x="15771" y="1223287"/>
                      <a:pt x="0" y="1207516"/>
                      <a:pt x="0" y="1188061"/>
                    </a:cubicBezTo>
                    <a:lnTo>
                      <a:pt x="0" y="35226"/>
                    </a:lnTo>
                    <a:cubicBezTo>
                      <a:pt x="0" y="25883"/>
                      <a:pt x="3711" y="16924"/>
                      <a:pt x="10317" y="10317"/>
                    </a:cubicBezTo>
                    <a:cubicBezTo>
                      <a:pt x="16924" y="3711"/>
                      <a:pt x="25883" y="0"/>
                      <a:pt x="35226" y="0"/>
                    </a:cubicBezTo>
                    <a:close/>
                  </a:path>
                </a:pathLst>
              </a:custGeom>
              <a:solidFill>
                <a:srgbClr val="FFFFFF"/>
              </a:solidFill>
            </p:spPr>
            <p:txBody>
              <a:bodyPr/>
              <a:lstStyle/>
              <a:p>
                <a:endParaRPr lang="en-US"/>
              </a:p>
            </p:txBody>
          </p:sp>
          <p:sp>
            <p:nvSpPr>
              <p:cNvPr id="5" name="TextBox 5"/>
              <p:cNvSpPr txBox="1"/>
              <p:nvPr/>
            </p:nvSpPr>
            <p:spPr>
              <a:xfrm>
                <a:off x="0" y="-38100"/>
                <a:ext cx="2307158" cy="1261387"/>
              </a:xfrm>
              <a:prstGeom prst="rect">
                <a:avLst/>
              </a:prstGeom>
            </p:spPr>
            <p:txBody>
              <a:bodyPr lIns="55577" tIns="55577" rIns="55577" bIns="55577" rtlCol="0" anchor="ctr"/>
              <a:lstStyle/>
              <a:p>
                <a:pPr algn="ctr">
                  <a:lnSpc>
                    <a:spcPts val="2659"/>
                  </a:lnSpc>
                  <a:spcBef>
                    <a:spcPct val="0"/>
                  </a:spcBef>
                </a:pPr>
                <a:endParaRPr/>
              </a:p>
            </p:txBody>
          </p:sp>
        </p:grpSp>
        <p:sp>
          <p:nvSpPr>
            <p:cNvPr id="6" name="Freeform 6"/>
            <p:cNvSpPr/>
            <p:nvPr/>
          </p:nvSpPr>
          <p:spPr>
            <a:xfrm>
              <a:off x="161841" y="271611"/>
              <a:ext cx="14957161" cy="7516543"/>
            </a:xfrm>
            <a:custGeom>
              <a:avLst/>
              <a:gdLst/>
              <a:ahLst/>
              <a:cxnLst/>
              <a:rect l="l" t="t" r="r" b="b"/>
              <a:pathLst>
                <a:path w="14957161" h="7516543">
                  <a:moveTo>
                    <a:pt x="0" y="0"/>
                  </a:moveTo>
                  <a:lnTo>
                    <a:pt x="14957162" y="0"/>
                  </a:lnTo>
                  <a:lnTo>
                    <a:pt x="14957162" y="7516542"/>
                  </a:lnTo>
                  <a:lnTo>
                    <a:pt x="0" y="7516542"/>
                  </a:lnTo>
                  <a:lnTo>
                    <a:pt x="0" y="0"/>
                  </a:lnTo>
                  <a:close/>
                </a:path>
              </a:pathLst>
            </a:custGeom>
            <a:blipFill>
              <a:blip r:embed="rId2"/>
              <a:stretch>
                <a:fillRect/>
              </a:stretch>
            </a:blipFill>
          </p:spPr>
          <p:txBody>
            <a:bodyPr/>
            <a:lstStyle/>
            <a:p>
              <a:endParaRPr lang="en-US"/>
            </a:p>
          </p:txBody>
        </p:sp>
      </p:grpSp>
      <p:grpSp>
        <p:nvGrpSpPr>
          <p:cNvPr id="7" name="Group 7"/>
          <p:cNvGrpSpPr/>
          <p:nvPr/>
        </p:nvGrpSpPr>
        <p:grpSpPr>
          <a:xfrm>
            <a:off x="330097" y="9053738"/>
            <a:ext cx="11659692" cy="680032"/>
            <a:chOff x="0" y="0"/>
            <a:chExt cx="2399980" cy="139975"/>
          </a:xfrm>
        </p:grpSpPr>
        <p:sp>
          <p:nvSpPr>
            <p:cNvPr id="8" name="Freeform 8"/>
            <p:cNvSpPr/>
            <p:nvPr/>
          </p:nvSpPr>
          <p:spPr>
            <a:xfrm>
              <a:off x="0" y="0"/>
              <a:ext cx="2399980" cy="139975"/>
            </a:xfrm>
            <a:custGeom>
              <a:avLst/>
              <a:gdLst/>
              <a:ahLst/>
              <a:cxnLst/>
              <a:rect l="l" t="t" r="r" b="b"/>
              <a:pathLst>
                <a:path w="2399980" h="139975">
                  <a:moveTo>
                    <a:pt x="33863" y="0"/>
                  </a:moveTo>
                  <a:lnTo>
                    <a:pt x="2366117" y="0"/>
                  </a:lnTo>
                  <a:cubicBezTo>
                    <a:pt x="2384819" y="0"/>
                    <a:pt x="2399980" y="15161"/>
                    <a:pt x="2399980" y="33863"/>
                  </a:cubicBezTo>
                  <a:lnTo>
                    <a:pt x="2399980" y="106111"/>
                  </a:lnTo>
                  <a:cubicBezTo>
                    <a:pt x="2399980" y="124814"/>
                    <a:pt x="2384819" y="139975"/>
                    <a:pt x="2366117" y="139975"/>
                  </a:cubicBezTo>
                  <a:lnTo>
                    <a:pt x="33863" y="139975"/>
                  </a:lnTo>
                  <a:cubicBezTo>
                    <a:pt x="15161" y="139975"/>
                    <a:pt x="0" y="124814"/>
                    <a:pt x="0" y="106111"/>
                  </a:cubicBezTo>
                  <a:lnTo>
                    <a:pt x="0" y="33863"/>
                  </a:lnTo>
                  <a:cubicBezTo>
                    <a:pt x="0" y="15161"/>
                    <a:pt x="15161" y="0"/>
                    <a:pt x="33863" y="0"/>
                  </a:cubicBezTo>
                  <a:close/>
                </a:path>
              </a:pathLst>
            </a:custGeom>
            <a:solidFill>
              <a:srgbClr val="FFFFFF"/>
            </a:solidFill>
          </p:spPr>
          <p:txBody>
            <a:bodyPr/>
            <a:lstStyle/>
            <a:p>
              <a:endParaRPr lang="en-US"/>
            </a:p>
          </p:txBody>
        </p:sp>
        <p:sp>
          <p:nvSpPr>
            <p:cNvPr id="9" name="TextBox 9"/>
            <p:cNvSpPr txBox="1"/>
            <p:nvPr/>
          </p:nvSpPr>
          <p:spPr>
            <a:xfrm>
              <a:off x="0" y="-38100"/>
              <a:ext cx="2399980" cy="178075"/>
            </a:xfrm>
            <a:prstGeom prst="rect">
              <a:avLst/>
            </a:prstGeom>
          </p:spPr>
          <p:txBody>
            <a:bodyPr lIns="55577" tIns="55577" rIns="55577" bIns="55577" rtlCol="0" anchor="ctr"/>
            <a:lstStyle/>
            <a:p>
              <a:pPr algn="ctr">
                <a:lnSpc>
                  <a:spcPts val="2659"/>
                </a:lnSpc>
                <a:spcBef>
                  <a:spcPct val="0"/>
                </a:spcBef>
              </a:pPr>
              <a:endParaRPr/>
            </a:p>
          </p:txBody>
        </p:sp>
      </p:grpSp>
      <p:sp>
        <p:nvSpPr>
          <p:cNvPr id="10" name="Freeform 10"/>
          <p:cNvSpPr/>
          <p:nvPr/>
        </p:nvSpPr>
        <p:spPr>
          <a:xfrm>
            <a:off x="513213" y="9084931"/>
            <a:ext cx="2431782" cy="648839"/>
          </a:xfrm>
          <a:custGeom>
            <a:avLst/>
            <a:gdLst/>
            <a:ahLst/>
            <a:cxnLst/>
            <a:rect l="l" t="t" r="r" b="b"/>
            <a:pathLst>
              <a:path w="2431782" h="648839">
                <a:moveTo>
                  <a:pt x="0" y="0"/>
                </a:moveTo>
                <a:lnTo>
                  <a:pt x="2431782" y="0"/>
                </a:lnTo>
                <a:lnTo>
                  <a:pt x="2431782" y="648839"/>
                </a:lnTo>
                <a:lnTo>
                  <a:pt x="0" y="648839"/>
                </a:lnTo>
                <a:lnTo>
                  <a:pt x="0" y="0"/>
                </a:lnTo>
                <a:close/>
              </a:path>
            </a:pathLst>
          </a:custGeom>
          <a:blipFill>
            <a:blip r:embed="rId3"/>
            <a:stretch>
              <a:fillRect/>
            </a:stretch>
          </a:blipFill>
        </p:spPr>
        <p:txBody>
          <a:bodyPr/>
          <a:lstStyle/>
          <a:p>
            <a:endParaRPr lang="en-US"/>
          </a:p>
        </p:txBody>
      </p:sp>
      <p:sp>
        <p:nvSpPr>
          <p:cNvPr id="11" name="Freeform 11"/>
          <p:cNvSpPr/>
          <p:nvPr/>
        </p:nvSpPr>
        <p:spPr>
          <a:xfrm>
            <a:off x="3402136" y="9084931"/>
            <a:ext cx="2556129" cy="637556"/>
          </a:xfrm>
          <a:custGeom>
            <a:avLst/>
            <a:gdLst/>
            <a:ahLst/>
            <a:cxnLst/>
            <a:rect l="l" t="t" r="r" b="b"/>
            <a:pathLst>
              <a:path w="2556129" h="637556">
                <a:moveTo>
                  <a:pt x="0" y="0"/>
                </a:moveTo>
                <a:lnTo>
                  <a:pt x="2556129" y="0"/>
                </a:lnTo>
                <a:lnTo>
                  <a:pt x="2556129" y="637556"/>
                </a:lnTo>
                <a:lnTo>
                  <a:pt x="0" y="637556"/>
                </a:lnTo>
                <a:lnTo>
                  <a:pt x="0" y="0"/>
                </a:lnTo>
                <a:close/>
              </a:path>
            </a:pathLst>
          </a:custGeom>
          <a:blipFill>
            <a:blip r:embed="rId4"/>
            <a:stretch>
              <a:fillRect/>
            </a:stretch>
          </a:blipFill>
        </p:spPr>
        <p:txBody>
          <a:bodyPr/>
          <a:lstStyle/>
          <a:p>
            <a:endParaRPr lang="en-US"/>
          </a:p>
        </p:txBody>
      </p:sp>
      <p:sp>
        <p:nvSpPr>
          <p:cNvPr id="12" name="Freeform 12"/>
          <p:cNvSpPr/>
          <p:nvPr/>
        </p:nvSpPr>
        <p:spPr>
          <a:xfrm>
            <a:off x="6415465" y="9084931"/>
            <a:ext cx="2406632" cy="637556"/>
          </a:xfrm>
          <a:custGeom>
            <a:avLst/>
            <a:gdLst/>
            <a:ahLst/>
            <a:cxnLst/>
            <a:rect l="l" t="t" r="r" b="b"/>
            <a:pathLst>
              <a:path w="2406632" h="637556">
                <a:moveTo>
                  <a:pt x="0" y="0"/>
                </a:moveTo>
                <a:lnTo>
                  <a:pt x="2406632" y="0"/>
                </a:lnTo>
                <a:lnTo>
                  <a:pt x="2406632" y="637556"/>
                </a:lnTo>
                <a:lnTo>
                  <a:pt x="0" y="637556"/>
                </a:lnTo>
                <a:lnTo>
                  <a:pt x="0" y="0"/>
                </a:lnTo>
                <a:close/>
              </a:path>
            </a:pathLst>
          </a:custGeom>
          <a:blipFill>
            <a:blip r:embed="rId5"/>
            <a:stretch>
              <a:fillRect/>
            </a:stretch>
          </a:blipFill>
        </p:spPr>
        <p:txBody>
          <a:bodyPr/>
          <a:lstStyle/>
          <a:p>
            <a:endParaRPr lang="en-US"/>
          </a:p>
        </p:txBody>
      </p:sp>
      <p:sp>
        <p:nvSpPr>
          <p:cNvPr id="13" name="Freeform 13"/>
          <p:cNvSpPr/>
          <p:nvPr/>
        </p:nvSpPr>
        <p:spPr>
          <a:xfrm>
            <a:off x="9214247" y="9084931"/>
            <a:ext cx="2562255" cy="637556"/>
          </a:xfrm>
          <a:custGeom>
            <a:avLst/>
            <a:gdLst/>
            <a:ahLst/>
            <a:cxnLst/>
            <a:rect l="l" t="t" r="r" b="b"/>
            <a:pathLst>
              <a:path w="2562255" h="637556">
                <a:moveTo>
                  <a:pt x="0" y="0"/>
                </a:moveTo>
                <a:lnTo>
                  <a:pt x="2562255" y="0"/>
                </a:lnTo>
                <a:lnTo>
                  <a:pt x="2562255" y="637556"/>
                </a:lnTo>
                <a:lnTo>
                  <a:pt x="0" y="637556"/>
                </a:lnTo>
                <a:lnTo>
                  <a:pt x="0" y="0"/>
                </a:lnTo>
                <a:close/>
              </a:path>
            </a:pathLst>
          </a:custGeom>
          <a:blipFill>
            <a:blip r:embed="rId6"/>
            <a:stretch>
              <a:fillRect/>
            </a:stretch>
          </a:blipFill>
        </p:spPr>
        <p:txBody>
          <a:bodyPr/>
          <a:lstStyle/>
          <a:p>
            <a:endParaRPr lang="en-US"/>
          </a:p>
        </p:txBody>
      </p:sp>
      <p:grpSp>
        <p:nvGrpSpPr>
          <p:cNvPr id="14" name="Group 14"/>
          <p:cNvGrpSpPr/>
          <p:nvPr/>
        </p:nvGrpSpPr>
        <p:grpSpPr>
          <a:xfrm>
            <a:off x="3054929" y="9290713"/>
            <a:ext cx="237274" cy="237274"/>
            <a:chOff x="0" y="0"/>
            <a:chExt cx="812800" cy="812800"/>
          </a:xfrm>
        </p:grpSpPr>
        <p:sp>
          <p:nvSpPr>
            <p:cNvPr id="15" name="Freeform 1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31356E"/>
            </a:solidFill>
          </p:spPr>
          <p:txBody>
            <a:bodyPr/>
            <a:lstStyle/>
            <a:p>
              <a:endParaRPr lang="en-US"/>
            </a:p>
          </p:txBody>
        </p:sp>
        <p:sp>
          <p:nvSpPr>
            <p:cNvPr id="16" name="TextBox 16"/>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2646014" y="413184"/>
            <a:ext cx="12995972"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ANALYSIS</a:t>
            </a:r>
          </a:p>
        </p:txBody>
      </p:sp>
      <p:sp>
        <p:nvSpPr>
          <p:cNvPr id="18" name="TextBox 18"/>
          <p:cNvSpPr txBox="1"/>
          <p:nvPr/>
        </p:nvSpPr>
        <p:spPr>
          <a:xfrm>
            <a:off x="12109861" y="3093123"/>
            <a:ext cx="5678314" cy="5536807"/>
          </a:xfrm>
          <a:prstGeom prst="rect">
            <a:avLst/>
          </a:prstGeom>
        </p:spPr>
        <p:txBody>
          <a:bodyPr lIns="0" tIns="0" rIns="0" bIns="0" rtlCol="0" anchor="t">
            <a:spAutoFit/>
          </a:bodyPr>
          <a:lstStyle/>
          <a:p>
            <a:pPr marL="624052" lvl="1" indent="-312026" algn="l">
              <a:lnSpc>
                <a:spcPts val="4046"/>
              </a:lnSpc>
              <a:buFont typeface="Arial"/>
              <a:buChar char="•"/>
            </a:pPr>
            <a:r>
              <a:rPr lang="en-US" sz="2890">
                <a:solidFill>
                  <a:srgbClr val="000000"/>
                </a:solidFill>
                <a:latin typeface="Lexend Deca"/>
                <a:ea typeface="Lexend Deca"/>
                <a:cs typeface="Lexend Deca"/>
                <a:sym typeface="Lexend Deca"/>
              </a:rPr>
              <a:t>Total arrival and occupancy rates show a general upward trend from 2008 to 2022.</a:t>
            </a:r>
          </a:p>
          <a:p>
            <a:pPr algn="l">
              <a:lnSpc>
                <a:spcPts val="4046"/>
              </a:lnSpc>
            </a:pPr>
            <a:endParaRPr lang="en-US" sz="2890">
              <a:solidFill>
                <a:srgbClr val="000000"/>
              </a:solidFill>
              <a:latin typeface="Lexend Deca"/>
              <a:ea typeface="Lexend Deca"/>
              <a:cs typeface="Lexend Deca"/>
              <a:sym typeface="Lexend Deca"/>
            </a:endParaRPr>
          </a:p>
          <a:p>
            <a:pPr marL="624052" lvl="1" indent="-312026" algn="l">
              <a:lnSpc>
                <a:spcPts val="4046"/>
              </a:lnSpc>
              <a:buFont typeface="Arial"/>
              <a:buChar char="•"/>
            </a:pPr>
            <a:r>
              <a:rPr lang="en-US" sz="2890">
                <a:solidFill>
                  <a:srgbClr val="000000"/>
                </a:solidFill>
                <a:latin typeface="Lexend Deca"/>
                <a:ea typeface="Lexend Deca"/>
                <a:cs typeface="Lexend Deca"/>
                <a:sym typeface="Lexend Deca"/>
              </a:rPr>
              <a:t>Decline in both lines around 2020</a:t>
            </a:r>
          </a:p>
          <a:p>
            <a:pPr algn="l">
              <a:lnSpc>
                <a:spcPts val="4046"/>
              </a:lnSpc>
            </a:pPr>
            <a:endParaRPr lang="en-US" sz="2890">
              <a:solidFill>
                <a:srgbClr val="000000"/>
              </a:solidFill>
              <a:latin typeface="Lexend Deca"/>
              <a:ea typeface="Lexend Deca"/>
              <a:cs typeface="Lexend Deca"/>
              <a:sym typeface="Lexend Deca"/>
            </a:endParaRPr>
          </a:p>
          <a:p>
            <a:pPr marL="624052" lvl="1" indent="-312026" algn="l">
              <a:lnSpc>
                <a:spcPts val="4046"/>
              </a:lnSpc>
              <a:buFont typeface="Arial"/>
              <a:buChar char="•"/>
            </a:pPr>
            <a:r>
              <a:rPr lang="en-US" sz="2890">
                <a:solidFill>
                  <a:srgbClr val="000000"/>
                </a:solidFill>
                <a:latin typeface="Lexend Deca"/>
                <a:ea typeface="Lexend Deca"/>
                <a:cs typeface="Lexend Deca"/>
                <a:sym typeface="Lexend Deca"/>
              </a:rPr>
              <a:t>Post-2020, there is a recovery trend</a:t>
            </a:r>
          </a:p>
          <a:p>
            <a:pPr algn="ctr">
              <a:lnSpc>
                <a:spcPts val="4046"/>
              </a:lnSpc>
              <a:spcBef>
                <a:spcPct val="0"/>
              </a:spcBef>
            </a:pPr>
            <a:endParaRPr lang="en-US" sz="2890">
              <a:solidFill>
                <a:srgbClr val="000000"/>
              </a:solidFill>
              <a:latin typeface="Lexend Deca"/>
              <a:ea typeface="Lexend Deca"/>
              <a:cs typeface="Lexend Deca"/>
              <a:sym typeface="Lexend Deca"/>
            </a:endParaRPr>
          </a:p>
        </p:txBody>
      </p:sp>
      <p:sp>
        <p:nvSpPr>
          <p:cNvPr id="19" name="TextBox 19"/>
          <p:cNvSpPr txBox="1"/>
          <p:nvPr/>
        </p:nvSpPr>
        <p:spPr>
          <a:xfrm>
            <a:off x="-557184" y="2215516"/>
            <a:ext cx="12546973" cy="619800"/>
          </a:xfrm>
          <a:prstGeom prst="rect">
            <a:avLst/>
          </a:prstGeom>
        </p:spPr>
        <p:txBody>
          <a:bodyPr lIns="0" tIns="0" rIns="0" bIns="0" rtlCol="0" anchor="t">
            <a:spAutoFit/>
          </a:bodyPr>
          <a:lstStyle/>
          <a:p>
            <a:pPr algn="ctr">
              <a:lnSpc>
                <a:spcPts val="4588"/>
              </a:lnSpc>
            </a:pPr>
            <a:r>
              <a:rPr lang="en-US" sz="4779">
                <a:solidFill>
                  <a:srgbClr val="000000"/>
                </a:solidFill>
                <a:latin typeface="Futura Display"/>
                <a:ea typeface="Futura Display"/>
                <a:cs typeface="Futura Display"/>
                <a:sym typeface="Futura Display"/>
              </a:rPr>
              <a:t>TOTAL ARRIVALS AND OCCUPANCY RATE PER YEAR</a:t>
            </a:r>
          </a:p>
        </p:txBody>
      </p:sp>
      <p:grpSp>
        <p:nvGrpSpPr>
          <p:cNvPr id="20" name="Group 20"/>
          <p:cNvGrpSpPr/>
          <p:nvPr/>
        </p:nvGrpSpPr>
        <p:grpSpPr>
          <a:xfrm>
            <a:off x="6072565" y="9290713"/>
            <a:ext cx="237274" cy="237274"/>
            <a:chOff x="0" y="0"/>
            <a:chExt cx="812800" cy="812800"/>
          </a:xfrm>
        </p:grpSpPr>
        <p:sp>
          <p:nvSpPr>
            <p:cNvPr id="21" name="Freeform 21"/>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31356E"/>
            </a:solidFill>
          </p:spPr>
          <p:txBody>
            <a:bodyPr/>
            <a:lstStyle/>
            <a:p>
              <a:endParaRPr lang="en-US"/>
            </a:p>
          </p:txBody>
        </p:sp>
        <p:sp>
          <p:nvSpPr>
            <p:cNvPr id="22" name="TextBox 22"/>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8906726" y="9290713"/>
            <a:ext cx="237274" cy="237274"/>
            <a:chOff x="0" y="0"/>
            <a:chExt cx="812800" cy="812800"/>
          </a:xfrm>
        </p:grpSpPr>
        <p:sp>
          <p:nvSpPr>
            <p:cNvPr id="24" name="Freeform 24"/>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31356E"/>
            </a:solidFill>
          </p:spPr>
          <p:txBody>
            <a:bodyPr/>
            <a:lstStyle/>
            <a:p>
              <a:endParaRPr lang="en-US"/>
            </a:p>
          </p:txBody>
        </p:sp>
        <p:sp>
          <p:nvSpPr>
            <p:cNvPr id="25" name="TextBox 25"/>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26" name="AutoShape 26"/>
          <p:cNvSpPr/>
          <p:nvPr/>
        </p:nvSpPr>
        <p:spPr>
          <a:xfrm flipH="1">
            <a:off x="8711177" y="4721797"/>
            <a:ext cx="628373" cy="843407"/>
          </a:xfrm>
          <a:prstGeom prst="line">
            <a:avLst/>
          </a:prstGeom>
          <a:ln w="38100" cap="flat">
            <a:solidFill>
              <a:srgbClr val="000000"/>
            </a:solidFill>
            <a:prstDash val="solid"/>
            <a:headEnd type="none" w="sm" len="sm"/>
            <a:tailEnd type="arrow" w="med" len="sm"/>
          </a:ln>
        </p:spPr>
        <p:txBody>
          <a:bodyPr/>
          <a:lstStyle/>
          <a:p>
            <a:endParaRPr lang="en-US"/>
          </a:p>
        </p:txBody>
      </p:sp>
      <p:grpSp>
        <p:nvGrpSpPr>
          <p:cNvPr id="27" name="Group 27"/>
          <p:cNvGrpSpPr/>
          <p:nvPr/>
        </p:nvGrpSpPr>
        <p:grpSpPr>
          <a:xfrm>
            <a:off x="7618781" y="2835316"/>
            <a:ext cx="4234158" cy="2908990"/>
            <a:chOff x="0" y="0"/>
            <a:chExt cx="5645544" cy="3878653"/>
          </a:xfrm>
        </p:grpSpPr>
        <p:sp>
          <p:nvSpPr>
            <p:cNvPr id="28" name="AutoShape 28"/>
            <p:cNvSpPr/>
            <p:nvPr/>
          </p:nvSpPr>
          <p:spPr>
            <a:xfrm>
              <a:off x="21644" y="13293"/>
              <a:ext cx="690675" cy="1124542"/>
            </a:xfrm>
            <a:prstGeom prst="line">
              <a:avLst/>
            </a:prstGeom>
            <a:ln w="50800" cap="flat">
              <a:solidFill>
                <a:srgbClr val="000000"/>
              </a:solidFill>
              <a:prstDash val="solid"/>
              <a:headEnd type="none" w="sm" len="sm"/>
              <a:tailEnd type="arrow" w="med" len="sm"/>
            </a:ln>
          </p:spPr>
          <p:txBody>
            <a:bodyPr/>
            <a:lstStyle/>
            <a:p>
              <a:endParaRPr lang="en-US"/>
            </a:p>
          </p:txBody>
        </p:sp>
        <p:sp>
          <p:nvSpPr>
            <p:cNvPr id="29" name="AutoShape 29"/>
            <p:cNvSpPr/>
            <p:nvPr/>
          </p:nvSpPr>
          <p:spPr>
            <a:xfrm flipH="1" flipV="1">
              <a:off x="4279605" y="3425267"/>
              <a:ext cx="1358286" cy="429167"/>
            </a:xfrm>
            <a:prstGeom prst="line">
              <a:avLst/>
            </a:prstGeom>
            <a:ln w="50800" cap="flat">
              <a:solidFill>
                <a:srgbClr val="000000"/>
              </a:solidFill>
              <a:prstDash val="solid"/>
              <a:headEnd type="none" w="sm" len="sm"/>
              <a:tailEnd type="arrow" w="med" len="sm"/>
            </a:ln>
          </p:spPr>
          <p:txBody>
            <a:bodyPr/>
            <a:lstStyle/>
            <a:p>
              <a:endParaRPr 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a:off x="253005" y="2692136"/>
            <a:ext cx="11000324" cy="7400606"/>
            <a:chOff x="0" y="0"/>
            <a:chExt cx="2322101" cy="1562222"/>
          </a:xfrm>
        </p:grpSpPr>
        <p:sp>
          <p:nvSpPr>
            <p:cNvPr id="3" name="Freeform 3"/>
            <p:cNvSpPr/>
            <p:nvPr/>
          </p:nvSpPr>
          <p:spPr>
            <a:xfrm>
              <a:off x="0" y="0"/>
              <a:ext cx="2322101" cy="1562222"/>
            </a:xfrm>
            <a:custGeom>
              <a:avLst/>
              <a:gdLst/>
              <a:ahLst/>
              <a:cxnLst/>
              <a:rect l="l" t="t" r="r" b="b"/>
              <a:pathLst>
                <a:path w="2322101" h="1562222">
                  <a:moveTo>
                    <a:pt x="35893" y="0"/>
                  </a:moveTo>
                  <a:lnTo>
                    <a:pt x="2286208" y="0"/>
                  </a:lnTo>
                  <a:cubicBezTo>
                    <a:pt x="2306031" y="0"/>
                    <a:pt x="2322101" y="16070"/>
                    <a:pt x="2322101" y="35893"/>
                  </a:cubicBezTo>
                  <a:lnTo>
                    <a:pt x="2322101" y="1526329"/>
                  </a:lnTo>
                  <a:cubicBezTo>
                    <a:pt x="2322101" y="1546153"/>
                    <a:pt x="2306031" y="1562222"/>
                    <a:pt x="2286208" y="1562222"/>
                  </a:cubicBezTo>
                  <a:lnTo>
                    <a:pt x="35893" y="1562222"/>
                  </a:lnTo>
                  <a:cubicBezTo>
                    <a:pt x="26374" y="1562222"/>
                    <a:pt x="17244" y="1558441"/>
                    <a:pt x="10513" y="1551710"/>
                  </a:cubicBezTo>
                  <a:cubicBezTo>
                    <a:pt x="3782" y="1544978"/>
                    <a:pt x="0" y="1535849"/>
                    <a:pt x="0" y="1526329"/>
                  </a:cubicBezTo>
                  <a:lnTo>
                    <a:pt x="0" y="35893"/>
                  </a:lnTo>
                  <a:cubicBezTo>
                    <a:pt x="0" y="26374"/>
                    <a:pt x="3782" y="17244"/>
                    <a:pt x="10513" y="10513"/>
                  </a:cubicBezTo>
                  <a:cubicBezTo>
                    <a:pt x="17244" y="3782"/>
                    <a:pt x="26374" y="0"/>
                    <a:pt x="35893" y="0"/>
                  </a:cubicBezTo>
                  <a:close/>
                </a:path>
              </a:pathLst>
            </a:custGeom>
            <a:solidFill>
              <a:srgbClr val="FFFFFF"/>
            </a:solidFill>
          </p:spPr>
          <p:txBody>
            <a:bodyPr/>
            <a:lstStyle/>
            <a:p>
              <a:endParaRPr lang="en-US"/>
            </a:p>
          </p:txBody>
        </p:sp>
        <p:sp>
          <p:nvSpPr>
            <p:cNvPr id="4" name="TextBox 4"/>
            <p:cNvSpPr txBox="1"/>
            <p:nvPr/>
          </p:nvSpPr>
          <p:spPr>
            <a:xfrm>
              <a:off x="0" y="-38100"/>
              <a:ext cx="2322101" cy="1600322"/>
            </a:xfrm>
            <a:prstGeom prst="rect">
              <a:avLst/>
            </a:prstGeom>
          </p:spPr>
          <p:txBody>
            <a:bodyPr lIns="54193" tIns="54193" rIns="54193" bIns="54193" rtlCol="0" anchor="ctr"/>
            <a:lstStyle/>
            <a:p>
              <a:pPr algn="ctr">
                <a:lnSpc>
                  <a:spcPts val="2659"/>
                </a:lnSpc>
                <a:spcBef>
                  <a:spcPct val="0"/>
                </a:spcBef>
              </a:pPr>
              <a:endParaRPr/>
            </a:p>
          </p:txBody>
        </p:sp>
      </p:grpSp>
      <p:sp>
        <p:nvSpPr>
          <p:cNvPr id="5" name="Freeform 5"/>
          <p:cNvSpPr/>
          <p:nvPr/>
        </p:nvSpPr>
        <p:spPr>
          <a:xfrm>
            <a:off x="435903" y="2893585"/>
            <a:ext cx="10322372" cy="6997708"/>
          </a:xfrm>
          <a:custGeom>
            <a:avLst/>
            <a:gdLst/>
            <a:ahLst/>
            <a:cxnLst/>
            <a:rect l="l" t="t" r="r" b="b"/>
            <a:pathLst>
              <a:path w="10322372" h="6997708">
                <a:moveTo>
                  <a:pt x="0" y="0"/>
                </a:moveTo>
                <a:lnTo>
                  <a:pt x="10322372" y="0"/>
                </a:lnTo>
                <a:lnTo>
                  <a:pt x="10322372" y="6997708"/>
                </a:lnTo>
                <a:lnTo>
                  <a:pt x="0" y="6997708"/>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a:off x="1289358" y="2893585"/>
            <a:ext cx="4813232" cy="691496"/>
            <a:chOff x="0" y="0"/>
            <a:chExt cx="6417642" cy="921994"/>
          </a:xfrm>
        </p:grpSpPr>
        <p:grpSp>
          <p:nvGrpSpPr>
            <p:cNvPr id="7" name="Group 7"/>
            <p:cNvGrpSpPr/>
            <p:nvPr/>
          </p:nvGrpSpPr>
          <p:grpSpPr>
            <a:xfrm>
              <a:off x="0" y="0"/>
              <a:ext cx="6417642" cy="921994"/>
              <a:chOff x="0" y="0"/>
              <a:chExt cx="990735" cy="142334"/>
            </a:xfrm>
          </p:grpSpPr>
          <p:sp>
            <p:nvSpPr>
              <p:cNvPr id="8" name="Freeform 8"/>
              <p:cNvSpPr/>
              <p:nvPr/>
            </p:nvSpPr>
            <p:spPr>
              <a:xfrm>
                <a:off x="0" y="0"/>
                <a:ext cx="990735" cy="142334"/>
              </a:xfrm>
              <a:custGeom>
                <a:avLst/>
                <a:gdLst/>
                <a:ahLst/>
                <a:cxnLst/>
                <a:rect l="l" t="t" r="r" b="b"/>
                <a:pathLst>
                  <a:path w="990735" h="142334">
                    <a:moveTo>
                      <a:pt x="71167" y="0"/>
                    </a:moveTo>
                    <a:lnTo>
                      <a:pt x="919567" y="0"/>
                    </a:lnTo>
                    <a:cubicBezTo>
                      <a:pt x="938442" y="0"/>
                      <a:pt x="956544" y="7498"/>
                      <a:pt x="969890" y="20844"/>
                    </a:cubicBezTo>
                    <a:cubicBezTo>
                      <a:pt x="983237" y="34191"/>
                      <a:pt x="990735" y="52293"/>
                      <a:pt x="990735" y="71167"/>
                    </a:cubicBezTo>
                    <a:lnTo>
                      <a:pt x="990735" y="71167"/>
                    </a:lnTo>
                    <a:cubicBezTo>
                      <a:pt x="990735" y="110472"/>
                      <a:pt x="958872" y="142334"/>
                      <a:pt x="919567" y="142334"/>
                    </a:cubicBezTo>
                    <a:lnTo>
                      <a:pt x="71167" y="142334"/>
                    </a:lnTo>
                    <a:cubicBezTo>
                      <a:pt x="52293" y="142334"/>
                      <a:pt x="34191" y="134837"/>
                      <a:pt x="20844" y="121490"/>
                    </a:cubicBezTo>
                    <a:cubicBezTo>
                      <a:pt x="7498" y="108144"/>
                      <a:pt x="0" y="90042"/>
                      <a:pt x="0" y="71167"/>
                    </a:cubicBezTo>
                    <a:lnTo>
                      <a:pt x="0" y="71167"/>
                    </a:lnTo>
                    <a:cubicBezTo>
                      <a:pt x="0" y="52293"/>
                      <a:pt x="7498" y="34191"/>
                      <a:pt x="20844" y="20844"/>
                    </a:cubicBezTo>
                    <a:cubicBezTo>
                      <a:pt x="34191" y="7498"/>
                      <a:pt x="52293" y="0"/>
                      <a:pt x="71167" y="0"/>
                    </a:cubicBezTo>
                    <a:close/>
                  </a:path>
                </a:pathLst>
              </a:custGeom>
              <a:solidFill>
                <a:srgbClr val="000000"/>
              </a:solidFill>
            </p:spPr>
            <p:txBody>
              <a:bodyPr/>
              <a:lstStyle/>
              <a:p>
                <a:endParaRPr lang="en-US"/>
              </a:p>
            </p:txBody>
          </p:sp>
          <p:sp>
            <p:nvSpPr>
              <p:cNvPr id="9" name="TextBox 9"/>
              <p:cNvSpPr txBox="1"/>
              <p:nvPr/>
            </p:nvSpPr>
            <p:spPr>
              <a:xfrm>
                <a:off x="0" y="-38100"/>
                <a:ext cx="990735" cy="180434"/>
              </a:xfrm>
              <a:prstGeom prst="rect">
                <a:avLst/>
              </a:prstGeom>
            </p:spPr>
            <p:txBody>
              <a:bodyPr lIns="55577" tIns="55577" rIns="55577" bIns="55577" rtlCol="0" anchor="ctr"/>
              <a:lstStyle/>
              <a:p>
                <a:pPr algn="ctr">
                  <a:lnSpc>
                    <a:spcPts val="2659"/>
                  </a:lnSpc>
                  <a:spcBef>
                    <a:spcPct val="0"/>
                  </a:spcBef>
                </a:pPr>
                <a:endParaRPr/>
              </a:p>
            </p:txBody>
          </p:sp>
        </p:grpSp>
        <p:sp>
          <p:nvSpPr>
            <p:cNvPr id="10" name="Freeform 10"/>
            <p:cNvSpPr/>
            <p:nvPr/>
          </p:nvSpPr>
          <p:spPr>
            <a:xfrm>
              <a:off x="365625" y="91295"/>
              <a:ext cx="5673796" cy="739404"/>
            </a:xfrm>
            <a:custGeom>
              <a:avLst/>
              <a:gdLst/>
              <a:ahLst/>
              <a:cxnLst/>
              <a:rect l="l" t="t" r="r" b="b"/>
              <a:pathLst>
                <a:path w="5673796" h="739404">
                  <a:moveTo>
                    <a:pt x="0" y="0"/>
                  </a:moveTo>
                  <a:lnTo>
                    <a:pt x="5673796" y="0"/>
                  </a:lnTo>
                  <a:lnTo>
                    <a:pt x="5673796" y="739404"/>
                  </a:lnTo>
                  <a:lnTo>
                    <a:pt x="0" y="739404"/>
                  </a:lnTo>
                  <a:lnTo>
                    <a:pt x="0" y="0"/>
                  </a:lnTo>
                  <a:close/>
                </a:path>
              </a:pathLst>
            </a:custGeom>
            <a:blipFill>
              <a:blip r:embed="rId3"/>
              <a:stretch>
                <a:fillRect/>
              </a:stretch>
            </a:blipFill>
          </p:spPr>
          <p:txBody>
            <a:bodyPr/>
            <a:lstStyle/>
            <a:p>
              <a:endParaRPr lang="en-US"/>
            </a:p>
          </p:txBody>
        </p:sp>
      </p:grpSp>
      <p:sp>
        <p:nvSpPr>
          <p:cNvPr id="11" name="TextBox 11"/>
          <p:cNvSpPr txBox="1"/>
          <p:nvPr/>
        </p:nvSpPr>
        <p:spPr>
          <a:xfrm>
            <a:off x="2868023" y="413184"/>
            <a:ext cx="12995972"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ANALYSIS</a:t>
            </a:r>
          </a:p>
        </p:txBody>
      </p:sp>
      <p:sp>
        <p:nvSpPr>
          <p:cNvPr id="12" name="TextBox 12"/>
          <p:cNvSpPr txBox="1"/>
          <p:nvPr/>
        </p:nvSpPr>
        <p:spPr>
          <a:xfrm>
            <a:off x="-908836" y="2072336"/>
            <a:ext cx="12546973" cy="619800"/>
          </a:xfrm>
          <a:prstGeom prst="rect">
            <a:avLst/>
          </a:prstGeom>
        </p:spPr>
        <p:txBody>
          <a:bodyPr lIns="0" tIns="0" rIns="0" bIns="0" rtlCol="0" anchor="t">
            <a:spAutoFit/>
          </a:bodyPr>
          <a:lstStyle/>
          <a:p>
            <a:pPr algn="ctr">
              <a:lnSpc>
                <a:spcPts val="4588"/>
              </a:lnSpc>
            </a:pPr>
            <a:r>
              <a:rPr lang="en-US" sz="4779">
                <a:solidFill>
                  <a:srgbClr val="000000"/>
                </a:solidFill>
                <a:latin typeface="Futura Display"/>
                <a:ea typeface="Futura Display"/>
                <a:cs typeface="Futura Display"/>
                <a:sym typeface="Futura Display"/>
              </a:rPr>
              <a:t>TOTAL ARRIVALS AND TOURISM RECEIPTS</a:t>
            </a:r>
          </a:p>
        </p:txBody>
      </p:sp>
      <p:sp>
        <p:nvSpPr>
          <p:cNvPr id="13" name="TextBox 13"/>
          <p:cNvSpPr txBox="1"/>
          <p:nvPr/>
        </p:nvSpPr>
        <p:spPr>
          <a:xfrm>
            <a:off x="12008120" y="4894232"/>
            <a:ext cx="5678314" cy="1498207"/>
          </a:xfrm>
          <a:prstGeom prst="rect">
            <a:avLst/>
          </a:prstGeom>
        </p:spPr>
        <p:txBody>
          <a:bodyPr lIns="0" tIns="0" rIns="0" bIns="0" rtlCol="0" anchor="t">
            <a:spAutoFit/>
          </a:bodyPr>
          <a:lstStyle/>
          <a:p>
            <a:pPr algn="ctr">
              <a:lnSpc>
                <a:spcPts val="4046"/>
              </a:lnSpc>
              <a:spcBef>
                <a:spcPct val="0"/>
              </a:spcBef>
            </a:pPr>
            <a:r>
              <a:rPr lang="en-US" sz="2890">
                <a:solidFill>
                  <a:srgbClr val="000000"/>
                </a:solidFill>
                <a:latin typeface="Lexend Deca"/>
                <a:ea typeface="Lexend Deca"/>
                <a:cs typeface="Lexend Deca"/>
                <a:sym typeface="Lexend Deca"/>
              </a:rPr>
              <a:t>low correlation (0.18) between total arrivals and tourism receipts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a:off x="514514" y="2401599"/>
            <a:ext cx="10730945" cy="6371254"/>
            <a:chOff x="0" y="0"/>
            <a:chExt cx="2208811" cy="1311431"/>
          </a:xfrm>
        </p:grpSpPr>
        <p:sp>
          <p:nvSpPr>
            <p:cNvPr id="3" name="Freeform 3"/>
            <p:cNvSpPr/>
            <p:nvPr/>
          </p:nvSpPr>
          <p:spPr>
            <a:xfrm>
              <a:off x="0" y="0"/>
              <a:ext cx="2208811" cy="1311431"/>
            </a:xfrm>
            <a:custGeom>
              <a:avLst/>
              <a:gdLst/>
              <a:ahLst/>
              <a:cxnLst/>
              <a:rect l="l" t="t" r="r" b="b"/>
              <a:pathLst>
                <a:path w="2208811" h="1311431">
                  <a:moveTo>
                    <a:pt x="36794" y="0"/>
                  </a:moveTo>
                  <a:lnTo>
                    <a:pt x="2172016" y="0"/>
                  </a:lnTo>
                  <a:cubicBezTo>
                    <a:pt x="2192337" y="0"/>
                    <a:pt x="2208811" y="16473"/>
                    <a:pt x="2208811" y="36794"/>
                  </a:cubicBezTo>
                  <a:lnTo>
                    <a:pt x="2208811" y="1274637"/>
                  </a:lnTo>
                  <a:cubicBezTo>
                    <a:pt x="2208811" y="1294958"/>
                    <a:pt x="2192337" y="1311431"/>
                    <a:pt x="2172016" y="1311431"/>
                  </a:cubicBezTo>
                  <a:lnTo>
                    <a:pt x="36794" y="1311431"/>
                  </a:lnTo>
                  <a:cubicBezTo>
                    <a:pt x="16473" y="1311431"/>
                    <a:pt x="0" y="1294958"/>
                    <a:pt x="0" y="1274637"/>
                  </a:cubicBezTo>
                  <a:lnTo>
                    <a:pt x="0" y="36794"/>
                  </a:lnTo>
                  <a:cubicBezTo>
                    <a:pt x="0" y="16473"/>
                    <a:pt x="16473" y="0"/>
                    <a:pt x="36794" y="0"/>
                  </a:cubicBezTo>
                  <a:close/>
                </a:path>
              </a:pathLst>
            </a:custGeom>
            <a:solidFill>
              <a:srgbClr val="FFFFFF"/>
            </a:solidFill>
          </p:spPr>
          <p:txBody>
            <a:bodyPr/>
            <a:lstStyle/>
            <a:p>
              <a:endParaRPr lang="en-US"/>
            </a:p>
          </p:txBody>
        </p:sp>
        <p:sp>
          <p:nvSpPr>
            <p:cNvPr id="4" name="TextBox 4"/>
            <p:cNvSpPr txBox="1"/>
            <p:nvPr/>
          </p:nvSpPr>
          <p:spPr>
            <a:xfrm>
              <a:off x="0" y="-38100"/>
              <a:ext cx="2208811" cy="1349531"/>
            </a:xfrm>
            <a:prstGeom prst="rect">
              <a:avLst/>
            </a:prstGeom>
          </p:spPr>
          <p:txBody>
            <a:bodyPr lIns="55577" tIns="55577" rIns="55577" bIns="55577" rtlCol="0" anchor="ctr"/>
            <a:lstStyle/>
            <a:p>
              <a:pPr algn="ctr">
                <a:lnSpc>
                  <a:spcPts val="2659"/>
                </a:lnSpc>
                <a:spcBef>
                  <a:spcPct val="0"/>
                </a:spcBef>
              </a:pPr>
              <a:endParaRPr/>
            </a:p>
          </p:txBody>
        </p:sp>
      </p:grpSp>
      <p:sp>
        <p:nvSpPr>
          <p:cNvPr id="5" name="Freeform 5"/>
          <p:cNvSpPr/>
          <p:nvPr/>
        </p:nvSpPr>
        <p:spPr>
          <a:xfrm>
            <a:off x="646654" y="2678365"/>
            <a:ext cx="10466664" cy="5817721"/>
          </a:xfrm>
          <a:custGeom>
            <a:avLst/>
            <a:gdLst/>
            <a:ahLst/>
            <a:cxnLst/>
            <a:rect l="l" t="t" r="r" b="b"/>
            <a:pathLst>
              <a:path w="10466664" h="5817721">
                <a:moveTo>
                  <a:pt x="0" y="0"/>
                </a:moveTo>
                <a:lnTo>
                  <a:pt x="10466665" y="0"/>
                </a:lnTo>
                <a:lnTo>
                  <a:pt x="10466665" y="5817721"/>
                </a:lnTo>
                <a:lnTo>
                  <a:pt x="0" y="5817721"/>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2646014" y="413184"/>
            <a:ext cx="12995972"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ANALYSIS</a:t>
            </a:r>
          </a:p>
        </p:txBody>
      </p:sp>
      <p:sp>
        <p:nvSpPr>
          <p:cNvPr id="7" name="TextBox 7"/>
          <p:cNvSpPr txBox="1"/>
          <p:nvPr/>
        </p:nvSpPr>
        <p:spPr>
          <a:xfrm>
            <a:off x="11335156" y="1834737"/>
            <a:ext cx="6952844" cy="727202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Lexend Deca"/>
                <a:ea typeface="Lexend Deca"/>
                <a:cs typeface="Lexend Deca"/>
                <a:sym typeface="Lexend Deca"/>
              </a:rPr>
              <a:t>Both average room rate and hotel revenue generally increased from 2008 to 2022.</a:t>
            </a:r>
          </a:p>
          <a:p>
            <a:pPr algn="l">
              <a:lnSpc>
                <a:spcPts val="4480"/>
              </a:lnSpc>
            </a:pPr>
            <a:endParaRPr lang="en-US" sz="3200">
              <a:solidFill>
                <a:srgbClr val="000000"/>
              </a:solidFill>
              <a:latin typeface="Lexend Deca"/>
              <a:ea typeface="Lexend Deca"/>
              <a:cs typeface="Lexend Deca"/>
              <a:sym typeface="Lexend Deca"/>
            </a:endParaRPr>
          </a:p>
          <a:p>
            <a:pPr marL="690881" lvl="1" indent="-345440" algn="l">
              <a:lnSpc>
                <a:spcPts val="4480"/>
              </a:lnSpc>
              <a:buFont typeface="Arial"/>
              <a:buChar char="•"/>
            </a:pPr>
            <a:r>
              <a:rPr lang="en-US" sz="3200">
                <a:solidFill>
                  <a:srgbClr val="000000"/>
                </a:solidFill>
                <a:latin typeface="Lexend Deca"/>
                <a:ea typeface="Lexend Deca"/>
                <a:cs typeface="Lexend Deca"/>
                <a:sym typeface="Lexend Deca"/>
              </a:rPr>
              <a:t>Dip in both room rate and revenue around 2020</a:t>
            </a:r>
          </a:p>
          <a:p>
            <a:pPr algn="l">
              <a:lnSpc>
                <a:spcPts val="4480"/>
              </a:lnSpc>
            </a:pPr>
            <a:endParaRPr lang="en-US" sz="3200">
              <a:solidFill>
                <a:srgbClr val="000000"/>
              </a:solidFill>
              <a:latin typeface="Lexend Deca"/>
              <a:ea typeface="Lexend Deca"/>
              <a:cs typeface="Lexend Deca"/>
              <a:sym typeface="Lexend Deca"/>
            </a:endParaRPr>
          </a:p>
          <a:p>
            <a:pPr marL="690881" lvl="1" indent="-345440" algn="l">
              <a:lnSpc>
                <a:spcPts val="4480"/>
              </a:lnSpc>
              <a:buFont typeface="Arial"/>
              <a:buChar char="•"/>
            </a:pPr>
            <a:r>
              <a:rPr lang="en-US" sz="3200">
                <a:solidFill>
                  <a:srgbClr val="000000"/>
                </a:solidFill>
                <a:latin typeface="Lexend Deca"/>
                <a:ea typeface="Lexend Deca"/>
                <a:cs typeface="Lexend Deca"/>
                <a:sym typeface="Lexend Deca"/>
              </a:rPr>
              <a:t>Recovery trend is visible post-2020, indicating a rebound</a:t>
            </a:r>
          </a:p>
          <a:p>
            <a:pPr algn="l">
              <a:lnSpc>
                <a:spcPts val="4480"/>
              </a:lnSpc>
            </a:pPr>
            <a:endParaRPr lang="en-US" sz="3200">
              <a:solidFill>
                <a:srgbClr val="000000"/>
              </a:solidFill>
              <a:latin typeface="Lexend Deca"/>
              <a:ea typeface="Lexend Deca"/>
              <a:cs typeface="Lexend Deca"/>
              <a:sym typeface="Lexend Deca"/>
            </a:endParaRPr>
          </a:p>
          <a:p>
            <a:pPr marL="690881" lvl="1" indent="-345440" algn="l">
              <a:lnSpc>
                <a:spcPts val="4480"/>
              </a:lnSpc>
              <a:buFont typeface="Arial"/>
              <a:buChar char="•"/>
            </a:pPr>
            <a:r>
              <a:rPr lang="en-US" sz="3200">
                <a:solidFill>
                  <a:srgbClr val="000000"/>
                </a:solidFill>
                <a:latin typeface="Lexend Deca"/>
                <a:ea typeface="Lexend Deca"/>
                <a:cs typeface="Lexend Deca"/>
                <a:sym typeface="Lexend Deca"/>
              </a:rPr>
              <a:t>Total arrivals has not yet reached pre pandemic levels</a:t>
            </a:r>
          </a:p>
          <a:p>
            <a:pPr algn="l">
              <a:lnSpc>
                <a:spcPts val="4480"/>
              </a:lnSpc>
            </a:pPr>
            <a:endParaRPr lang="en-US" sz="3200">
              <a:solidFill>
                <a:srgbClr val="000000"/>
              </a:solidFill>
              <a:latin typeface="Lexend Deca"/>
              <a:ea typeface="Lexend Deca"/>
              <a:cs typeface="Lexend Deca"/>
              <a:sym typeface="Lexend Deca"/>
            </a:endParaRPr>
          </a:p>
        </p:txBody>
      </p:sp>
      <p:sp>
        <p:nvSpPr>
          <p:cNvPr id="8" name="AutoShape 8"/>
          <p:cNvSpPr/>
          <p:nvPr/>
        </p:nvSpPr>
        <p:spPr>
          <a:xfrm>
            <a:off x="815738" y="2606734"/>
            <a:ext cx="2275392" cy="2536766"/>
          </a:xfrm>
          <a:prstGeom prst="line">
            <a:avLst/>
          </a:prstGeom>
          <a:ln w="38100" cap="flat">
            <a:solidFill>
              <a:srgbClr val="000000"/>
            </a:solidFill>
            <a:prstDash val="solid"/>
            <a:headEnd type="none" w="sm" len="sm"/>
            <a:tailEnd type="arrow" w="med" len="sm"/>
          </a:ln>
        </p:spPr>
        <p:txBody>
          <a:bodyPr/>
          <a:lstStyle/>
          <a:p>
            <a:endParaRPr lang="en-US"/>
          </a:p>
        </p:txBody>
      </p:sp>
      <p:sp>
        <p:nvSpPr>
          <p:cNvPr id="9" name="AutoShape 9"/>
          <p:cNvSpPr/>
          <p:nvPr/>
        </p:nvSpPr>
        <p:spPr>
          <a:xfrm>
            <a:off x="7391872" y="2518210"/>
            <a:ext cx="300590" cy="1160512"/>
          </a:xfrm>
          <a:prstGeom prst="line">
            <a:avLst/>
          </a:prstGeom>
          <a:ln w="38100" cap="flat">
            <a:solidFill>
              <a:srgbClr val="000000"/>
            </a:solidFill>
            <a:prstDash val="solid"/>
            <a:headEnd type="none" w="sm" len="sm"/>
            <a:tailEnd type="arrow" w="med" len="sm"/>
          </a:ln>
        </p:spPr>
        <p:txBody>
          <a:bodyPr/>
          <a:lstStyle/>
          <a:p>
            <a:endParaRPr lang="en-US"/>
          </a:p>
        </p:txBody>
      </p:sp>
      <p:sp>
        <p:nvSpPr>
          <p:cNvPr id="10" name="AutoShape 10"/>
          <p:cNvSpPr/>
          <p:nvPr/>
        </p:nvSpPr>
        <p:spPr>
          <a:xfrm flipH="1">
            <a:off x="10249296" y="3317537"/>
            <a:ext cx="474818" cy="1017822"/>
          </a:xfrm>
          <a:prstGeom prst="line">
            <a:avLst/>
          </a:prstGeom>
          <a:ln w="38100" cap="flat">
            <a:solidFill>
              <a:srgbClr val="000000"/>
            </a:solidFill>
            <a:prstDash val="solid"/>
            <a:headEnd type="none" w="sm" len="sm"/>
            <a:tailEnd type="arrow" w="med" len="sm"/>
          </a:ln>
        </p:spPr>
        <p:txBody>
          <a:bodyPr/>
          <a:lstStyle/>
          <a:p>
            <a:endParaRPr lang="en-US"/>
          </a:p>
        </p:txBody>
      </p:sp>
      <p:grpSp>
        <p:nvGrpSpPr>
          <p:cNvPr id="11" name="Group 11"/>
          <p:cNvGrpSpPr/>
          <p:nvPr/>
        </p:nvGrpSpPr>
        <p:grpSpPr>
          <a:xfrm>
            <a:off x="158991" y="8934777"/>
            <a:ext cx="11659692" cy="1037683"/>
            <a:chOff x="0" y="0"/>
            <a:chExt cx="2399980" cy="213592"/>
          </a:xfrm>
        </p:grpSpPr>
        <p:sp>
          <p:nvSpPr>
            <p:cNvPr id="12" name="Freeform 12"/>
            <p:cNvSpPr/>
            <p:nvPr/>
          </p:nvSpPr>
          <p:spPr>
            <a:xfrm>
              <a:off x="0" y="0"/>
              <a:ext cx="2399980" cy="213592"/>
            </a:xfrm>
            <a:custGeom>
              <a:avLst/>
              <a:gdLst/>
              <a:ahLst/>
              <a:cxnLst/>
              <a:rect l="l" t="t" r="r" b="b"/>
              <a:pathLst>
                <a:path w="2399980" h="213592">
                  <a:moveTo>
                    <a:pt x="33863" y="0"/>
                  </a:moveTo>
                  <a:lnTo>
                    <a:pt x="2366117" y="0"/>
                  </a:lnTo>
                  <a:cubicBezTo>
                    <a:pt x="2384819" y="0"/>
                    <a:pt x="2399980" y="15161"/>
                    <a:pt x="2399980" y="33863"/>
                  </a:cubicBezTo>
                  <a:lnTo>
                    <a:pt x="2399980" y="179729"/>
                  </a:lnTo>
                  <a:cubicBezTo>
                    <a:pt x="2399980" y="198431"/>
                    <a:pt x="2384819" y="213592"/>
                    <a:pt x="2366117" y="213592"/>
                  </a:cubicBezTo>
                  <a:lnTo>
                    <a:pt x="33863" y="213592"/>
                  </a:lnTo>
                  <a:cubicBezTo>
                    <a:pt x="15161" y="213592"/>
                    <a:pt x="0" y="198431"/>
                    <a:pt x="0" y="179729"/>
                  </a:cubicBezTo>
                  <a:lnTo>
                    <a:pt x="0" y="33863"/>
                  </a:lnTo>
                  <a:cubicBezTo>
                    <a:pt x="0" y="15161"/>
                    <a:pt x="15161" y="0"/>
                    <a:pt x="33863" y="0"/>
                  </a:cubicBezTo>
                  <a:close/>
                </a:path>
              </a:pathLst>
            </a:custGeom>
            <a:solidFill>
              <a:srgbClr val="FFFFFF"/>
            </a:solidFill>
          </p:spPr>
          <p:txBody>
            <a:bodyPr/>
            <a:lstStyle/>
            <a:p>
              <a:endParaRPr lang="en-US"/>
            </a:p>
          </p:txBody>
        </p:sp>
        <p:sp>
          <p:nvSpPr>
            <p:cNvPr id="13" name="TextBox 13"/>
            <p:cNvSpPr txBox="1"/>
            <p:nvPr/>
          </p:nvSpPr>
          <p:spPr>
            <a:xfrm>
              <a:off x="0" y="-38100"/>
              <a:ext cx="2399980" cy="251692"/>
            </a:xfrm>
            <a:prstGeom prst="rect">
              <a:avLst/>
            </a:prstGeom>
          </p:spPr>
          <p:txBody>
            <a:bodyPr lIns="55577" tIns="55577" rIns="55577" bIns="55577" rtlCol="0" anchor="ctr"/>
            <a:lstStyle/>
            <a:p>
              <a:pPr algn="ctr">
                <a:lnSpc>
                  <a:spcPts val="2659"/>
                </a:lnSpc>
                <a:spcBef>
                  <a:spcPct val="0"/>
                </a:spcBef>
              </a:pPr>
              <a:endParaRPr/>
            </a:p>
          </p:txBody>
        </p:sp>
      </p:grpSp>
      <p:sp>
        <p:nvSpPr>
          <p:cNvPr id="14" name="Freeform 14"/>
          <p:cNvSpPr/>
          <p:nvPr/>
        </p:nvSpPr>
        <p:spPr>
          <a:xfrm>
            <a:off x="371461" y="9131064"/>
            <a:ext cx="2719669" cy="689677"/>
          </a:xfrm>
          <a:custGeom>
            <a:avLst/>
            <a:gdLst/>
            <a:ahLst/>
            <a:cxnLst/>
            <a:rect l="l" t="t" r="r" b="b"/>
            <a:pathLst>
              <a:path w="2719669" h="689677">
                <a:moveTo>
                  <a:pt x="0" y="0"/>
                </a:moveTo>
                <a:lnTo>
                  <a:pt x="2719669" y="0"/>
                </a:lnTo>
                <a:lnTo>
                  <a:pt x="2719669" y="689677"/>
                </a:lnTo>
                <a:lnTo>
                  <a:pt x="0" y="689677"/>
                </a:lnTo>
                <a:lnTo>
                  <a:pt x="0" y="0"/>
                </a:lnTo>
                <a:close/>
              </a:path>
            </a:pathLst>
          </a:custGeom>
          <a:blipFill>
            <a:blip r:embed="rId3"/>
            <a:stretch>
              <a:fillRect/>
            </a:stretch>
          </a:blipFill>
        </p:spPr>
        <p:txBody>
          <a:bodyPr/>
          <a:lstStyle/>
          <a:p>
            <a:endParaRPr lang="en-US"/>
          </a:p>
        </p:txBody>
      </p:sp>
      <p:sp>
        <p:nvSpPr>
          <p:cNvPr id="15" name="Freeform 15"/>
          <p:cNvSpPr/>
          <p:nvPr/>
        </p:nvSpPr>
        <p:spPr>
          <a:xfrm>
            <a:off x="3341475" y="9158684"/>
            <a:ext cx="2647362" cy="671162"/>
          </a:xfrm>
          <a:custGeom>
            <a:avLst/>
            <a:gdLst/>
            <a:ahLst/>
            <a:cxnLst/>
            <a:rect l="l" t="t" r="r" b="b"/>
            <a:pathLst>
              <a:path w="2647362" h="671162">
                <a:moveTo>
                  <a:pt x="0" y="0"/>
                </a:moveTo>
                <a:lnTo>
                  <a:pt x="2647362" y="0"/>
                </a:lnTo>
                <a:lnTo>
                  <a:pt x="2647362" y="671162"/>
                </a:lnTo>
                <a:lnTo>
                  <a:pt x="0" y="671162"/>
                </a:lnTo>
                <a:lnTo>
                  <a:pt x="0" y="0"/>
                </a:lnTo>
                <a:close/>
              </a:path>
            </a:pathLst>
          </a:custGeom>
          <a:blipFill>
            <a:blip r:embed="rId4"/>
            <a:stretch>
              <a:fillRect/>
            </a:stretch>
          </a:blipFill>
        </p:spPr>
        <p:txBody>
          <a:bodyPr/>
          <a:lstStyle/>
          <a:p>
            <a:endParaRPr lang="en-US"/>
          </a:p>
        </p:txBody>
      </p:sp>
      <p:sp>
        <p:nvSpPr>
          <p:cNvPr id="16" name="Freeform 16"/>
          <p:cNvSpPr/>
          <p:nvPr/>
        </p:nvSpPr>
        <p:spPr>
          <a:xfrm>
            <a:off x="6325520" y="9131064"/>
            <a:ext cx="2475664" cy="671162"/>
          </a:xfrm>
          <a:custGeom>
            <a:avLst/>
            <a:gdLst/>
            <a:ahLst/>
            <a:cxnLst/>
            <a:rect l="l" t="t" r="r" b="b"/>
            <a:pathLst>
              <a:path w="2475664" h="671162">
                <a:moveTo>
                  <a:pt x="0" y="0"/>
                </a:moveTo>
                <a:lnTo>
                  <a:pt x="2475664" y="0"/>
                </a:lnTo>
                <a:lnTo>
                  <a:pt x="2475664" y="671162"/>
                </a:lnTo>
                <a:lnTo>
                  <a:pt x="0" y="671162"/>
                </a:lnTo>
                <a:lnTo>
                  <a:pt x="0" y="0"/>
                </a:lnTo>
                <a:close/>
              </a:path>
            </a:pathLst>
          </a:custGeom>
          <a:blipFill>
            <a:blip r:embed="rId5"/>
            <a:stretch>
              <a:fillRect/>
            </a:stretch>
          </a:blipFill>
        </p:spPr>
        <p:txBody>
          <a:bodyPr/>
          <a:lstStyle/>
          <a:p>
            <a:endParaRPr lang="en-US"/>
          </a:p>
        </p:txBody>
      </p:sp>
      <p:sp>
        <p:nvSpPr>
          <p:cNvPr id="17" name="Freeform 17"/>
          <p:cNvSpPr/>
          <p:nvPr/>
        </p:nvSpPr>
        <p:spPr>
          <a:xfrm>
            <a:off x="9137867" y="9158684"/>
            <a:ext cx="2563441" cy="652952"/>
          </a:xfrm>
          <a:custGeom>
            <a:avLst/>
            <a:gdLst/>
            <a:ahLst/>
            <a:cxnLst/>
            <a:rect l="l" t="t" r="r" b="b"/>
            <a:pathLst>
              <a:path w="2563441" h="652952">
                <a:moveTo>
                  <a:pt x="0" y="0"/>
                </a:moveTo>
                <a:lnTo>
                  <a:pt x="2563441" y="0"/>
                </a:lnTo>
                <a:lnTo>
                  <a:pt x="2563441" y="652952"/>
                </a:lnTo>
                <a:lnTo>
                  <a:pt x="0" y="652952"/>
                </a:lnTo>
                <a:lnTo>
                  <a:pt x="0" y="0"/>
                </a:lnTo>
                <a:close/>
              </a:path>
            </a:pathLst>
          </a:custGeom>
          <a:blipFill>
            <a:blip r:embed="rId6"/>
            <a:stretch>
              <a:fillRect/>
            </a:stretch>
          </a:blipFill>
        </p:spPr>
        <p:txBody>
          <a:bodyPr/>
          <a:lstStyle/>
          <a:p>
            <a:endParaRPr lang="en-US"/>
          </a:p>
        </p:txBody>
      </p:sp>
      <p:sp>
        <p:nvSpPr>
          <p:cNvPr id="18" name="TextBox 18"/>
          <p:cNvSpPr txBox="1"/>
          <p:nvPr/>
        </p:nvSpPr>
        <p:spPr>
          <a:xfrm>
            <a:off x="-845665" y="1893634"/>
            <a:ext cx="12546973" cy="619800"/>
          </a:xfrm>
          <a:prstGeom prst="rect">
            <a:avLst/>
          </a:prstGeom>
        </p:spPr>
        <p:txBody>
          <a:bodyPr lIns="0" tIns="0" rIns="0" bIns="0" rtlCol="0" anchor="t">
            <a:spAutoFit/>
          </a:bodyPr>
          <a:lstStyle/>
          <a:p>
            <a:pPr algn="ctr">
              <a:lnSpc>
                <a:spcPts val="4588"/>
              </a:lnSpc>
            </a:pPr>
            <a:r>
              <a:rPr lang="en-US" sz="4779">
                <a:solidFill>
                  <a:srgbClr val="000000"/>
                </a:solidFill>
                <a:latin typeface="Futura Display"/>
                <a:ea typeface="Futura Display"/>
                <a:cs typeface="Futura Display"/>
                <a:sym typeface="Futura Display"/>
              </a:rPr>
              <a:t>HOTEL REVENUE AND GROSS LETTING PER YEAR</a:t>
            </a:r>
          </a:p>
        </p:txBody>
      </p:sp>
      <p:grpSp>
        <p:nvGrpSpPr>
          <p:cNvPr id="19" name="Group 19"/>
          <p:cNvGrpSpPr/>
          <p:nvPr/>
        </p:nvGrpSpPr>
        <p:grpSpPr>
          <a:xfrm>
            <a:off x="3114527" y="9453619"/>
            <a:ext cx="203552" cy="203552"/>
            <a:chOff x="0" y="0"/>
            <a:chExt cx="812800" cy="812800"/>
          </a:xfrm>
        </p:grpSpPr>
        <p:sp>
          <p:nvSpPr>
            <p:cNvPr id="20" name="Freeform 20"/>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31356E"/>
            </a:solidFill>
          </p:spPr>
          <p:txBody>
            <a:bodyPr/>
            <a:lstStyle/>
            <a:p>
              <a:endParaRPr lang="en-US"/>
            </a:p>
          </p:txBody>
        </p:sp>
        <p:sp>
          <p:nvSpPr>
            <p:cNvPr id="21" name="TextBox 21"/>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6055403" y="9392489"/>
            <a:ext cx="203552" cy="203552"/>
            <a:chOff x="0" y="0"/>
            <a:chExt cx="812800" cy="812800"/>
          </a:xfrm>
        </p:grpSpPr>
        <p:sp>
          <p:nvSpPr>
            <p:cNvPr id="23" name="Freeform 23"/>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31356E"/>
            </a:solidFill>
          </p:spPr>
          <p:txBody>
            <a:bodyPr/>
            <a:lstStyle/>
            <a:p>
              <a:endParaRPr lang="en-US"/>
            </a:p>
          </p:txBody>
        </p:sp>
        <p:sp>
          <p:nvSpPr>
            <p:cNvPr id="24" name="TextBox 24"/>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8867859" y="9392489"/>
            <a:ext cx="203552" cy="203552"/>
            <a:chOff x="0" y="0"/>
            <a:chExt cx="812800" cy="812800"/>
          </a:xfrm>
        </p:grpSpPr>
        <p:sp>
          <p:nvSpPr>
            <p:cNvPr id="26" name="Freeform 26"/>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31356E"/>
            </a:solidFill>
          </p:spPr>
          <p:txBody>
            <a:bodyPr/>
            <a:lstStyle/>
            <a:p>
              <a:endParaRPr lang="en-US"/>
            </a:p>
          </p:txBody>
        </p:sp>
        <p:sp>
          <p:nvSpPr>
            <p:cNvPr id="27" name="TextBox 27"/>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a:off x="411176" y="1991947"/>
            <a:ext cx="7284982" cy="5201225"/>
            <a:chOff x="0" y="0"/>
            <a:chExt cx="1499509" cy="1070597"/>
          </a:xfrm>
        </p:grpSpPr>
        <p:sp>
          <p:nvSpPr>
            <p:cNvPr id="3" name="Freeform 3"/>
            <p:cNvSpPr/>
            <p:nvPr/>
          </p:nvSpPr>
          <p:spPr>
            <a:xfrm>
              <a:off x="0" y="0"/>
              <a:ext cx="1499509" cy="1070597"/>
            </a:xfrm>
            <a:custGeom>
              <a:avLst/>
              <a:gdLst/>
              <a:ahLst/>
              <a:cxnLst/>
              <a:rect l="l" t="t" r="r" b="b"/>
              <a:pathLst>
                <a:path w="1499509" h="1070597">
                  <a:moveTo>
                    <a:pt x="54199" y="0"/>
                  </a:moveTo>
                  <a:lnTo>
                    <a:pt x="1445310" y="0"/>
                  </a:lnTo>
                  <a:cubicBezTo>
                    <a:pt x="1475243" y="0"/>
                    <a:pt x="1499509" y="24266"/>
                    <a:pt x="1499509" y="54199"/>
                  </a:cubicBezTo>
                  <a:lnTo>
                    <a:pt x="1499509" y="1016399"/>
                  </a:lnTo>
                  <a:cubicBezTo>
                    <a:pt x="1499509" y="1046332"/>
                    <a:pt x="1475243" y="1070597"/>
                    <a:pt x="1445310" y="1070597"/>
                  </a:cubicBezTo>
                  <a:lnTo>
                    <a:pt x="54199" y="1070597"/>
                  </a:lnTo>
                  <a:cubicBezTo>
                    <a:pt x="24266" y="1070597"/>
                    <a:pt x="0" y="1046332"/>
                    <a:pt x="0" y="1016399"/>
                  </a:cubicBezTo>
                  <a:lnTo>
                    <a:pt x="0" y="54199"/>
                  </a:lnTo>
                  <a:cubicBezTo>
                    <a:pt x="0" y="24266"/>
                    <a:pt x="24266" y="0"/>
                    <a:pt x="54199" y="0"/>
                  </a:cubicBezTo>
                  <a:close/>
                </a:path>
              </a:pathLst>
            </a:custGeom>
            <a:solidFill>
              <a:srgbClr val="FFFFFF"/>
            </a:solidFill>
          </p:spPr>
          <p:txBody>
            <a:bodyPr/>
            <a:lstStyle/>
            <a:p>
              <a:endParaRPr lang="en-US"/>
            </a:p>
          </p:txBody>
        </p:sp>
        <p:sp>
          <p:nvSpPr>
            <p:cNvPr id="4" name="TextBox 4"/>
            <p:cNvSpPr txBox="1"/>
            <p:nvPr/>
          </p:nvSpPr>
          <p:spPr>
            <a:xfrm>
              <a:off x="0" y="-38100"/>
              <a:ext cx="1499509" cy="1108697"/>
            </a:xfrm>
            <a:prstGeom prst="rect">
              <a:avLst/>
            </a:prstGeom>
          </p:spPr>
          <p:txBody>
            <a:bodyPr lIns="55577" tIns="55577" rIns="55577" bIns="55577" rtlCol="0" anchor="ctr"/>
            <a:lstStyle/>
            <a:p>
              <a:pPr algn="ctr">
                <a:lnSpc>
                  <a:spcPts val="2659"/>
                </a:lnSpc>
                <a:spcBef>
                  <a:spcPct val="0"/>
                </a:spcBef>
              </a:pPr>
              <a:endParaRPr/>
            </a:p>
          </p:txBody>
        </p:sp>
      </p:grpSp>
      <p:sp>
        <p:nvSpPr>
          <p:cNvPr id="5" name="Freeform 5"/>
          <p:cNvSpPr/>
          <p:nvPr/>
        </p:nvSpPr>
        <p:spPr>
          <a:xfrm>
            <a:off x="628221" y="2193320"/>
            <a:ext cx="6850891" cy="4798478"/>
          </a:xfrm>
          <a:custGeom>
            <a:avLst/>
            <a:gdLst/>
            <a:ahLst/>
            <a:cxnLst/>
            <a:rect l="l" t="t" r="r" b="b"/>
            <a:pathLst>
              <a:path w="6850891" h="4798478">
                <a:moveTo>
                  <a:pt x="0" y="0"/>
                </a:moveTo>
                <a:lnTo>
                  <a:pt x="6850891" y="0"/>
                </a:lnTo>
                <a:lnTo>
                  <a:pt x="6850891" y="4798478"/>
                </a:lnTo>
                <a:lnTo>
                  <a:pt x="0" y="4798478"/>
                </a:lnTo>
                <a:lnTo>
                  <a:pt x="0" y="0"/>
                </a:lnTo>
                <a:close/>
              </a:path>
            </a:pathLst>
          </a:custGeom>
          <a:blipFill>
            <a:blip r:embed="rId2"/>
            <a:stretch>
              <a:fillRect/>
            </a:stretch>
          </a:blipFill>
        </p:spPr>
        <p:txBody>
          <a:bodyPr/>
          <a:lstStyle/>
          <a:p>
            <a:endParaRPr lang="en-US"/>
          </a:p>
        </p:txBody>
      </p:sp>
      <p:sp>
        <p:nvSpPr>
          <p:cNvPr id="6" name="AutoShape 6"/>
          <p:cNvSpPr/>
          <p:nvPr/>
        </p:nvSpPr>
        <p:spPr>
          <a:xfrm>
            <a:off x="5023278" y="2192652"/>
            <a:ext cx="433190" cy="1255234"/>
          </a:xfrm>
          <a:prstGeom prst="line">
            <a:avLst/>
          </a:prstGeom>
          <a:ln w="38100" cap="flat">
            <a:solidFill>
              <a:srgbClr val="000000"/>
            </a:solidFill>
            <a:prstDash val="solid"/>
            <a:headEnd type="none" w="sm" len="sm"/>
            <a:tailEnd type="arrow" w="med" len="sm"/>
          </a:ln>
        </p:spPr>
        <p:txBody>
          <a:bodyPr/>
          <a:lstStyle/>
          <a:p>
            <a:endParaRPr lang="en-US"/>
          </a:p>
        </p:txBody>
      </p:sp>
      <p:grpSp>
        <p:nvGrpSpPr>
          <p:cNvPr id="7" name="Group 7"/>
          <p:cNvGrpSpPr/>
          <p:nvPr/>
        </p:nvGrpSpPr>
        <p:grpSpPr>
          <a:xfrm>
            <a:off x="7920826" y="158357"/>
            <a:ext cx="6573448" cy="4068591"/>
            <a:chOff x="0" y="0"/>
            <a:chExt cx="8764597" cy="5424787"/>
          </a:xfrm>
        </p:grpSpPr>
        <p:grpSp>
          <p:nvGrpSpPr>
            <p:cNvPr id="8" name="Group 8"/>
            <p:cNvGrpSpPr/>
            <p:nvPr/>
          </p:nvGrpSpPr>
          <p:grpSpPr>
            <a:xfrm>
              <a:off x="0" y="0"/>
              <a:ext cx="8764597" cy="5424787"/>
              <a:chOff x="0" y="0"/>
              <a:chExt cx="2086391" cy="1291358"/>
            </a:xfrm>
          </p:grpSpPr>
          <p:sp>
            <p:nvSpPr>
              <p:cNvPr id="9" name="Freeform 9"/>
              <p:cNvSpPr/>
              <p:nvPr/>
            </p:nvSpPr>
            <p:spPr>
              <a:xfrm>
                <a:off x="0" y="0"/>
                <a:ext cx="2086391" cy="1291358"/>
              </a:xfrm>
              <a:custGeom>
                <a:avLst/>
                <a:gdLst/>
                <a:ahLst/>
                <a:cxnLst/>
                <a:rect l="l" t="t" r="r" b="b"/>
                <a:pathLst>
                  <a:path w="2086391" h="1291358">
                    <a:moveTo>
                      <a:pt x="60066" y="0"/>
                    </a:moveTo>
                    <a:lnTo>
                      <a:pt x="2026326" y="0"/>
                    </a:lnTo>
                    <a:cubicBezTo>
                      <a:pt x="2059499" y="0"/>
                      <a:pt x="2086391" y="26892"/>
                      <a:pt x="2086391" y="60066"/>
                    </a:cubicBezTo>
                    <a:lnTo>
                      <a:pt x="2086391" y="1231292"/>
                    </a:lnTo>
                    <a:cubicBezTo>
                      <a:pt x="2086391" y="1264465"/>
                      <a:pt x="2059499" y="1291358"/>
                      <a:pt x="2026326" y="1291358"/>
                    </a:cubicBezTo>
                    <a:lnTo>
                      <a:pt x="60066" y="1291358"/>
                    </a:lnTo>
                    <a:cubicBezTo>
                      <a:pt x="26892" y="1291358"/>
                      <a:pt x="0" y="1264465"/>
                      <a:pt x="0" y="1231292"/>
                    </a:cubicBezTo>
                    <a:lnTo>
                      <a:pt x="0" y="60066"/>
                    </a:lnTo>
                    <a:cubicBezTo>
                      <a:pt x="0" y="26892"/>
                      <a:pt x="26892" y="0"/>
                      <a:pt x="60066" y="0"/>
                    </a:cubicBezTo>
                    <a:close/>
                  </a:path>
                </a:pathLst>
              </a:custGeom>
              <a:solidFill>
                <a:srgbClr val="FFFFFF"/>
              </a:solidFill>
            </p:spPr>
            <p:txBody>
              <a:bodyPr/>
              <a:lstStyle/>
              <a:p>
                <a:endParaRPr lang="en-US"/>
              </a:p>
            </p:txBody>
          </p:sp>
          <p:sp>
            <p:nvSpPr>
              <p:cNvPr id="10" name="TextBox 10"/>
              <p:cNvSpPr txBox="1"/>
              <p:nvPr/>
            </p:nvSpPr>
            <p:spPr>
              <a:xfrm>
                <a:off x="0" y="-38100"/>
                <a:ext cx="2086391" cy="1329458"/>
              </a:xfrm>
              <a:prstGeom prst="rect">
                <a:avLst/>
              </a:prstGeom>
            </p:spPr>
            <p:txBody>
              <a:bodyPr lIns="36043" tIns="36043" rIns="36043" bIns="36043" rtlCol="0" anchor="ctr"/>
              <a:lstStyle/>
              <a:p>
                <a:pPr algn="ctr">
                  <a:lnSpc>
                    <a:spcPts val="2659"/>
                  </a:lnSpc>
                  <a:spcBef>
                    <a:spcPct val="0"/>
                  </a:spcBef>
                </a:pPr>
                <a:endParaRPr/>
              </a:p>
            </p:txBody>
          </p:sp>
        </p:grpSp>
        <p:sp>
          <p:nvSpPr>
            <p:cNvPr id="11" name="Freeform 11"/>
            <p:cNvSpPr/>
            <p:nvPr/>
          </p:nvSpPr>
          <p:spPr>
            <a:xfrm>
              <a:off x="350903" y="267515"/>
              <a:ext cx="8072996" cy="4880799"/>
            </a:xfrm>
            <a:custGeom>
              <a:avLst/>
              <a:gdLst/>
              <a:ahLst/>
              <a:cxnLst/>
              <a:rect l="l" t="t" r="r" b="b"/>
              <a:pathLst>
                <a:path w="8072996" h="4880799">
                  <a:moveTo>
                    <a:pt x="0" y="0"/>
                  </a:moveTo>
                  <a:lnTo>
                    <a:pt x="8072995" y="0"/>
                  </a:lnTo>
                  <a:lnTo>
                    <a:pt x="8072995" y="4880799"/>
                  </a:lnTo>
                  <a:lnTo>
                    <a:pt x="0" y="4880799"/>
                  </a:lnTo>
                  <a:lnTo>
                    <a:pt x="0" y="0"/>
                  </a:lnTo>
                  <a:close/>
                </a:path>
              </a:pathLst>
            </a:custGeom>
            <a:blipFill>
              <a:blip r:embed="rId3"/>
              <a:stretch>
                <a:fillRect/>
              </a:stretch>
            </a:blipFill>
          </p:spPr>
          <p:txBody>
            <a:bodyPr/>
            <a:lstStyle/>
            <a:p>
              <a:endParaRPr lang="en-US"/>
            </a:p>
          </p:txBody>
        </p:sp>
      </p:grpSp>
      <p:grpSp>
        <p:nvGrpSpPr>
          <p:cNvPr id="12" name="Group 12"/>
          <p:cNvGrpSpPr/>
          <p:nvPr/>
        </p:nvGrpSpPr>
        <p:grpSpPr>
          <a:xfrm>
            <a:off x="7943412" y="5230314"/>
            <a:ext cx="5312453" cy="4114800"/>
            <a:chOff x="0" y="0"/>
            <a:chExt cx="1093492" cy="846972"/>
          </a:xfrm>
        </p:grpSpPr>
        <p:sp>
          <p:nvSpPr>
            <p:cNvPr id="13" name="Freeform 13"/>
            <p:cNvSpPr/>
            <p:nvPr/>
          </p:nvSpPr>
          <p:spPr>
            <a:xfrm>
              <a:off x="0" y="0"/>
              <a:ext cx="1093492" cy="846972"/>
            </a:xfrm>
            <a:custGeom>
              <a:avLst/>
              <a:gdLst/>
              <a:ahLst/>
              <a:cxnLst/>
              <a:rect l="l" t="t" r="r" b="b"/>
              <a:pathLst>
                <a:path w="1093492" h="846972">
                  <a:moveTo>
                    <a:pt x="74323" y="0"/>
                  </a:moveTo>
                  <a:lnTo>
                    <a:pt x="1019169" y="0"/>
                  </a:lnTo>
                  <a:cubicBezTo>
                    <a:pt x="1060217" y="0"/>
                    <a:pt x="1093492" y="33276"/>
                    <a:pt x="1093492" y="74323"/>
                  </a:cubicBezTo>
                  <a:lnTo>
                    <a:pt x="1093492" y="772649"/>
                  </a:lnTo>
                  <a:cubicBezTo>
                    <a:pt x="1093492" y="792361"/>
                    <a:pt x="1085662" y="811265"/>
                    <a:pt x="1071724" y="825204"/>
                  </a:cubicBezTo>
                  <a:cubicBezTo>
                    <a:pt x="1057785" y="839142"/>
                    <a:pt x="1038881" y="846972"/>
                    <a:pt x="1019169" y="846972"/>
                  </a:cubicBezTo>
                  <a:lnTo>
                    <a:pt x="74323" y="846972"/>
                  </a:lnTo>
                  <a:cubicBezTo>
                    <a:pt x="54611" y="846972"/>
                    <a:pt x="35707" y="839142"/>
                    <a:pt x="21769" y="825204"/>
                  </a:cubicBezTo>
                  <a:cubicBezTo>
                    <a:pt x="7830" y="811265"/>
                    <a:pt x="0" y="792361"/>
                    <a:pt x="0" y="772649"/>
                  </a:cubicBezTo>
                  <a:lnTo>
                    <a:pt x="0" y="74323"/>
                  </a:lnTo>
                  <a:cubicBezTo>
                    <a:pt x="0" y="54611"/>
                    <a:pt x="7830" y="35707"/>
                    <a:pt x="21769" y="21769"/>
                  </a:cubicBezTo>
                  <a:cubicBezTo>
                    <a:pt x="35707" y="7830"/>
                    <a:pt x="54611" y="0"/>
                    <a:pt x="74323" y="0"/>
                  </a:cubicBezTo>
                  <a:close/>
                </a:path>
              </a:pathLst>
            </a:custGeom>
            <a:solidFill>
              <a:srgbClr val="FFFFFF"/>
            </a:solidFill>
          </p:spPr>
          <p:txBody>
            <a:bodyPr/>
            <a:lstStyle/>
            <a:p>
              <a:endParaRPr lang="en-US"/>
            </a:p>
          </p:txBody>
        </p:sp>
        <p:sp>
          <p:nvSpPr>
            <p:cNvPr id="14" name="TextBox 14"/>
            <p:cNvSpPr txBox="1"/>
            <p:nvPr/>
          </p:nvSpPr>
          <p:spPr>
            <a:xfrm>
              <a:off x="0" y="-38100"/>
              <a:ext cx="1093492" cy="885072"/>
            </a:xfrm>
            <a:prstGeom prst="rect">
              <a:avLst/>
            </a:prstGeom>
          </p:spPr>
          <p:txBody>
            <a:bodyPr lIns="55577" tIns="55577" rIns="55577" bIns="55577" rtlCol="0" anchor="ctr"/>
            <a:lstStyle/>
            <a:p>
              <a:pPr algn="ctr">
                <a:lnSpc>
                  <a:spcPts val="2659"/>
                </a:lnSpc>
                <a:spcBef>
                  <a:spcPct val="0"/>
                </a:spcBef>
              </a:pPr>
              <a:endParaRPr/>
            </a:p>
          </p:txBody>
        </p:sp>
      </p:grpSp>
      <p:sp>
        <p:nvSpPr>
          <p:cNvPr id="15" name="Freeform 15"/>
          <p:cNvSpPr/>
          <p:nvPr/>
        </p:nvSpPr>
        <p:spPr>
          <a:xfrm>
            <a:off x="8163145" y="5411050"/>
            <a:ext cx="4872987" cy="3753327"/>
          </a:xfrm>
          <a:custGeom>
            <a:avLst/>
            <a:gdLst/>
            <a:ahLst/>
            <a:cxnLst/>
            <a:rect l="l" t="t" r="r" b="b"/>
            <a:pathLst>
              <a:path w="4872987" h="3753327">
                <a:moveTo>
                  <a:pt x="0" y="0"/>
                </a:moveTo>
                <a:lnTo>
                  <a:pt x="4872987" y="0"/>
                </a:lnTo>
                <a:lnTo>
                  <a:pt x="4872987" y="3753327"/>
                </a:lnTo>
                <a:lnTo>
                  <a:pt x="0" y="3753327"/>
                </a:lnTo>
                <a:lnTo>
                  <a:pt x="0" y="0"/>
                </a:lnTo>
                <a:close/>
              </a:path>
            </a:pathLst>
          </a:custGeom>
          <a:blipFill>
            <a:blip r:embed="rId4"/>
            <a:stretch>
              <a:fillRect/>
            </a:stretch>
          </a:blipFill>
        </p:spPr>
        <p:txBody>
          <a:bodyPr/>
          <a:lstStyle/>
          <a:p>
            <a:endParaRPr lang="en-US"/>
          </a:p>
        </p:txBody>
      </p:sp>
      <p:grpSp>
        <p:nvGrpSpPr>
          <p:cNvPr id="16" name="Group 16"/>
          <p:cNvGrpSpPr/>
          <p:nvPr/>
        </p:nvGrpSpPr>
        <p:grpSpPr>
          <a:xfrm>
            <a:off x="745905" y="7287714"/>
            <a:ext cx="6733208" cy="770841"/>
            <a:chOff x="0" y="0"/>
            <a:chExt cx="1385934" cy="158667"/>
          </a:xfrm>
        </p:grpSpPr>
        <p:sp>
          <p:nvSpPr>
            <p:cNvPr id="17" name="Freeform 17"/>
            <p:cNvSpPr/>
            <p:nvPr/>
          </p:nvSpPr>
          <p:spPr>
            <a:xfrm>
              <a:off x="0" y="0"/>
              <a:ext cx="1385934" cy="158667"/>
            </a:xfrm>
            <a:custGeom>
              <a:avLst/>
              <a:gdLst/>
              <a:ahLst/>
              <a:cxnLst/>
              <a:rect l="l" t="t" r="r" b="b"/>
              <a:pathLst>
                <a:path w="1385934" h="158667">
                  <a:moveTo>
                    <a:pt x="58640" y="0"/>
                  </a:moveTo>
                  <a:lnTo>
                    <a:pt x="1327294" y="0"/>
                  </a:lnTo>
                  <a:cubicBezTo>
                    <a:pt x="1342846" y="0"/>
                    <a:pt x="1357762" y="6178"/>
                    <a:pt x="1368759" y="17175"/>
                  </a:cubicBezTo>
                  <a:cubicBezTo>
                    <a:pt x="1379756" y="28173"/>
                    <a:pt x="1385934" y="43088"/>
                    <a:pt x="1385934" y="58640"/>
                  </a:cubicBezTo>
                  <a:lnTo>
                    <a:pt x="1385934" y="100026"/>
                  </a:lnTo>
                  <a:cubicBezTo>
                    <a:pt x="1385934" y="115579"/>
                    <a:pt x="1379756" y="130494"/>
                    <a:pt x="1368759" y="141491"/>
                  </a:cubicBezTo>
                  <a:cubicBezTo>
                    <a:pt x="1357762" y="152488"/>
                    <a:pt x="1342846" y="158667"/>
                    <a:pt x="1327294" y="158667"/>
                  </a:cubicBezTo>
                  <a:lnTo>
                    <a:pt x="58640" y="158667"/>
                  </a:lnTo>
                  <a:cubicBezTo>
                    <a:pt x="43088" y="158667"/>
                    <a:pt x="28173" y="152488"/>
                    <a:pt x="17175" y="141491"/>
                  </a:cubicBezTo>
                  <a:cubicBezTo>
                    <a:pt x="6178" y="130494"/>
                    <a:pt x="0" y="115579"/>
                    <a:pt x="0" y="100026"/>
                  </a:cubicBezTo>
                  <a:lnTo>
                    <a:pt x="0" y="58640"/>
                  </a:lnTo>
                  <a:cubicBezTo>
                    <a:pt x="0" y="43088"/>
                    <a:pt x="6178" y="28173"/>
                    <a:pt x="17175" y="17175"/>
                  </a:cubicBezTo>
                  <a:cubicBezTo>
                    <a:pt x="28173" y="6178"/>
                    <a:pt x="43088" y="0"/>
                    <a:pt x="58640" y="0"/>
                  </a:cubicBezTo>
                  <a:close/>
                </a:path>
              </a:pathLst>
            </a:custGeom>
            <a:solidFill>
              <a:srgbClr val="FFFFFF"/>
            </a:solidFill>
          </p:spPr>
          <p:txBody>
            <a:bodyPr/>
            <a:lstStyle/>
            <a:p>
              <a:endParaRPr lang="en-US"/>
            </a:p>
          </p:txBody>
        </p:sp>
        <p:sp>
          <p:nvSpPr>
            <p:cNvPr id="18" name="TextBox 18"/>
            <p:cNvSpPr txBox="1"/>
            <p:nvPr/>
          </p:nvSpPr>
          <p:spPr>
            <a:xfrm>
              <a:off x="0" y="-38100"/>
              <a:ext cx="1385934" cy="196767"/>
            </a:xfrm>
            <a:prstGeom prst="rect">
              <a:avLst/>
            </a:prstGeom>
          </p:spPr>
          <p:txBody>
            <a:bodyPr lIns="55577" tIns="55577" rIns="55577" bIns="55577" rtlCol="0" anchor="ctr"/>
            <a:lstStyle/>
            <a:p>
              <a:pPr algn="ctr">
                <a:lnSpc>
                  <a:spcPts val="2659"/>
                </a:lnSpc>
                <a:spcBef>
                  <a:spcPct val="0"/>
                </a:spcBef>
              </a:pPr>
              <a:endParaRPr/>
            </a:p>
          </p:txBody>
        </p:sp>
      </p:grpSp>
      <p:sp>
        <p:nvSpPr>
          <p:cNvPr id="19" name="Freeform 19"/>
          <p:cNvSpPr/>
          <p:nvPr/>
        </p:nvSpPr>
        <p:spPr>
          <a:xfrm>
            <a:off x="1063615" y="7324386"/>
            <a:ext cx="2672342" cy="697498"/>
          </a:xfrm>
          <a:custGeom>
            <a:avLst/>
            <a:gdLst/>
            <a:ahLst/>
            <a:cxnLst/>
            <a:rect l="l" t="t" r="r" b="b"/>
            <a:pathLst>
              <a:path w="2672342" h="697498">
                <a:moveTo>
                  <a:pt x="0" y="0"/>
                </a:moveTo>
                <a:lnTo>
                  <a:pt x="2672342" y="0"/>
                </a:lnTo>
                <a:lnTo>
                  <a:pt x="2672342" y="697497"/>
                </a:lnTo>
                <a:lnTo>
                  <a:pt x="0" y="697497"/>
                </a:lnTo>
                <a:lnTo>
                  <a:pt x="0" y="0"/>
                </a:lnTo>
                <a:close/>
              </a:path>
            </a:pathLst>
          </a:custGeom>
          <a:blipFill>
            <a:blip r:embed="rId5"/>
            <a:stretch>
              <a:fillRect/>
            </a:stretch>
          </a:blipFill>
        </p:spPr>
        <p:txBody>
          <a:bodyPr/>
          <a:lstStyle/>
          <a:p>
            <a:endParaRPr lang="en-US"/>
          </a:p>
        </p:txBody>
      </p:sp>
      <p:sp>
        <p:nvSpPr>
          <p:cNvPr id="20" name="Freeform 20"/>
          <p:cNvSpPr/>
          <p:nvPr/>
        </p:nvSpPr>
        <p:spPr>
          <a:xfrm>
            <a:off x="4259670" y="7395169"/>
            <a:ext cx="2393596" cy="626715"/>
          </a:xfrm>
          <a:custGeom>
            <a:avLst/>
            <a:gdLst/>
            <a:ahLst/>
            <a:cxnLst/>
            <a:rect l="l" t="t" r="r" b="b"/>
            <a:pathLst>
              <a:path w="2393596" h="626715">
                <a:moveTo>
                  <a:pt x="0" y="0"/>
                </a:moveTo>
                <a:lnTo>
                  <a:pt x="2393596" y="0"/>
                </a:lnTo>
                <a:lnTo>
                  <a:pt x="2393596" y="626714"/>
                </a:lnTo>
                <a:lnTo>
                  <a:pt x="0" y="626714"/>
                </a:lnTo>
                <a:lnTo>
                  <a:pt x="0" y="0"/>
                </a:lnTo>
                <a:close/>
              </a:path>
            </a:pathLst>
          </a:custGeom>
          <a:blipFill>
            <a:blip r:embed="rId6"/>
            <a:stretch>
              <a:fillRect/>
            </a:stretch>
          </a:blipFill>
        </p:spPr>
        <p:txBody>
          <a:bodyPr/>
          <a:lstStyle/>
          <a:p>
            <a:endParaRPr lang="en-US"/>
          </a:p>
        </p:txBody>
      </p:sp>
      <p:sp>
        <p:nvSpPr>
          <p:cNvPr id="21" name="TextBox 21"/>
          <p:cNvSpPr txBox="1"/>
          <p:nvPr/>
        </p:nvSpPr>
        <p:spPr>
          <a:xfrm>
            <a:off x="673476" y="691561"/>
            <a:ext cx="7048865" cy="1497732"/>
          </a:xfrm>
          <a:prstGeom prst="rect">
            <a:avLst/>
          </a:prstGeom>
        </p:spPr>
        <p:txBody>
          <a:bodyPr lIns="0" tIns="0" rIns="0" bIns="0" rtlCol="0" anchor="t">
            <a:spAutoFit/>
          </a:bodyPr>
          <a:lstStyle/>
          <a:p>
            <a:pPr algn="ctr">
              <a:lnSpc>
                <a:spcPts val="11172"/>
              </a:lnSpc>
            </a:pPr>
            <a:r>
              <a:rPr lang="en-US" sz="11638" dirty="0">
                <a:solidFill>
                  <a:srgbClr val="000000"/>
                </a:solidFill>
                <a:latin typeface="Futura Display"/>
                <a:ea typeface="Futura Display"/>
                <a:cs typeface="Futura Display"/>
                <a:sym typeface="Futura Display"/>
              </a:rPr>
              <a:t>PRE-COVID</a:t>
            </a:r>
          </a:p>
        </p:txBody>
      </p:sp>
      <p:sp>
        <p:nvSpPr>
          <p:cNvPr id="22" name="TextBox 22"/>
          <p:cNvSpPr txBox="1"/>
          <p:nvPr/>
        </p:nvSpPr>
        <p:spPr>
          <a:xfrm>
            <a:off x="8063053" y="4182153"/>
            <a:ext cx="9506692" cy="763662"/>
          </a:xfrm>
          <a:prstGeom prst="rect">
            <a:avLst/>
          </a:prstGeom>
        </p:spPr>
        <p:txBody>
          <a:bodyPr lIns="0" tIns="0" rIns="0" bIns="0" rtlCol="0" anchor="t">
            <a:spAutoFit/>
          </a:bodyPr>
          <a:lstStyle/>
          <a:p>
            <a:pPr algn="l">
              <a:lnSpc>
                <a:spcPts val="3028"/>
              </a:lnSpc>
            </a:pPr>
            <a:r>
              <a:rPr lang="en-US" sz="2163" u="sng">
                <a:solidFill>
                  <a:srgbClr val="000000"/>
                </a:solidFill>
                <a:latin typeface="Arimo"/>
                <a:ea typeface="Arimo"/>
                <a:cs typeface="Arimo"/>
                <a:sym typeface="Arimo"/>
                <a:hlinkClick r:id="rId7" tooltip="https://www.stb.gov.sg/content/stb/en/media-centre/media-releases/singapore-goes-one-stop-non-stop-this-september.html"/>
              </a:rPr>
              <a:t>https://www.stb.gov.sg/content/stb/en/media-centre/media-releases/singapore-goes-one-stop-non-stop-this-september.html</a:t>
            </a:r>
          </a:p>
        </p:txBody>
      </p:sp>
      <p:sp>
        <p:nvSpPr>
          <p:cNvPr id="23" name="TextBox 23"/>
          <p:cNvSpPr txBox="1"/>
          <p:nvPr/>
        </p:nvSpPr>
        <p:spPr>
          <a:xfrm>
            <a:off x="7776246" y="9401175"/>
            <a:ext cx="8140365" cy="350474"/>
          </a:xfrm>
          <a:prstGeom prst="rect">
            <a:avLst/>
          </a:prstGeom>
        </p:spPr>
        <p:txBody>
          <a:bodyPr lIns="0" tIns="0" rIns="0" bIns="0" rtlCol="0" anchor="t">
            <a:spAutoFit/>
          </a:bodyPr>
          <a:lstStyle/>
          <a:p>
            <a:pPr algn="l">
              <a:lnSpc>
                <a:spcPts val="2726"/>
              </a:lnSpc>
            </a:pPr>
            <a:r>
              <a:rPr lang="en-US" sz="1947" u="sng">
                <a:solidFill>
                  <a:srgbClr val="000000"/>
                </a:solidFill>
                <a:latin typeface="Arimo"/>
                <a:ea typeface="Arimo"/>
                <a:cs typeface="Arimo"/>
                <a:sym typeface="Arimo"/>
                <a:hlinkClick r:id="rId8" tooltip="https://www.exchange-rates.org/exchange-rate-history/usd-sgd-2014"/>
              </a:rPr>
              <a:t>https://www.exchange-rates.org/exchange-rate-history/usd-sgd-2014</a:t>
            </a:r>
          </a:p>
        </p:txBody>
      </p:sp>
      <p:sp>
        <p:nvSpPr>
          <p:cNvPr id="24" name="TextBox 24"/>
          <p:cNvSpPr txBox="1"/>
          <p:nvPr/>
        </p:nvSpPr>
        <p:spPr>
          <a:xfrm>
            <a:off x="13399144" y="6522930"/>
            <a:ext cx="4170601" cy="1310654"/>
          </a:xfrm>
          <a:prstGeom prst="rect">
            <a:avLst/>
          </a:prstGeom>
        </p:spPr>
        <p:txBody>
          <a:bodyPr lIns="0" tIns="0" rIns="0" bIns="0" rtlCol="0" anchor="t">
            <a:spAutoFit/>
          </a:bodyPr>
          <a:lstStyle/>
          <a:p>
            <a:pPr algn="ctr">
              <a:lnSpc>
                <a:spcPts val="2614"/>
              </a:lnSpc>
              <a:spcBef>
                <a:spcPct val="0"/>
              </a:spcBef>
            </a:pPr>
            <a:r>
              <a:rPr lang="en-US" sz="1867">
                <a:solidFill>
                  <a:srgbClr val="000000"/>
                </a:solidFill>
                <a:latin typeface="Canva Sans"/>
                <a:ea typeface="Canva Sans"/>
                <a:cs typeface="Canva Sans"/>
                <a:sym typeface="Canva Sans"/>
              </a:rPr>
              <a:t>The USD/SGD rate is up +4.89% in 2014. This means the US Dollar increased in value compared to the Singapore Dollar.</a:t>
            </a:r>
          </a:p>
        </p:txBody>
      </p:sp>
      <p:sp>
        <p:nvSpPr>
          <p:cNvPr id="25" name="TextBox 25"/>
          <p:cNvSpPr txBox="1"/>
          <p:nvPr/>
        </p:nvSpPr>
        <p:spPr>
          <a:xfrm>
            <a:off x="14932424" y="1775344"/>
            <a:ext cx="2387895" cy="793613"/>
          </a:xfrm>
          <a:prstGeom prst="rect">
            <a:avLst/>
          </a:prstGeom>
        </p:spPr>
        <p:txBody>
          <a:bodyPr lIns="0" tIns="0" rIns="0" bIns="0" rtlCol="0" anchor="t">
            <a:spAutoFit/>
          </a:bodyPr>
          <a:lstStyle/>
          <a:p>
            <a:pPr algn="ctr">
              <a:lnSpc>
                <a:spcPts val="2137"/>
              </a:lnSpc>
            </a:pPr>
            <a:r>
              <a:rPr lang="en-US" sz="1527">
                <a:solidFill>
                  <a:srgbClr val="000000"/>
                </a:solidFill>
                <a:latin typeface="Canva Sans"/>
                <a:ea typeface="Canva Sans"/>
                <a:cs typeface="Canva Sans"/>
                <a:sym typeface="Canva Sans"/>
              </a:rPr>
              <a:t>253,362 people came for the 2014 grand prix </a:t>
            </a:r>
          </a:p>
          <a:p>
            <a:pPr algn="ctr">
              <a:lnSpc>
                <a:spcPts val="2137"/>
              </a:lnSpc>
              <a:spcBef>
                <a:spcPct val="0"/>
              </a:spcBef>
            </a:pPr>
            <a:endParaRPr lang="en-US" sz="1527">
              <a:solidFill>
                <a:srgbClr val="000000"/>
              </a:solidFill>
              <a:latin typeface="Canva Sans"/>
              <a:ea typeface="Canva Sans"/>
              <a:cs typeface="Canva Sans"/>
              <a:sym typeface="Canva Sans"/>
            </a:endParaRPr>
          </a:p>
        </p:txBody>
      </p:sp>
      <p:grpSp>
        <p:nvGrpSpPr>
          <p:cNvPr id="26" name="Group 26"/>
          <p:cNvGrpSpPr/>
          <p:nvPr/>
        </p:nvGrpSpPr>
        <p:grpSpPr>
          <a:xfrm>
            <a:off x="3828456" y="7554838"/>
            <a:ext cx="284052" cy="307377"/>
            <a:chOff x="0" y="0"/>
            <a:chExt cx="751121" cy="812800"/>
          </a:xfrm>
        </p:grpSpPr>
        <p:sp>
          <p:nvSpPr>
            <p:cNvPr id="27" name="Freeform 27"/>
            <p:cNvSpPr/>
            <p:nvPr/>
          </p:nvSpPr>
          <p:spPr>
            <a:xfrm>
              <a:off x="0" y="0"/>
              <a:ext cx="751121" cy="812800"/>
            </a:xfrm>
            <a:custGeom>
              <a:avLst/>
              <a:gdLst/>
              <a:ahLst/>
              <a:cxnLst/>
              <a:rect l="l" t="t" r="r" b="b"/>
              <a:pathLst>
                <a:path w="751121" h="812800">
                  <a:moveTo>
                    <a:pt x="751121" y="406400"/>
                  </a:moveTo>
                  <a:lnTo>
                    <a:pt x="344721" y="0"/>
                  </a:lnTo>
                  <a:lnTo>
                    <a:pt x="344721" y="203200"/>
                  </a:lnTo>
                  <a:lnTo>
                    <a:pt x="0" y="203200"/>
                  </a:lnTo>
                  <a:lnTo>
                    <a:pt x="0" y="609600"/>
                  </a:lnTo>
                  <a:lnTo>
                    <a:pt x="344721" y="609600"/>
                  </a:lnTo>
                  <a:lnTo>
                    <a:pt x="344721" y="812800"/>
                  </a:lnTo>
                  <a:lnTo>
                    <a:pt x="751121" y="406400"/>
                  </a:lnTo>
                  <a:close/>
                </a:path>
              </a:pathLst>
            </a:custGeom>
            <a:solidFill>
              <a:srgbClr val="31356E"/>
            </a:solidFill>
          </p:spPr>
          <p:txBody>
            <a:bodyPr/>
            <a:lstStyle/>
            <a:p>
              <a:endParaRPr lang="en-US"/>
            </a:p>
          </p:txBody>
        </p:sp>
        <p:sp>
          <p:nvSpPr>
            <p:cNvPr id="28" name="TextBox 28"/>
            <p:cNvSpPr txBox="1"/>
            <p:nvPr/>
          </p:nvSpPr>
          <p:spPr>
            <a:xfrm>
              <a:off x="0" y="165100"/>
              <a:ext cx="649521" cy="44450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673476" y="8201430"/>
            <a:ext cx="6805637" cy="1077744"/>
          </a:xfrm>
          <a:prstGeom prst="rect">
            <a:avLst/>
          </a:prstGeom>
        </p:spPr>
        <p:txBody>
          <a:bodyPr lIns="0" tIns="0" rIns="0" bIns="0" rtlCol="0" anchor="t">
            <a:spAutoFit/>
          </a:bodyPr>
          <a:lstStyle/>
          <a:p>
            <a:pPr algn="ctr">
              <a:lnSpc>
                <a:spcPts val="4385"/>
              </a:lnSpc>
            </a:pPr>
            <a:r>
              <a:rPr lang="en-US" sz="3132">
                <a:solidFill>
                  <a:srgbClr val="000000"/>
                </a:solidFill>
                <a:latin typeface="Lexend Deca"/>
                <a:ea typeface="Lexend Deca"/>
                <a:cs typeface="Lexend Deca"/>
                <a:sym typeface="Lexend Deca"/>
              </a:rPr>
              <a:t>2014 to 2018 showed more revenue compared to occupancy rate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a:off x="1284480" y="1980674"/>
            <a:ext cx="7284982" cy="5201225"/>
            <a:chOff x="0" y="0"/>
            <a:chExt cx="1499509" cy="1070597"/>
          </a:xfrm>
        </p:grpSpPr>
        <p:sp>
          <p:nvSpPr>
            <p:cNvPr id="3" name="Freeform 3"/>
            <p:cNvSpPr/>
            <p:nvPr/>
          </p:nvSpPr>
          <p:spPr>
            <a:xfrm>
              <a:off x="0" y="0"/>
              <a:ext cx="1499509" cy="1070597"/>
            </a:xfrm>
            <a:custGeom>
              <a:avLst/>
              <a:gdLst/>
              <a:ahLst/>
              <a:cxnLst/>
              <a:rect l="l" t="t" r="r" b="b"/>
              <a:pathLst>
                <a:path w="1499509" h="1070597">
                  <a:moveTo>
                    <a:pt x="54199" y="0"/>
                  </a:moveTo>
                  <a:lnTo>
                    <a:pt x="1445310" y="0"/>
                  </a:lnTo>
                  <a:cubicBezTo>
                    <a:pt x="1475243" y="0"/>
                    <a:pt x="1499509" y="24266"/>
                    <a:pt x="1499509" y="54199"/>
                  </a:cubicBezTo>
                  <a:lnTo>
                    <a:pt x="1499509" y="1016399"/>
                  </a:lnTo>
                  <a:cubicBezTo>
                    <a:pt x="1499509" y="1046332"/>
                    <a:pt x="1475243" y="1070597"/>
                    <a:pt x="1445310" y="1070597"/>
                  </a:cubicBezTo>
                  <a:lnTo>
                    <a:pt x="54199" y="1070597"/>
                  </a:lnTo>
                  <a:cubicBezTo>
                    <a:pt x="24266" y="1070597"/>
                    <a:pt x="0" y="1046332"/>
                    <a:pt x="0" y="1016399"/>
                  </a:cubicBezTo>
                  <a:lnTo>
                    <a:pt x="0" y="54199"/>
                  </a:lnTo>
                  <a:cubicBezTo>
                    <a:pt x="0" y="24266"/>
                    <a:pt x="24266" y="0"/>
                    <a:pt x="54199" y="0"/>
                  </a:cubicBezTo>
                  <a:close/>
                </a:path>
              </a:pathLst>
            </a:custGeom>
            <a:solidFill>
              <a:srgbClr val="FFFFFF"/>
            </a:solidFill>
          </p:spPr>
          <p:txBody>
            <a:bodyPr/>
            <a:lstStyle/>
            <a:p>
              <a:endParaRPr lang="en-US"/>
            </a:p>
          </p:txBody>
        </p:sp>
        <p:sp>
          <p:nvSpPr>
            <p:cNvPr id="4" name="TextBox 4"/>
            <p:cNvSpPr txBox="1"/>
            <p:nvPr/>
          </p:nvSpPr>
          <p:spPr>
            <a:xfrm>
              <a:off x="0" y="-38100"/>
              <a:ext cx="1499509" cy="1108697"/>
            </a:xfrm>
            <a:prstGeom prst="rect">
              <a:avLst/>
            </a:prstGeom>
          </p:spPr>
          <p:txBody>
            <a:bodyPr lIns="55577" tIns="55577" rIns="55577" bIns="55577" rtlCol="0" anchor="ctr"/>
            <a:lstStyle/>
            <a:p>
              <a:pPr algn="ctr">
                <a:lnSpc>
                  <a:spcPts val="2659"/>
                </a:lnSpc>
                <a:spcBef>
                  <a:spcPct val="0"/>
                </a:spcBef>
              </a:pPr>
              <a:endParaRPr/>
            </a:p>
          </p:txBody>
        </p:sp>
      </p:grpSp>
      <p:sp>
        <p:nvSpPr>
          <p:cNvPr id="5" name="Freeform 5"/>
          <p:cNvSpPr/>
          <p:nvPr/>
        </p:nvSpPr>
        <p:spPr>
          <a:xfrm>
            <a:off x="1485146" y="2182048"/>
            <a:ext cx="6883651" cy="4798478"/>
          </a:xfrm>
          <a:custGeom>
            <a:avLst/>
            <a:gdLst/>
            <a:ahLst/>
            <a:cxnLst/>
            <a:rect l="l" t="t" r="r" b="b"/>
            <a:pathLst>
              <a:path w="6883651" h="4798478">
                <a:moveTo>
                  <a:pt x="0" y="0"/>
                </a:moveTo>
                <a:lnTo>
                  <a:pt x="6883651" y="0"/>
                </a:lnTo>
                <a:lnTo>
                  <a:pt x="6883651" y="4798478"/>
                </a:lnTo>
                <a:lnTo>
                  <a:pt x="0" y="4798478"/>
                </a:lnTo>
                <a:lnTo>
                  <a:pt x="0" y="0"/>
                </a:lnTo>
                <a:close/>
              </a:path>
            </a:pathLst>
          </a:custGeom>
          <a:blipFill>
            <a:blip r:embed="rId2"/>
            <a:stretch>
              <a:fillRect/>
            </a:stretch>
          </a:blipFill>
        </p:spPr>
        <p:txBody>
          <a:bodyPr/>
          <a:lstStyle/>
          <a:p>
            <a:endParaRPr lang="en-US"/>
          </a:p>
        </p:txBody>
      </p:sp>
      <p:sp>
        <p:nvSpPr>
          <p:cNvPr id="6" name="AutoShape 6"/>
          <p:cNvSpPr/>
          <p:nvPr/>
        </p:nvSpPr>
        <p:spPr>
          <a:xfrm>
            <a:off x="5704548" y="3030844"/>
            <a:ext cx="994182" cy="632460"/>
          </a:xfrm>
          <a:prstGeom prst="line">
            <a:avLst/>
          </a:prstGeom>
          <a:ln w="38100" cap="flat">
            <a:solidFill>
              <a:srgbClr val="000000"/>
            </a:solidFill>
            <a:prstDash val="solid"/>
            <a:headEnd type="none" w="sm" len="sm"/>
            <a:tailEnd type="arrow" w="med" len="sm"/>
          </a:ln>
        </p:spPr>
        <p:txBody>
          <a:bodyPr/>
          <a:lstStyle/>
          <a:p>
            <a:endParaRPr lang="en-US"/>
          </a:p>
        </p:txBody>
      </p:sp>
      <p:sp>
        <p:nvSpPr>
          <p:cNvPr id="7" name="AutoShape 7"/>
          <p:cNvSpPr/>
          <p:nvPr/>
        </p:nvSpPr>
        <p:spPr>
          <a:xfrm>
            <a:off x="6548121" y="2258937"/>
            <a:ext cx="994182" cy="632460"/>
          </a:xfrm>
          <a:prstGeom prst="line">
            <a:avLst/>
          </a:prstGeom>
          <a:ln w="38100" cap="flat">
            <a:solidFill>
              <a:srgbClr val="000000"/>
            </a:solidFill>
            <a:prstDash val="solid"/>
            <a:headEnd type="none" w="sm" len="sm"/>
            <a:tailEnd type="arrow" w="med" len="sm"/>
          </a:ln>
        </p:spPr>
        <p:txBody>
          <a:bodyPr/>
          <a:lstStyle/>
          <a:p>
            <a:endParaRPr lang="en-US"/>
          </a:p>
        </p:txBody>
      </p:sp>
      <p:sp>
        <p:nvSpPr>
          <p:cNvPr id="8" name="AutoShape 8"/>
          <p:cNvSpPr/>
          <p:nvPr/>
        </p:nvSpPr>
        <p:spPr>
          <a:xfrm flipH="1" flipV="1">
            <a:off x="7542303" y="2919514"/>
            <a:ext cx="0" cy="951686"/>
          </a:xfrm>
          <a:prstGeom prst="line">
            <a:avLst/>
          </a:prstGeom>
          <a:ln w="38100" cap="flat">
            <a:solidFill>
              <a:srgbClr val="000000"/>
            </a:solidFill>
            <a:prstDash val="sysDash"/>
            <a:headEnd type="none" w="sm" len="sm"/>
            <a:tailEnd type="none" w="sm" len="sm"/>
          </a:ln>
        </p:spPr>
        <p:txBody>
          <a:bodyPr/>
          <a:lstStyle/>
          <a:p>
            <a:endParaRPr lang="en-US"/>
          </a:p>
        </p:txBody>
      </p:sp>
      <p:grpSp>
        <p:nvGrpSpPr>
          <p:cNvPr id="9" name="Group 9"/>
          <p:cNvGrpSpPr/>
          <p:nvPr/>
        </p:nvGrpSpPr>
        <p:grpSpPr>
          <a:xfrm>
            <a:off x="9871551" y="2787536"/>
            <a:ext cx="7387749" cy="4284659"/>
            <a:chOff x="0" y="0"/>
            <a:chExt cx="1520662" cy="881935"/>
          </a:xfrm>
        </p:grpSpPr>
        <p:sp>
          <p:nvSpPr>
            <p:cNvPr id="10" name="Freeform 10"/>
            <p:cNvSpPr/>
            <p:nvPr/>
          </p:nvSpPr>
          <p:spPr>
            <a:xfrm>
              <a:off x="0" y="0"/>
              <a:ext cx="1520662" cy="881935"/>
            </a:xfrm>
            <a:custGeom>
              <a:avLst/>
              <a:gdLst/>
              <a:ahLst/>
              <a:cxnLst/>
              <a:rect l="l" t="t" r="r" b="b"/>
              <a:pathLst>
                <a:path w="1520662" h="881935">
                  <a:moveTo>
                    <a:pt x="53445" y="0"/>
                  </a:moveTo>
                  <a:lnTo>
                    <a:pt x="1467217" y="0"/>
                  </a:lnTo>
                  <a:cubicBezTo>
                    <a:pt x="1496734" y="0"/>
                    <a:pt x="1520662" y="23928"/>
                    <a:pt x="1520662" y="53445"/>
                  </a:cubicBezTo>
                  <a:lnTo>
                    <a:pt x="1520662" y="828490"/>
                  </a:lnTo>
                  <a:cubicBezTo>
                    <a:pt x="1520662" y="858007"/>
                    <a:pt x="1496734" y="881935"/>
                    <a:pt x="1467217" y="881935"/>
                  </a:cubicBezTo>
                  <a:lnTo>
                    <a:pt x="53445" y="881935"/>
                  </a:lnTo>
                  <a:cubicBezTo>
                    <a:pt x="23928" y="881935"/>
                    <a:pt x="0" y="858007"/>
                    <a:pt x="0" y="828490"/>
                  </a:cubicBezTo>
                  <a:lnTo>
                    <a:pt x="0" y="53445"/>
                  </a:lnTo>
                  <a:cubicBezTo>
                    <a:pt x="0" y="23928"/>
                    <a:pt x="23928" y="0"/>
                    <a:pt x="53445" y="0"/>
                  </a:cubicBezTo>
                  <a:close/>
                </a:path>
              </a:pathLst>
            </a:custGeom>
            <a:solidFill>
              <a:srgbClr val="FFFFFF"/>
            </a:solidFill>
          </p:spPr>
          <p:txBody>
            <a:bodyPr/>
            <a:lstStyle/>
            <a:p>
              <a:endParaRPr lang="en-US"/>
            </a:p>
          </p:txBody>
        </p:sp>
        <p:sp>
          <p:nvSpPr>
            <p:cNvPr id="11" name="TextBox 11"/>
            <p:cNvSpPr txBox="1"/>
            <p:nvPr/>
          </p:nvSpPr>
          <p:spPr>
            <a:xfrm>
              <a:off x="0" y="-38100"/>
              <a:ext cx="1520662" cy="920035"/>
            </a:xfrm>
            <a:prstGeom prst="rect">
              <a:avLst/>
            </a:prstGeom>
          </p:spPr>
          <p:txBody>
            <a:bodyPr lIns="55577" tIns="55577" rIns="55577" bIns="55577" rtlCol="0" anchor="ctr"/>
            <a:lstStyle/>
            <a:p>
              <a:pPr algn="ctr">
                <a:lnSpc>
                  <a:spcPts val="2659"/>
                </a:lnSpc>
                <a:spcBef>
                  <a:spcPct val="0"/>
                </a:spcBef>
              </a:pPr>
              <a:endParaRPr/>
            </a:p>
          </p:txBody>
        </p:sp>
      </p:grpSp>
      <p:sp>
        <p:nvSpPr>
          <p:cNvPr id="12" name="Freeform 12"/>
          <p:cNvSpPr/>
          <p:nvPr/>
        </p:nvSpPr>
        <p:spPr>
          <a:xfrm>
            <a:off x="10079504" y="3030844"/>
            <a:ext cx="6971842" cy="3817563"/>
          </a:xfrm>
          <a:custGeom>
            <a:avLst/>
            <a:gdLst/>
            <a:ahLst/>
            <a:cxnLst/>
            <a:rect l="l" t="t" r="r" b="b"/>
            <a:pathLst>
              <a:path w="6971842" h="3817563">
                <a:moveTo>
                  <a:pt x="0" y="0"/>
                </a:moveTo>
                <a:lnTo>
                  <a:pt x="6971842" y="0"/>
                </a:lnTo>
                <a:lnTo>
                  <a:pt x="6971842" y="3817562"/>
                </a:lnTo>
                <a:lnTo>
                  <a:pt x="0" y="3817562"/>
                </a:lnTo>
                <a:lnTo>
                  <a:pt x="0" y="0"/>
                </a:lnTo>
                <a:close/>
              </a:path>
            </a:pathLst>
          </a:custGeom>
          <a:blipFill>
            <a:blip r:embed="rId3"/>
            <a:stretch>
              <a:fillRect/>
            </a:stretch>
          </a:blipFill>
        </p:spPr>
        <p:txBody>
          <a:bodyPr/>
          <a:lstStyle/>
          <a:p>
            <a:endParaRPr lang="en-US"/>
          </a:p>
        </p:txBody>
      </p:sp>
      <p:grpSp>
        <p:nvGrpSpPr>
          <p:cNvPr id="13" name="Group 13"/>
          <p:cNvGrpSpPr/>
          <p:nvPr/>
        </p:nvGrpSpPr>
        <p:grpSpPr>
          <a:xfrm>
            <a:off x="1750982" y="7334300"/>
            <a:ext cx="6607758" cy="770841"/>
            <a:chOff x="0" y="0"/>
            <a:chExt cx="1360112" cy="158667"/>
          </a:xfrm>
        </p:grpSpPr>
        <p:sp>
          <p:nvSpPr>
            <p:cNvPr id="14" name="Freeform 14"/>
            <p:cNvSpPr/>
            <p:nvPr/>
          </p:nvSpPr>
          <p:spPr>
            <a:xfrm>
              <a:off x="0" y="0"/>
              <a:ext cx="1360112" cy="158667"/>
            </a:xfrm>
            <a:custGeom>
              <a:avLst/>
              <a:gdLst/>
              <a:ahLst/>
              <a:cxnLst/>
              <a:rect l="l" t="t" r="r" b="b"/>
              <a:pathLst>
                <a:path w="1360112" h="158667">
                  <a:moveTo>
                    <a:pt x="59754" y="0"/>
                  </a:moveTo>
                  <a:lnTo>
                    <a:pt x="1300358" y="0"/>
                  </a:lnTo>
                  <a:cubicBezTo>
                    <a:pt x="1316206" y="0"/>
                    <a:pt x="1331405" y="6295"/>
                    <a:pt x="1342611" y="17501"/>
                  </a:cubicBezTo>
                  <a:cubicBezTo>
                    <a:pt x="1353817" y="28707"/>
                    <a:pt x="1360112" y="43906"/>
                    <a:pt x="1360112" y="59754"/>
                  </a:cubicBezTo>
                  <a:lnTo>
                    <a:pt x="1360112" y="98913"/>
                  </a:lnTo>
                  <a:cubicBezTo>
                    <a:pt x="1360112" y="131914"/>
                    <a:pt x="1333359" y="158667"/>
                    <a:pt x="1300358" y="158667"/>
                  </a:cubicBezTo>
                  <a:lnTo>
                    <a:pt x="59754" y="158667"/>
                  </a:lnTo>
                  <a:cubicBezTo>
                    <a:pt x="26753" y="158667"/>
                    <a:pt x="0" y="131914"/>
                    <a:pt x="0" y="98913"/>
                  </a:cubicBezTo>
                  <a:lnTo>
                    <a:pt x="0" y="59754"/>
                  </a:lnTo>
                  <a:cubicBezTo>
                    <a:pt x="0" y="26753"/>
                    <a:pt x="26753" y="0"/>
                    <a:pt x="59754" y="0"/>
                  </a:cubicBezTo>
                  <a:close/>
                </a:path>
              </a:pathLst>
            </a:custGeom>
            <a:solidFill>
              <a:srgbClr val="FFFFFF"/>
            </a:solidFill>
          </p:spPr>
          <p:txBody>
            <a:bodyPr/>
            <a:lstStyle/>
            <a:p>
              <a:endParaRPr lang="en-US"/>
            </a:p>
          </p:txBody>
        </p:sp>
        <p:sp>
          <p:nvSpPr>
            <p:cNvPr id="15" name="TextBox 15"/>
            <p:cNvSpPr txBox="1"/>
            <p:nvPr/>
          </p:nvSpPr>
          <p:spPr>
            <a:xfrm>
              <a:off x="0" y="-38100"/>
              <a:ext cx="1360112" cy="196767"/>
            </a:xfrm>
            <a:prstGeom prst="rect">
              <a:avLst/>
            </a:prstGeom>
          </p:spPr>
          <p:txBody>
            <a:bodyPr lIns="55577" tIns="55577" rIns="55577" bIns="55577" rtlCol="0" anchor="ctr"/>
            <a:lstStyle/>
            <a:p>
              <a:pPr algn="ctr">
                <a:lnSpc>
                  <a:spcPts val="2659"/>
                </a:lnSpc>
                <a:spcBef>
                  <a:spcPct val="0"/>
                </a:spcBef>
              </a:pPr>
              <a:endParaRPr/>
            </a:p>
          </p:txBody>
        </p:sp>
      </p:grpSp>
      <p:sp>
        <p:nvSpPr>
          <p:cNvPr id="16" name="Freeform 16"/>
          <p:cNvSpPr/>
          <p:nvPr/>
        </p:nvSpPr>
        <p:spPr>
          <a:xfrm>
            <a:off x="2185570" y="7417978"/>
            <a:ext cx="2251596" cy="603484"/>
          </a:xfrm>
          <a:custGeom>
            <a:avLst/>
            <a:gdLst/>
            <a:ahLst/>
            <a:cxnLst/>
            <a:rect l="l" t="t" r="r" b="b"/>
            <a:pathLst>
              <a:path w="2251596" h="603484">
                <a:moveTo>
                  <a:pt x="0" y="0"/>
                </a:moveTo>
                <a:lnTo>
                  <a:pt x="2251596" y="0"/>
                </a:lnTo>
                <a:lnTo>
                  <a:pt x="2251596" y="603484"/>
                </a:lnTo>
                <a:lnTo>
                  <a:pt x="0" y="603484"/>
                </a:lnTo>
                <a:lnTo>
                  <a:pt x="0" y="0"/>
                </a:lnTo>
                <a:close/>
              </a:path>
            </a:pathLst>
          </a:custGeom>
          <a:blipFill>
            <a:blip r:embed="rId4"/>
            <a:stretch>
              <a:fillRect/>
            </a:stretch>
          </a:blipFill>
        </p:spPr>
        <p:txBody>
          <a:bodyPr/>
          <a:lstStyle/>
          <a:p>
            <a:endParaRPr lang="en-US"/>
          </a:p>
        </p:txBody>
      </p:sp>
      <p:sp>
        <p:nvSpPr>
          <p:cNvPr id="17" name="Freeform 17"/>
          <p:cNvSpPr/>
          <p:nvPr/>
        </p:nvSpPr>
        <p:spPr>
          <a:xfrm>
            <a:off x="5464160" y="7417978"/>
            <a:ext cx="2188373" cy="593110"/>
          </a:xfrm>
          <a:custGeom>
            <a:avLst/>
            <a:gdLst/>
            <a:ahLst/>
            <a:cxnLst/>
            <a:rect l="l" t="t" r="r" b="b"/>
            <a:pathLst>
              <a:path w="2188373" h="593110">
                <a:moveTo>
                  <a:pt x="0" y="0"/>
                </a:moveTo>
                <a:lnTo>
                  <a:pt x="2188373" y="0"/>
                </a:lnTo>
                <a:lnTo>
                  <a:pt x="2188373" y="593110"/>
                </a:lnTo>
                <a:lnTo>
                  <a:pt x="0" y="593110"/>
                </a:lnTo>
                <a:lnTo>
                  <a:pt x="0" y="0"/>
                </a:lnTo>
                <a:close/>
              </a:path>
            </a:pathLst>
          </a:custGeom>
          <a:blipFill>
            <a:blip r:embed="rId5"/>
            <a:stretch>
              <a:fillRect/>
            </a:stretch>
          </a:blipFill>
        </p:spPr>
        <p:txBody>
          <a:bodyPr/>
          <a:lstStyle/>
          <a:p>
            <a:endParaRPr lang="en-US"/>
          </a:p>
        </p:txBody>
      </p:sp>
      <p:sp>
        <p:nvSpPr>
          <p:cNvPr id="18" name="TextBox 18"/>
          <p:cNvSpPr txBox="1"/>
          <p:nvPr/>
        </p:nvSpPr>
        <p:spPr>
          <a:xfrm>
            <a:off x="1676431" y="346336"/>
            <a:ext cx="6501079" cy="1903150"/>
          </a:xfrm>
          <a:prstGeom prst="rect">
            <a:avLst/>
          </a:prstGeom>
        </p:spPr>
        <p:txBody>
          <a:bodyPr wrap="square" lIns="0" tIns="0" rIns="0" bIns="0" rtlCol="0" anchor="t">
            <a:spAutoFit/>
          </a:bodyPr>
          <a:lstStyle/>
          <a:p>
            <a:pPr algn="ctr">
              <a:lnSpc>
                <a:spcPts val="16293"/>
              </a:lnSpc>
              <a:spcBef>
                <a:spcPct val="0"/>
              </a:spcBef>
            </a:pPr>
            <a:r>
              <a:rPr lang="en-US" sz="11638" dirty="0">
                <a:solidFill>
                  <a:srgbClr val="000000"/>
                </a:solidFill>
                <a:latin typeface="Futura Display"/>
                <a:ea typeface="Futura Display"/>
                <a:cs typeface="Futura Display"/>
                <a:sym typeface="Futura Display"/>
              </a:rPr>
              <a:t>POST-COVID</a:t>
            </a:r>
          </a:p>
        </p:txBody>
      </p:sp>
      <p:sp>
        <p:nvSpPr>
          <p:cNvPr id="19" name="TextBox 19"/>
          <p:cNvSpPr txBox="1"/>
          <p:nvPr/>
        </p:nvSpPr>
        <p:spPr>
          <a:xfrm>
            <a:off x="10236613" y="2124898"/>
            <a:ext cx="6147792" cy="504911"/>
          </a:xfrm>
          <a:prstGeom prst="rect">
            <a:avLst/>
          </a:prstGeom>
        </p:spPr>
        <p:txBody>
          <a:bodyPr lIns="0" tIns="0" rIns="0" bIns="0" rtlCol="0" anchor="t">
            <a:spAutoFit/>
          </a:bodyPr>
          <a:lstStyle/>
          <a:p>
            <a:pPr algn="ctr">
              <a:lnSpc>
                <a:spcPts val="4177"/>
              </a:lnSpc>
              <a:spcBef>
                <a:spcPct val="0"/>
              </a:spcBef>
            </a:pPr>
            <a:r>
              <a:rPr lang="en-US" sz="2983">
                <a:solidFill>
                  <a:srgbClr val="000000"/>
                </a:solidFill>
                <a:latin typeface="Canva Sans"/>
                <a:ea typeface="Canva Sans"/>
                <a:cs typeface="Canva Sans"/>
                <a:sym typeface="Canva Sans"/>
              </a:rPr>
              <a:t>Factors include revenge tourism </a:t>
            </a:r>
          </a:p>
        </p:txBody>
      </p:sp>
      <p:sp>
        <p:nvSpPr>
          <p:cNvPr id="20" name="TextBox 20"/>
          <p:cNvSpPr txBox="1"/>
          <p:nvPr/>
        </p:nvSpPr>
        <p:spPr>
          <a:xfrm>
            <a:off x="9871551" y="7134275"/>
            <a:ext cx="8208496" cy="712063"/>
          </a:xfrm>
          <a:prstGeom prst="rect">
            <a:avLst/>
          </a:prstGeom>
        </p:spPr>
        <p:txBody>
          <a:bodyPr lIns="0" tIns="0" rIns="0" bIns="0" rtlCol="0" anchor="t">
            <a:spAutoFit/>
          </a:bodyPr>
          <a:lstStyle/>
          <a:p>
            <a:pPr algn="l">
              <a:lnSpc>
                <a:spcPts val="2848"/>
              </a:lnSpc>
            </a:pPr>
            <a:r>
              <a:rPr lang="en-US" sz="2034" u="sng">
                <a:solidFill>
                  <a:srgbClr val="000000"/>
                </a:solidFill>
                <a:latin typeface="Arimo"/>
                <a:ea typeface="Arimo"/>
                <a:cs typeface="Arimo"/>
                <a:sym typeface="Arimo"/>
                <a:hlinkClick r:id="rId6" tooltip="https://www.businesstimes.com.sg/international/asean/revenge-travel-sustain-sectors-robust-recovery-coming-months"/>
              </a:rPr>
              <a:t>https://www.businesstimes.com.sg/international/asean/revenge-travel-sustain-sectors-robust-recovery-coming-months</a:t>
            </a:r>
          </a:p>
        </p:txBody>
      </p:sp>
      <p:grpSp>
        <p:nvGrpSpPr>
          <p:cNvPr id="21" name="Group 21"/>
          <p:cNvGrpSpPr/>
          <p:nvPr/>
        </p:nvGrpSpPr>
        <p:grpSpPr>
          <a:xfrm>
            <a:off x="4808637" y="7566031"/>
            <a:ext cx="284052" cy="307377"/>
            <a:chOff x="0" y="0"/>
            <a:chExt cx="751121" cy="812800"/>
          </a:xfrm>
        </p:grpSpPr>
        <p:sp>
          <p:nvSpPr>
            <p:cNvPr id="22" name="Freeform 22"/>
            <p:cNvSpPr/>
            <p:nvPr/>
          </p:nvSpPr>
          <p:spPr>
            <a:xfrm>
              <a:off x="0" y="0"/>
              <a:ext cx="751121" cy="812800"/>
            </a:xfrm>
            <a:custGeom>
              <a:avLst/>
              <a:gdLst/>
              <a:ahLst/>
              <a:cxnLst/>
              <a:rect l="l" t="t" r="r" b="b"/>
              <a:pathLst>
                <a:path w="751121" h="812800">
                  <a:moveTo>
                    <a:pt x="751121" y="406400"/>
                  </a:moveTo>
                  <a:lnTo>
                    <a:pt x="344721" y="0"/>
                  </a:lnTo>
                  <a:lnTo>
                    <a:pt x="344721" y="203200"/>
                  </a:lnTo>
                  <a:lnTo>
                    <a:pt x="0" y="203200"/>
                  </a:lnTo>
                  <a:lnTo>
                    <a:pt x="0" y="609600"/>
                  </a:lnTo>
                  <a:lnTo>
                    <a:pt x="344721" y="609600"/>
                  </a:lnTo>
                  <a:lnTo>
                    <a:pt x="344721" y="812800"/>
                  </a:lnTo>
                  <a:lnTo>
                    <a:pt x="751121" y="406400"/>
                  </a:lnTo>
                  <a:close/>
                </a:path>
              </a:pathLst>
            </a:custGeom>
            <a:solidFill>
              <a:srgbClr val="31356E"/>
            </a:solidFill>
          </p:spPr>
          <p:txBody>
            <a:bodyPr/>
            <a:lstStyle/>
            <a:p>
              <a:endParaRPr lang="en-US"/>
            </a:p>
          </p:txBody>
        </p:sp>
        <p:sp>
          <p:nvSpPr>
            <p:cNvPr id="23" name="TextBox 23"/>
            <p:cNvSpPr txBox="1"/>
            <p:nvPr/>
          </p:nvSpPr>
          <p:spPr>
            <a:xfrm>
              <a:off x="0" y="165100"/>
              <a:ext cx="649521" cy="444500"/>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673476" y="8201430"/>
            <a:ext cx="8470524" cy="1077744"/>
          </a:xfrm>
          <a:prstGeom prst="rect">
            <a:avLst/>
          </a:prstGeom>
        </p:spPr>
        <p:txBody>
          <a:bodyPr lIns="0" tIns="0" rIns="0" bIns="0" rtlCol="0" anchor="t">
            <a:spAutoFit/>
          </a:bodyPr>
          <a:lstStyle/>
          <a:p>
            <a:pPr algn="ctr">
              <a:lnSpc>
                <a:spcPts val="4385"/>
              </a:lnSpc>
            </a:pPr>
            <a:r>
              <a:rPr lang="en-US" sz="3132">
                <a:solidFill>
                  <a:srgbClr val="000000"/>
                </a:solidFill>
                <a:latin typeface="Lexend Deca"/>
                <a:ea typeface="Lexend Deca"/>
                <a:cs typeface="Lexend Deca"/>
                <a:sym typeface="Lexend Deca"/>
              </a:rPr>
              <a:t>2022 to 2023 total receipts grew faster as compared to the total arrivals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sp>
        <p:nvSpPr>
          <p:cNvPr id="2" name="TextBox 2"/>
          <p:cNvSpPr txBox="1"/>
          <p:nvPr/>
        </p:nvSpPr>
        <p:spPr>
          <a:xfrm>
            <a:off x="2646014" y="413184"/>
            <a:ext cx="12995972" cy="1497732"/>
          </a:xfrm>
          <a:prstGeom prst="rect">
            <a:avLst/>
          </a:prstGeom>
        </p:spPr>
        <p:txBody>
          <a:bodyPr lIns="0" tIns="0" rIns="0" bIns="0" rtlCol="0" anchor="t">
            <a:spAutoFit/>
          </a:bodyPr>
          <a:lstStyle/>
          <a:p>
            <a:pPr algn="ctr">
              <a:lnSpc>
                <a:spcPts val="11172"/>
              </a:lnSpc>
            </a:pPr>
            <a:r>
              <a:rPr lang="en-US" sz="11638" dirty="0">
                <a:solidFill>
                  <a:srgbClr val="000000"/>
                </a:solidFill>
                <a:latin typeface="Futura Display"/>
                <a:ea typeface="Futura Display"/>
                <a:cs typeface="Futura Display"/>
                <a:sym typeface="Futura Display"/>
              </a:rPr>
              <a:t>RESULTS</a:t>
            </a:r>
          </a:p>
        </p:txBody>
      </p:sp>
      <p:sp>
        <p:nvSpPr>
          <p:cNvPr id="3" name="TextBox 3"/>
          <p:cNvSpPr txBox="1"/>
          <p:nvPr/>
        </p:nvSpPr>
        <p:spPr>
          <a:xfrm>
            <a:off x="514753" y="2070323"/>
            <a:ext cx="16744547" cy="8957945"/>
          </a:xfrm>
          <a:prstGeom prst="rect">
            <a:avLst/>
          </a:prstGeom>
        </p:spPr>
        <p:txBody>
          <a:bodyPr lIns="0" tIns="0" rIns="0" bIns="0" rtlCol="0" anchor="t">
            <a:spAutoFit/>
          </a:bodyPr>
          <a:lstStyle/>
          <a:p>
            <a:pPr algn="just">
              <a:lnSpc>
                <a:spcPts val="4480"/>
              </a:lnSpc>
              <a:spcBef>
                <a:spcPct val="0"/>
              </a:spcBef>
            </a:pPr>
            <a:r>
              <a:rPr lang="en-US" sz="3200">
                <a:solidFill>
                  <a:srgbClr val="000000"/>
                </a:solidFill>
                <a:latin typeface="Lexend Deca"/>
                <a:ea typeface="Lexend Deca"/>
                <a:cs typeface="Lexend Deca"/>
                <a:sym typeface="Lexend Deca"/>
              </a:rPr>
              <a:t>Despite the total number of tourist arrivals not reaching pre-COVID levels in 2023, the total tourism receipts grew at a faster rate. This indicates that tourists are spending more per visit compared to previous years.</a:t>
            </a:r>
          </a:p>
          <a:p>
            <a:pPr algn="just">
              <a:lnSpc>
                <a:spcPts val="4480"/>
              </a:lnSpc>
              <a:spcBef>
                <a:spcPct val="0"/>
              </a:spcBef>
            </a:pPr>
            <a:endParaRPr lang="en-US" sz="3200">
              <a:solidFill>
                <a:srgbClr val="000000"/>
              </a:solidFill>
              <a:latin typeface="Lexend Deca"/>
              <a:ea typeface="Lexend Deca"/>
              <a:cs typeface="Lexend Deca"/>
              <a:sym typeface="Lexend Deca"/>
            </a:endParaRPr>
          </a:p>
          <a:p>
            <a:pPr algn="just">
              <a:lnSpc>
                <a:spcPts val="4480"/>
              </a:lnSpc>
              <a:spcBef>
                <a:spcPct val="0"/>
              </a:spcBef>
            </a:pPr>
            <a:r>
              <a:rPr lang="en-US" sz="3200">
                <a:solidFill>
                  <a:srgbClr val="000000"/>
                </a:solidFill>
                <a:latin typeface="Lexend Deca"/>
                <a:ea typeface="Lexend Deca"/>
                <a:cs typeface="Lexend Deca"/>
                <a:sym typeface="Lexend Deca"/>
              </a:rPr>
              <a:t>There is a moderately low correlation (0.18) between total arrivals and tourism receipts. This suggests that while the number of tourists influences total receipts, other factors such as increased spending per tourist plays crucial roles in terms of actual revenue growth</a:t>
            </a:r>
          </a:p>
          <a:p>
            <a:pPr algn="just">
              <a:lnSpc>
                <a:spcPts val="4480"/>
              </a:lnSpc>
              <a:spcBef>
                <a:spcPct val="0"/>
              </a:spcBef>
            </a:pPr>
            <a:endParaRPr lang="en-US" sz="3200">
              <a:solidFill>
                <a:srgbClr val="000000"/>
              </a:solidFill>
              <a:latin typeface="Lexend Deca"/>
              <a:ea typeface="Lexend Deca"/>
              <a:cs typeface="Lexend Deca"/>
              <a:sym typeface="Lexend Deca"/>
            </a:endParaRPr>
          </a:p>
          <a:p>
            <a:pPr algn="just">
              <a:lnSpc>
                <a:spcPts val="4480"/>
              </a:lnSpc>
              <a:spcBef>
                <a:spcPct val="0"/>
              </a:spcBef>
            </a:pPr>
            <a:r>
              <a:rPr lang="en-US" sz="3200">
                <a:solidFill>
                  <a:srgbClr val="000000"/>
                </a:solidFill>
                <a:latin typeface="Lexend Deca"/>
                <a:ea typeface="Lexend Deca"/>
                <a:cs typeface="Lexend Deca"/>
                <a:sym typeface="Lexend Deca"/>
              </a:rPr>
              <a:t>yes we can leverage on revenge travelling as it appears to be a significant factor in this growth. After the severe restrictions and travel bans during the COVID-19 pandemic, tourists are eager to travel and spend, making up for the lost time and experiences.</a:t>
            </a:r>
          </a:p>
          <a:p>
            <a:pPr algn="just">
              <a:lnSpc>
                <a:spcPts val="4480"/>
              </a:lnSpc>
              <a:spcBef>
                <a:spcPct val="0"/>
              </a:spcBef>
            </a:pPr>
            <a:endParaRPr lang="en-US" sz="3200">
              <a:solidFill>
                <a:srgbClr val="000000"/>
              </a:solidFill>
              <a:latin typeface="Lexend Deca"/>
              <a:ea typeface="Lexend Deca"/>
              <a:cs typeface="Lexend Deca"/>
              <a:sym typeface="Lexend Deca"/>
            </a:endParaRPr>
          </a:p>
          <a:p>
            <a:pPr algn="just">
              <a:lnSpc>
                <a:spcPts val="4480"/>
              </a:lnSpc>
              <a:spcBef>
                <a:spcPct val="0"/>
              </a:spcBef>
            </a:pPr>
            <a:endParaRPr lang="en-US" sz="3200">
              <a:solidFill>
                <a:srgbClr val="000000"/>
              </a:solidFill>
              <a:latin typeface="Lexend Deca"/>
              <a:ea typeface="Lexend Deca"/>
              <a:cs typeface="Lexend Deca"/>
              <a:sym typeface="Lexend Deca"/>
            </a:endParaRPr>
          </a:p>
          <a:p>
            <a:pPr algn="just">
              <a:lnSpc>
                <a:spcPts val="4480"/>
              </a:lnSpc>
              <a:spcBef>
                <a:spcPct val="0"/>
              </a:spcBef>
            </a:pPr>
            <a:endParaRPr lang="en-US" sz="3200">
              <a:solidFill>
                <a:srgbClr val="000000"/>
              </a:solidFill>
              <a:latin typeface="Lexend Deca"/>
              <a:ea typeface="Lexend Deca"/>
              <a:cs typeface="Lexend Deca"/>
              <a:sym typeface="Lexend Dec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sp>
        <p:nvSpPr>
          <p:cNvPr id="2" name="Freeform 2"/>
          <p:cNvSpPr/>
          <p:nvPr/>
        </p:nvSpPr>
        <p:spPr>
          <a:xfrm>
            <a:off x="1678395" y="4579827"/>
            <a:ext cx="3975105" cy="3967878"/>
          </a:xfrm>
          <a:custGeom>
            <a:avLst/>
            <a:gdLst/>
            <a:ahLst/>
            <a:cxnLst/>
            <a:rect l="l" t="t" r="r" b="b"/>
            <a:pathLst>
              <a:path w="3975105" h="3967878">
                <a:moveTo>
                  <a:pt x="0" y="0"/>
                </a:moveTo>
                <a:lnTo>
                  <a:pt x="3975105" y="0"/>
                </a:lnTo>
                <a:lnTo>
                  <a:pt x="3975105" y="3967878"/>
                </a:lnTo>
                <a:lnTo>
                  <a:pt x="0" y="39678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AutoShape 3"/>
          <p:cNvSpPr/>
          <p:nvPr/>
        </p:nvSpPr>
        <p:spPr>
          <a:xfrm>
            <a:off x="16409831" y="6851322"/>
            <a:ext cx="0" cy="1395309"/>
          </a:xfrm>
          <a:prstGeom prst="line">
            <a:avLst/>
          </a:prstGeom>
          <a:ln w="38100" cap="flat">
            <a:solidFill>
              <a:srgbClr val="000000"/>
            </a:solidFill>
            <a:prstDash val="solid"/>
            <a:headEnd type="none" w="sm" len="sm"/>
            <a:tailEnd type="arrow" w="med" len="sm"/>
          </a:ln>
        </p:spPr>
        <p:txBody>
          <a:bodyPr/>
          <a:lstStyle/>
          <a:p>
            <a:endParaRPr lang="en-US"/>
          </a:p>
        </p:txBody>
      </p:sp>
      <p:sp>
        <p:nvSpPr>
          <p:cNvPr id="4" name="Freeform 4"/>
          <p:cNvSpPr/>
          <p:nvPr/>
        </p:nvSpPr>
        <p:spPr>
          <a:xfrm>
            <a:off x="16496565" y="7250915"/>
            <a:ext cx="1525469" cy="995715"/>
          </a:xfrm>
          <a:custGeom>
            <a:avLst/>
            <a:gdLst/>
            <a:ahLst/>
            <a:cxnLst/>
            <a:rect l="l" t="t" r="r" b="b"/>
            <a:pathLst>
              <a:path w="1525469" h="995715">
                <a:moveTo>
                  <a:pt x="0" y="0"/>
                </a:moveTo>
                <a:lnTo>
                  <a:pt x="1525470" y="0"/>
                </a:lnTo>
                <a:lnTo>
                  <a:pt x="1525470" y="995716"/>
                </a:lnTo>
                <a:lnTo>
                  <a:pt x="0" y="9957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12674198" y="4880901"/>
            <a:ext cx="3384189" cy="3365729"/>
          </a:xfrm>
          <a:custGeom>
            <a:avLst/>
            <a:gdLst/>
            <a:ahLst/>
            <a:cxnLst/>
            <a:rect l="l" t="t" r="r" b="b"/>
            <a:pathLst>
              <a:path w="3384189" h="3365729">
                <a:moveTo>
                  <a:pt x="0" y="0"/>
                </a:moveTo>
                <a:lnTo>
                  <a:pt x="3384189" y="0"/>
                </a:lnTo>
                <a:lnTo>
                  <a:pt x="3384189" y="3365730"/>
                </a:lnTo>
                <a:lnTo>
                  <a:pt x="0" y="33657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7237137" y="4739344"/>
            <a:ext cx="3813726" cy="3813726"/>
          </a:xfrm>
          <a:custGeom>
            <a:avLst/>
            <a:gdLst/>
            <a:ahLst/>
            <a:cxnLst/>
            <a:rect l="l" t="t" r="r" b="b"/>
            <a:pathLst>
              <a:path w="3813726" h="3813726">
                <a:moveTo>
                  <a:pt x="0" y="0"/>
                </a:moveTo>
                <a:lnTo>
                  <a:pt x="3813726" y="0"/>
                </a:lnTo>
                <a:lnTo>
                  <a:pt x="3813726" y="3813726"/>
                </a:lnTo>
                <a:lnTo>
                  <a:pt x="0" y="381372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TextBox 7"/>
          <p:cNvSpPr txBox="1"/>
          <p:nvPr/>
        </p:nvSpPr>
        <p:spPr>
          <a:xfrm>
            <a:off x="1678395" y="413184"/>
            <a:ext cx="14379992" cy="1497732"/>
          </a:xfrm>
          <a:prstGeom prst="rect">
            <a:avLst/>
          </a:prstGeom>
        </p:spPr>
        <p:txBody>
          <a:bodyPr lIns="0" tIns="0" rIns="0" bIns="0" rtlCol="0" anchor="t">
            <a:spAutoFit/>
          </a:bodyPr>
          <a:lstStyle/>
          <a:p>
            <a:pPr algn="ctr">
              <a:lnSpc>
                <a:spcPts val="11172"/>
              </a:lnSpc>
            </a:pPr>
            <a:r>
              <a:rPr lang="en-US" sz="11638">
                <a:solidFill>
                  <a:srgbClr val="000000"/>
                </a:solidFill>
                <a:latin typeface="Futura Display"/>
                <a:ea typeface="Futura Display"/>
                <a:cs typeface="Futura Display"/>
                <a:sym typeface="Futura Display"/>
              </a:rPr>
              <a:t>CONCLUSION AND SOLUTION</a:t>
            </a:r>
          </a:p>
        </p:txBody>
      </p:sp>
      <p:sp>
        <p:nvSpPr>
          <p:cNvPr id="8" name="TextBox 8"/>
          <p:cNvSpPr txBox="1"/>
          <p:nvPr/>
        </p:nvSpPr>
        <p:spPr>
          <a:xfrm>
            <a:off x="1544772" y="2018113"/>
            <a:ext cx="15997306" cy="2398092"/>
          </a:xfrm>
          <a:prstGeom prst="rect">
            <a:avLst/>
          </a:prstGeom>
        </p:spPr>
        <p:txBody>
          <a:bodyPr lIns="0" tIns="0" rIns="0" bIns="0" rtlCol="0" anchor="t">
            <a:spAutoFit/>
          </a:bodyPr>
          <a:lstStyle/>
          <a:p>
            <a:pPr marL="584582" lvl="1" indent="-292291" algn="just">
              <a:lnSpc>
                <a:spcPts val="3790"/>
              </a:lnSpc>
              <a:buFont typeface="Arial"/>
              <a:buChar char="•"/>
            </a:pPr>
            <a:r>
              <a:rPr lang="en-US" sz="2707" dirty="0">
                <a:solidFill>
                  <a:srgbClr val="000000"/>
                </a:solidFill>
                <a:latin typeface="Lexend Deca"/>
                <a:ea typeface="Lexend Deca"/>
                <a:cs typeface="Lexend Deca"/>
                <a:sym typeface="Lexend Deca"/>
              </a:rPr>
              <a:t>targeted demographic(25-54 Y.O.) (China, India, Malaysia, Indonesia)</a:t>
            </a:r>
          </a:p>
          <a:p>
            <a:pPr marL="584582" lvl="1" indent="-292291" algn="just">
              <a:lnSpc>
                <a:spcPts val="3790"/>
              </a:lnSpc>
              <a:buFont typeface="Arial"/>
              <a:buChar char="•"/>
            </a:pPr>
            <a:r>
              <a:rPr lang="en-US" sz="2707">
                <a:solidFill>
                  <a:srgbClr val="000000"/>
                </a:solidFill>
                <a:latin typeface="Lexend Deca"/>
                <a:ea typeface="Lexend Deca"/>
                <a:cs typeface="Lexend Deca"/>
                <a:sym typeface="Lexend Deca"/>
              </a:rPr>
              <a:t>tourist </a:t>
            </a:r>
            <a:r>
              <a:rPr lang="en-US" sz="2707" dirty="0">
                <a:solidFill>
                  <a:srgbClr val="000000"/>
                </a:solidFill>
                <a:latin typeface="Lexend Deca"/>
                <a:ea typeface="Lexend Deca"/>
                <a:cs typeface="Lexend Deca"/>
                <a:sym typeface="Lexend Deca"/>
              </a:rPr>
              <a:t>trends( Quarter 3 to Quarter 4)</a:t>
            </a:r>
          </a:p>
          <a:p>
            <a:pPr marL="584582" lvl="1" indent="-292291" algn="just">
              <a:lnSpc>
                <a:spcPts val="3790"/>
              </a:lnSpc>
              <a:buFont typeface="Arial"/>
              <a:buChar char="•"/>
            </a:pPr>
            <a:r>
              <a:rPr lang="en-US" sz="2707" dirty="0">
                <a:solidFill>
                  <a:srgbClr val="000000"/>
                </a:solidFill>
                <a:latin typeface="Lexend Deca"/>
                <a:ea typeface="Lexend Deca"/>
                <a:cs typeface="Lexend Deca"/>
                <a:sym typeface="Lexend Deca"/>
              </a:rPr>
              <a:t>accommodation (hotels)</a:t>
            </a:r>
          </a:p>
          <a:p>
            <a:pPr marL="584582" lvl="1" indent="-292291" algn="just">
              <a:lnSpc>
                <a:spcPts val="3790"/>
              </a:lnSpc>
              <a:buFont typeface="Arial"/>
              <a:buChar char="•"/>
            </a:pPr>
            <a:r>
              <a:rPr lang="en-US" sz="2707" dirty="0">
                <a:solidFill>
                  <a:srgbClr val="000000"/>
                </a:solidFill>
                <a:latin typeface="Lexend Deca"/>
                <a:ea typeface="Lexend Deca"/>
                <a:cs typeface="Lexend Deca"/>
                <a:sym typeface="Lexend Deca"/>
              </a:rPr>
              <a:t>revenge tourism(yes, can still be done in 2024)</a:t>
            </a:r>
          </a:p>
          <a:p>
            <a:pPr algn="just">
              <a:lnSpc>
                <a:spcPts val="3790"/>
              </a:lnSpc>
            </a:pPr>
            <a:endParaRPr lang="en-US" sz="2707" dirty="0">
              <a:solidFill>
                <a:srgbClr val="000000"/>
              </a:solidFill>
              <a:latin typeface="Lexend Deca"/>
              <a:ea typeface="Lexend Deca"/>
              <a:cs typeface="Lexend Deca"/>
              <a:sym typeface="Lexend Deca"/>
            </a:endParaRPr>
          </a:p>
        </p:txBody>
      </p:sp>
      <p:sp>
        <p:nvSpPr>
          <p:cNvPr id="9" name="TextBox 9"/>
          <p:cNvSpPr txBox="1"/>
          <p:nvPr/>
        </p:nvSpPr>
        <p:spPr>
          <a:xfrm>
            <a:off x="2084736" y="8730632"/>
            <a:ext cx="3450173" cy="527668"/>
          </a:xfrm>
          <a:prstGeom prst="rect">
            <a:avLst/>
          </a:prstGeom>
        </p:spPr>
        <p:txBody>
          <a:bodyPr lIns="0" tIns="0" rIns="0" bIns="0" rtlCol="0" anchor="t">
            <a:spAutoFit/>
          </a:bodyPr>
          <a:lstStyle/>
          <a:p>
            <a:pPr algn="ctr">
              <a:lnSpc>
                <a:spcPts val="4385"/>
              </a:lnSpc>
            </a:pPr>
            <a:r>
              <a:rPr lang="en-US" sz="3132">
                <a:solidFill>
                  <a:srgbClr val="000000"/>
                </a:solidFill>
                <a:latin typeface="Lexend Deca"/>
                <a:ea typeface="Lexend Deca"/>
                <a:cs typeface="Lexend Deca"/>
                <a:sym typeface="Lexend Deca"/>
              </a:rPr>
              <a:t>promotions</a:t>
            </a:r>
          </a:p>
        </p:txBody>
      </p:sp>
      <p:sp>
        <p:nvSpPr>
          <p:cNvPr id="10" name="TextBox 10"/>
          <p:cNvSpPr txBox="1"/>
          <p:nvPr/>
        </p:nvSpPr>
        <p:spPr>
          <a:xfrm>
            <a:off x="7302267" y="8857050"/>
            <a:ext cx="3450173" cy="527668"/>
          </a:xfrm>
          <a:prstGeom prst="rect">
            <a:avLst/>
          </a:prstGeom>
        </p:spPr>
        <p:txBody>
          <a:bodyPr lIns="0" tIns="0" rIns="0" bIns="0" rtlCol="0" anchor="t">
            <a:spAutoFit/>
          </a:bodyPr>
          <a:lstStyle/>
          <a:p>
            <a:pPr algn="ctr">
              <a:lnSpc>
                <a:spcPts val="4385"/>
              </a:lnSpc>
            </a:pPr>
            <a:r>
              <a:rPr lang="en-US" sz="3132">
                <a:solidFill>
                  <a:srgbClr val="000000"/>
                </a:solidFill>
                <a:latin typeface="Lexend Deca"/>
                <a:ea typeface="Lexend Deca"/>
                <a:cs typeface="Lexend Deca"/>
                <a:sym typeface="Lexend Deca"/>
              </a:rPr>
              <a:t>increase price</a:t>
            </a:r>
          </a:p>
        </p:txBody>
      </p:sp>
      <p:sp>
        <p:nvSpPr>
          <p:cNvPr id="11" name="TextBox 11"/>
          <p:cNvSpPr txBox="1"/>
          <p:nvPr/>
        </p:nvSpPr>
        <p:spPr>
          <a:xfrm>
            <a:off x="12351365" y="8730632"/>
            <a:ext cx="4650988" cy="527668"/>
          </a:xfrm>
          <a:prstGeom prst="rect">
            <a:avLst/>
          </a:prstGeom>
        </p:spPr>
        <p:txBody>
          <a:bodyPr lIns="0" tIns="0" rIns="0" bIns="0" rtlCol="0" anchor="t">
            <a:spAutoFit/>
          </a:bodyPr>
          <a:lstStyle/>
          <a:p>
            <a:pPr algn="ctr">
              <a:lnSpc>
                <a:spcPts val="4385"/>
              </a:lnSpc>
            </a:pPr>
            <a:r>
              <a:rPr lang="en-US" sz="3132">
                <a:solidFill>
                  <a:srgbClr val="000000"/>
                </a:solidFill>
                <a:latin typeface="Lexend Deca"/>
                <a:ea typeface="Lexend Deca"/>
                <a:cs typeface="Lexend Deca"/>
                <a:sym typeface="Lexend Deca"/>
              </a:rPr>
              <a:t>lower plane prices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sp>
        <p:nvSpPr>
          <p:cNvPr id="2" name="TextBox 2"/>
          <p:cNvSpPr txBox="1"/>
          <p:nvPr/>
        </p:nvSpPr>
        <p:spPr>
          <a:xfrm>
            <a:off x="1028700" y="2621152"/>
            <a:ext cx="16067275" cy="3821159"/>
          </a:xfrm>
          <a:prstGeom prst="rect">
            <a:avLst/>
          </a:prstGeom>
        </p:spPr>
        <p:txBody>
          <a:bodyPr lIns="0" tIns="0" rIns="0" bIns="0" rtlCol="0" anchor="t">
            <a:spAutoFit/>
          </a:bodyPr>
          <a:lstStyle/>
          <a:p>
            <a:pPr algn="ctr">
              <a:lnSpc>
                <a:spcPts val="28279"/>
              </a:lnSpc>
            </a:pPr>
            <a:r>
              <a:rPr lang="en-US" sz="29457">
                <a:solidFill>
                  <a:srgbClr val="000000"/>
                </a:solidFill>
                <a:latin typeface="Futura Display"/>
                <a:ea typeface="Futura Display"/>
                <a:cs typeface="Futura Display"/>
                <a:sym typeface="Futura Display"/>
              </a:rPr>
              <a:t>THANK YOU!</a:t>
            </a:r>
          </a:p>
        </p:txBody>
      </p:sp>
      <p:sp>
        <p:nvSpPr>
          <p:cNvPr id="3" name="TextBox 3"/>
          <p:cNvSpPr txBox="1"/>
          <p:nvPr/>
        </p:nvSpPr>
        <p:spPr>
          <a:xfrm>
            <a:off x="2981282" y="5885747"/>
            <a:ext cx="12162112" cy="2901820"/>
          </a:xfrm>
          <a:prstGeom prst="rect">
            <a:avLst/>
          </a:prstGeom>
        </p:spPr>
        <p:txBody>
          <a:bodyPr lIns="0" tIns="0" rIns="0" bIns="0" rtlCol="0" anchor="t">
            <a:spAutoFit/>
          </a:bodyPr>
          <a:lstStyle/>
          <a:p>
            <a:pPr algn="ctr">
              <a:lnSpc>
                <a:spcPts val="21406"/>
              </a:lnSpc>
            </a:pPr>
            <a:r>
              <a:rPr lang="en-US" sz="22298">
                <a:solidFill>
                  <a:srgbClr val="000000"/>
                </a:solidFill>
                <a:latin typeface="Futura Display"/>
                <a:ea typeface="Futura Display"/>
                <a:cs typeface="Futura Display"/>
                <a:sym typeface="Futura Display"/>
              </a:rPr>
              <a:t>Q &amp; 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a:off x="-361272" y="-620353"/>
            <a:ext cx="6929450" cy="11212735"/>
            <a:chOff x="0" y="0"/>
            <a:chExt cx="1560462" cy="2525026"/>
          </a:xfrm>
        </p:grpSpPr>
        <p:sp>
          <p:nvSpPr>
            <p:cNvPr id="3" name="Freeform 3"/>
            <p:cNvSpPr/>
            <p:nvPr/>
          </p:nvSpPr>
          <p:spPr>
            <a:xfrm>
              <a:off x="0" y="0"/>
              <a:ext cx="1560462" cy="2525026"/>
            </a:xfrm>
            <a:custGeom>
              <a:avLst/>
              <a:gdLst/>
              <a:ahLst/>
              <a:cxnLst/>
              <a:rect l="l" t="t" r="r" b="b"/>
              <a:pathLst>
                <a:path w="1560462" h="2525026">
                  <a:moveTo>
                    <a:pt x="0" y="0"/>
                  </a:moveTo>
                  <a:lnTo>
                    <a:pt x="1560462" y="0"/>
                  </a:lnTo>
                  <a:lnTo>
                    <a:pt x="1560462" y="2525026"/>
                  </a:lnTo>
                  <a:lnTo>
                    <a:pt x="0" y="2525026"/>
                  </a:lnTo>
                  <a:close/>
                </a:path>
              </a:pathLst>
            </a:custGeom>
            <a:solidFill>
              <a:srgbClr val="31356E"/>
            </a:solidFill>
          </p:spPr>
          <p:txBody>
            <a:bodyPr/>
            <a:lstStyle/>
            <a:p>
              <a:endParaRPr lang="en-US"/>
            </a:p>
          </p:txBody>
        </p:sp>
        <p:sp>
          <p:nvSpPr>
            <p:cNvPr id="4" name="TextBox 4"/>
            <p:cNvSpPr txBox="1"/>
            <p:nvPr/>
          </p:nvSpPr>
          <p:spPr>
            <a:xfrm>
              <a:off x="0" y="-38100"/>
              <a:ext cx="1560462" cy="2563126"/>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0" y="4370498"/>
            <a:ext cx="6807579" cy="1497732"/>
          </a:xfrm>
          <a:prstGeom prst="rect">
            <a:avLst/>
          </a:prstGeom>
        </p:spPr>
        <p:txBody>
          <a:bodyPr lIns="0" tIns="0" rIns="0" bIns="0" rtlCol="0" anchor="t">
            <a:spAutoFit/>
          </a:bodyPr>
          <a:lstStyle/>
          <a:p>
            <a:pPr algn="ctr">
              <a:lnSpc>
                <a:spcPts val="11172"/>
              </a:lnSpc>
            </a:pPr>
            <a:r>
              <a:rPr lang="en-US" sz="11638">
                <a:solidFill>
                  <a:srgbClr val="FFFFFF"/>
                </a:solidFill>
                <a:latin typeface="Futura Display"/>
                <a:ea typeface="Futura Display"/>
                <a:cs typeface="Futura Display"/>
                <a:sym typeface="Futura Display"/>
              </a:rPr>
              <a:t>APPENDIX</a:t>
            </a:r>
          </a:p>
        </p:txBody>
      </p:sp>
      <p:sp>
        <p:nvSpPr>
          <p:cNvPr id="6" name="TextBox 6"/>
          <p:cNvSpPr txBox="1"/>
          <p:nvPr/>
        </p:nvSpPr>
        <p:spPr>
          <a:xfrm>
            <a:off x="7384883" y="818602"/>
            <a:ext cx="9617382" cy="661138"/>
          </a:xfrm>
          <a:prstGeom prst="rect">
            <a:avLst/>
          </a:prstGeom>
        </p:spPr>
        <p:txBody>
          <a:bodyPr lIns="0" tIns="0" rIns="0" bIns="0" rtlCol="0" anchor="t">
            <a:spAutoFit/>
          </a:bodyPr>
          <a:lstStyle/>
          <a:p>
            <a:pPr algn="l">
              <a:lnSpc>
                <a:spcPts val="2588"/>
              </a:lnSpc>
            </a:pPr>
            <a:r>
              <a:rPr lang="en-US" sz="1849" u="sng">
                <a:solidFill>
                  <a:srgbClr val="000000"/>
                </a:solidFill>
                <a:latin typeface="Arimo"/>
                <a:ea typeface="Arimo"/>
                <a:cs typeface="Arimo"/>
                <a:sym typeface="Arimo"/>
                <a:hlinkClick r:id="rId2" tooltip="https://www.stb.gov.sg/content/stb/en/media-centre/media-releases/Singapore-Tourism-Sector-Emerges-From-2020-With-Greater-Resilience-and-Reinvention.html"/>
              </a:rPr>
              <a:t>https://www.stb.gov.sg/content/stb/en/media-centre/media-releases/Singapore-Tourism-Sector-Emerges-From-2020-With-Greater-Resilience-and-Reinvention.html</a:t>
            </a:r>
          </a:p>
        </p:txBody>
      </p:sp>
      <p:sp>
        <p:nvSpPr>
          <p:cNvPr id="7" name="TextBox 7"/>
          <p:cNvSpPr txBox="1"/>
          <p:nvPr/>
        </p:nvSpPr>
        <p:spPr>
          <a:xfrm>
            <a:off x="7384883" y="5946784"/>
            <a:ext cx="8558078" cy="670775"/>
          </a:xfrm>
          <a:prstGeom prst="rect">
            <a:avLst/>
          </a:prstGeom>
        </p:spPr>
        <p:txBody>
          <a:bodyPr lIns="0" tIns="0" rIns="0" bIns="0" rtlCol="0" anchor="t">
            <a:spAutoFit/>
          </a:bodyPr>
          <a:lstStyle/>
          <a:p>
            <a:pPr algn="l">
              <a:lnSpc>
                <a:spcPts val="2710"/>
              </a:lnSpc>
            </a:pPr>
            <a:r>
              <a:rPr lang="en-US" sz="1936" u="sng">
                <a:solidFill>
                  <a:srgbClr val="000000"/>
                </a:solidFill>
                <a:latin typeface="Lexend Deca"/>
                <a:ea typeface="Lexend Deca"/>
                <a:cs typeface="Lexend Deca"/>
                <a:sym typeface="Lexend Deca"/>
                <a:hlinkClick r:id="rId3" tooltip="https://www.straitstimes.com/asia/se-asia/surge-in-revenge-travel-as-pent-up-demand-drives-more-malaysians-abroad"/>
              </a:rPr>
              <a:t>https://www.straitstimes.com/asia/se-asia/surge-in-revenge-travel-as-pent-up-demand-drives-more-malaysians-abroad</a:t>
            </a:r>
          </a:p>
        </p:txBody>
      </p:sp>
      <p:sp>
        <p:nvSpPr>
          <p:cNvPr id="8" name="TextBox 8"/>
          <p:cNvSpPr txBox="1"/>
          <p:nvPr/>
        </p:nvSpPr>
        <p:spPr>
          <a:xfrm>
            <a:off x="7384883" y="7229287"/>
            <a:ext cx="9506692" cy="763662"/>
          </a:xfrm>
          <a:prstGeom prst="rect">
            <a:avLst/>
          </a:prstGeom>
        </p:spPr>
        <p:txBody>
          <a:bodyPr lIns="0" tIns="0" rIns="0" bIns="0" rtlCol="0" anchor="t">
            <a:spAutoFit/>
          </a:bodyPr>
          <a:lstStyle/>
          <a:p>
            <a:pPr algn="l">
              <a:lnSpc>
                <a:spcPts val="3028"/>
              </a:lnSpc>
            </a:pPr>
            <a:r>
              <a:rPr lang="en-US" sz="2163" u="sng">
                <a:solidFill>
                  <a:srgbClr val="000000"/>
                </a:solidFill>
                <a:latin typeface="Arimo"/>
                <a:ea typeface="Arimo"/>
                <a:cs typeface="Arimo"/>
                <a:sym typeface="Arimo"/>
                <a:hlinkClick r:id="rId4" tooltip="https://www.stb.gov.sg/content/stb/en/media-centre/media-releases/singapore-goes-one-stop-non-stop-this-september.html"/>
              </a:rPr>
              <a:t>https://www.stb.gov.sg/content/stb/en/media-centre/media-releases/singapore-goes-one-stop-non-stop-this-september.html</a:t>
            </a:r>
          </a:p>
        </p:txBody>
      </p:sp>
      <p:sp>
        <p:nvSpPr>
          <p:cNvPr id="9" name="TextBox 9"/>
          <p:cNvSpPr txBox="1"/>
          <p:nvPr/>
        </p:nvSpPr>
        <p:spPr>
          <a:xfrm>
            <a:off x="7384883" y="8374493"/>
            <a:ext cx="8140365" cy="350474"/>
          </a:xfrm>
          <a:prstGeom prst="rect">
            <a:avLst/>
          </a:prstGeom>
        </p:spPr>
        <p:txBody>
          <a:bodyPr lIns="0" tIns="0" rIns="0" bIns="0" rtlCol="0" anchor="t">
            <a:spAutoFit/>
          </a:bodyPr>
          <a:lstStyle/>
          <a:p>
            <a:pPr algn="l">
              <a:lnSpc>
                <a:spcPts val="2726"/>
              </a:lnSpc>
            </a:pPr>
            <a:r>
              <a:rPr lang="en-US" sz="1947" u="sng">
                <a:solidFill>
                  <a:srgbClr val="000000"/>
                </a:solidFill>
                <a:latin typeface="Arimo"/>
                <a:ea typeface="Arimo"/>
                <a:cs typeface="Arimo"/>
                <a:sym typeface="Arimo"/>
                <a:hlinkClick r:id="rId5" tooltip="https://www.exchange-rates.org/exchange-rate-history/usd-sgd-2014"/>
              </a:rPr>
              <a:t>https://www.exchange-rates.org/exchange-rate-history/usd-sgd-2014</a:t>
            </a:r>
          </a:p>
        </p:txBody>
      </p:sp>
      <p:sp>
        <p:nvSpPr>
          <p:cNvPr id="10" name="TextBox 10"/>
          <p:cNvSpPr txBox="1"/>
          <p:nvPr/>
        </p:nvSpPr>
        <p:spPr>
          <a:xfrm>
            <a:off x="7384883" y="9115492"/>
            <a:ext cx="8208496" cy="712063"/>
          </a:xfrm>
          <a:prstGeom prst="rect">
            <a:avLst/>
          </a:prstGeom>
        </p:spPr>
        <p:txBody>
          <a:bodyPr lIns="0" tIns="0" rIns="0" bIns="0" rtlCol="0" anchor="t">
            <a:spAutoFit/>
          </a:bodyPr>
          <a:lstStyle/>
          <a:p>
            <a:pPr algn="l">
              <a:lnSpc>
                <a:spcPts val="2848"/>
              </a:lnSpc>
            </a:pPr>
            <a:r>
              <a:rPr lang="en-US" sz="2034" u="sng">
                <a:solidFill>
                  <a:srgbClr val="000000"/>
                </a:solidFill>
                <a:latin typeface="Arimo"/>
                <a:ea typeface="Arimo"/>
                <a:cs typeface="Arimo"/>
                <a:sym typeface="Arimo"/>
                <a:hlinkClick r:id="rId6" tooltip="https://www.businesstimes.com.sg/international/asean/revenge-travel-sustain-sectors-robust-recovery-coming-months"/>
              </a:rPr>
              <a:t>https://www.businesstimes.com.sg/international/asean/revenge-travel-sustain-sectors-robust-recovery-coming-months</a:t>
            </a:r>
          </a:p>
        </p:txBody>
      </p:sp>
      <p:sp>
        <p:nvSpPr>
          <p:cNvPr id="11" name="TextBox 11"/>
          <p:cNvSpPr txBox="1"/>
          <p:nvPr/>
        </p:nvSpPr>
        <p:spPr>
          <a:xfrm>
            <a:off x="7384883" y="1874532"/>
            <a:ext cx="10361478" cy="661138"/>
          </a:xfrm>
          <a:prstGeom prst="rect">
            <a:avLst/>
          </a:prstGeom>
        </p:spPr>
        <p:txBody>
          <a:bodyPr lIns="0" tIns="0" rIns="0" bIns="0" rtlCol="0" anchor="t">
            <a:spAutoFit/>
          </a:bodyPr>
          <a:lstStyle/>
          <a:p>
            <a:pPr algn="l">
              <a:lnSpc>
                <a:spcPts val="2588"/>
              </a:lnSpc>
            </a:pPr>
            <a:r>
              <a:rPr lang="en-US" sz="1849" u="sng">
                <a:solidFill>
                  <a:srgbClr val="000000"/>
                </a:solidFill>
                <a:latin typeface="Arimo"/>
                <a:ea typeface="Arimo"/>
                <a:cs typeface="Arimo"/>
                <a:sym typeface="Arimo"/>
                <a:hlinkClick r:id="rId2" tooltip="https://www.stb.gov.sg/content/stb/en/media-centre/media-releases/Singapore-Tourism-Sector-Emerges-From-2020-With-Greater-Resilience-and-Reinvention.html"/>
              </a:rPr>
              <a:t>https://www.stb.gov.sg/content/stb/en/media-centre/media-releases/Singapore-Tourism-Sector-Emerges-From-2020-With-Greater-Resilience-and-Reinvention.html</a:t>
            </a:r>
          </a:p>
        </p:txBody>
      </p:sp>
      <p:sp>
        <p:nvSpPr>
          <p:cNvPr id="12" name="TextBox 12"/>
          <p:cNvSpPr txBox="1"/>
          <p:nvPr/>
        </p:nvSpPr>
        <p:spPr>
          <a:xfrm>
            <a:off x="7384883" y="3058104"/>
            <a:ext cx="10938782" cy="842388"/>
          </a:xfrm>
          <a:prstGeom prst="rect">
            <a:avLst/>
          </a:prstGeom>
        </p:spPr>
        <p:txBody>
          <a:bodyPr lIns="0" tIns="0" rIns="0" bIns="0" rtlCol="0" anchor="t">
            <a:spAutoFit/>
          </a:bodyPr>
          <a:lstStyle/>
          <a:p>
            <a:pPr algn="l">
              <a:lnSpc>
                <a:spcPts val="2213"/>
              </a:lnSpc>
            </a:pPr>
            <a:r>
              <a:rPr lang="en-US" sz="1581" u="sng">
                <a:solidFill>
                  <a:srgbClr val="000000"/>
                </a:solidFill>
                <a:latin typeface="Arimo"/>
                <a:ea typeface="Arimo"/>
                <a:cs typeface="Arimo"/>
                <a:sym typeface="Arimo"/>
                <a:hlinkClick r:id="rId7" tooltip="https://www.stb.gov.sg/content/dam/stb/documents/mediareleases/Impact%20of%20Covid-19%20on%20tourism%20in%20Singapore%20and%20the%20road%20to%20recovery%20and%20transformation%20by%20STB%20and%20Visa.pdf"/>
              </a:rPr>
              <a:t>https://www.stb.gov.sg/content/dam/stb/documents/mediareleases/Impact%20of%20Covid-19%20on%20tourism%20in%20Singapore%20and%20the%20road%20to%20recovery%20and%20transformation%20by%20STB%20and%20Visa.pdf</a:t>
            </a:r>
          </a:p>
        </p:txBody>
      </p:sp>
      <p:sp>
        <p:nvSpPr>
          <p:cNvPr id="13" name="TextBox 13"/>
          <p:cNvSpPr txBox="1"/>
          <p:nvPr/>
        </p:nvSpPr>
        <p:spPr>
          <a:xfrm>
            <a:off x="7384883" y="4473618"/>
            <a:ext cx="10174874" cy="842388"/>
          </a:xfrm>
          <a:prstGeom prst="rect">
            <a:avLst/>
          </a:prstGeom>
        </p:spPr>
        <p:txBody>
          <a:bodyPr lIns="0" tIns="0" rIns="0" bIns="0" rtlCol="0" anchor="t">
            <a:spAutoFit/>
          </a:bodyPr>
          <a:lstStyle/>
          <a:p>
            <a:pPr algn="l">
              <a:lnSpc>
                <a:spcPts val="2213"/>
              </a:lnSpc>
            </a:pPr>
            <a:r>
              <a:rPr lang="en-US" sz="1581" u="sng">
                <a:solidFill>
                  <a:srgbClr val="000000"/>
                </a:solidFill>
                <a:latin typeface="Arimo"/>
                <a:ea typeface="Arimo"/>
                <a:cs typeface="Arimo"/>
                <a:sym typeface="Arimo"/>
                <a:hlinkClick r:id="rId7" tooltip="https://www.stb.gov.sg/content/dam/stb/documents/mediareleases/Impact%20of%20Covid-19%20on%20tourism%20in%20Singapore%20and%20the%20road%20to%20recovery%20and%20transformation%20by%20STB%20and%20Visa.pdf"/>
              </a:rPr>
              <a:t>https://www.stb.gov.sg/content/dam/stb/documents/mediareleases/Impact%20of%20Covid-19%20on%20tourism%20in%20Singapore%20and%20the%20road%20to%20recovery%20and%20transformation%20by%20STB%20and%20Visa.pdf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TotalTime>
  <Words>2208</Words>
  <Application>Microsoft Office PowerPoint</Application>
  <PresentationFormat>Custom</PresentationFormat>
  <Paragraphs>196</Paragraphs>
  <Slides>41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Futura Display</vt:lpstr>
      <vt:lpstr>Lexend Deca</vt:lpstr>
      <vt:lpstr>Canva Sans</vt:lpstr>
      <vt:lpstr>Arial</vt:lpstr>
      <vt:lpstr>Canva Sans Bold</vt:lpstr>
      <vt:lpstr>Arimo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Singapore TOURISM ANALYSIS</dc:title>
  <cp:lastModifiedBy>Marcus Teo</cp:lastModifiedBy>
  <cp:revision>6</cp:revision>
  <dcterms:created xsi:type="dcterms:W3CDTF">2006-08-16T00:00:00Z</dcterms:created>
  <dcterms:modified xsi:type="dcterms:W3CDTF">2024-08-11T14:26:44Z</dcterms:modified>
  <dc:identifier>DAGMaKgwvhw</dc:identifier>
</cp:coreProperties>
</file>